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61" r:id="rId3"/>
    <p:sldId id="257" r:id="rId4"/>
    <p:sldId id="258" r:id="rId5"/>
    <p:sldId id="288" r:id="rId6"/>
    <p:sldId id="273" r:id="rId7"/>
    <p:sldId id="280" r:id="rId8"/>
    <p:sldId id="279" r:id="rId9"/>
    <p:sldId id="291" r:id="rId10"/>
    <p:sldId id="260" r:id="rId11"/>
    <p:sldId id="281" r:id="rId12"/>
    <p:sldId id="282" r:id="rId13"/>
    <p:sldId id="283" r:id="rId14"/>
    <p:sldId id="270" r:id="rId15"/>
    <p:sldId id="284" r:id="rId16"/>
    <p:sldId id="278" r:id="rId17"/>
    <p:sldId id="262" r:id="rId18"/>
    <p:sldId id="285" r:id="rId19"/>
    <p:sldId id="259" r:id="rId20"/>
    <p:sldId id="289" r:id="rId21"/>
    <p:sldId id="286" r:id="rId22"/>
    <p:sldId id="263" r:id="rId23"/>
    <p:sldId id="287" r:id="rId24"/>
    <p:sldId id="275" r:id="rId25"/>
    <p:sldId id="264" r:id="rId26"/>
    <p:sldId id="265" r:id="rId27"/>
    <p:sldId id="266" r:id="rId28"/>
    <p:sldId id="290" r:id="rId29"/>
    <p:sldId id="267" r:id="rId30"/>
    <p:sldId id="268" r:id="rId31"/>
    <p:sldId id="269" r:id="rId32"/>
  </p:sldIdLst>
  <p:sldSz cx="9144000" cy="5143500" type="screen16x9"/>
  <p:notesSz cx="6858000" cy="9144000"/>
  <p:embeddedFontLst>
    <p:embeddedFont>
      <p:font typeface="Calibri" panose="020F0502020204030204" pitchFamily="34" charset="0"/>
      <p:regular r:id="rId34"/>
      <p:bold r:id="rId35"/>
      <p:italic r:id="rId36"/>
      <p:boldItalic r:id="rId37"/>
    </p:embeddedFont>
    <p:embeddedFont>
      <p:font typeface="Consolas" panose="020B0609020204030204" pitchFamily="49" charset="0"/>
      <p:regular r:id="rId38"/>
      <p:bold r:id="rId39"/>
      <p:italic r:id="rId40"/>
      <p:boldItalic r:id="rId41"/>
    </p:embeddedFont>
    <p:embeddedFont>
      <p:font typeface="Montserrat Light" pitchFamily="2" charset="77"/>
      <p:regular r:id="rId42"/>
      <p:bold r:id="rId43"/>
      <p:italic r:id="rId44"/>
      <p:boldItalic r:id="rId45"/>
    </p:embeddedFont>
    <p:embeddedFont>
      <p:font typeface="Montserrat SemiBold" pitchFamily="2" charset="77"/>
      <p:regular r:id="rId46"/>
      <p:bold r:id="rId47"/>
      <p:italic r:id="rId48"/>
      <p:boldItalic r:id="rId49"/>
    </p:embeddedFont>
    <p:embeddedFont>
      <p:font typeface="Open Sans" panose="020B0606030504020204" pitchFamily="34" charset="0"/>
      <p:regular r:id="rId50"/>
      <p:bold r:id="rId51"/>
      <p:italic r:id="rId52"/>
      <p:boldItalic r:id="rId53"/>
    </p:embeddedFont>
    <p:embeddedFont>
      <p:font typeface="Open Sans ExtraBold" panose="020B0606030504020204" pitchFamily="34" charset="0"/>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7">
          <p15:clr>
            <a:srgbClr val="9AA0A6"/>
          </p15:clr>
        </p15:guide>
        <p15:guide id="2" pos="227">
          <p15:clr>
            <a:srgbClr val="9AA0A6"/>
          </p15:clr>
        </p15:guide>
        <p15:guide id="3" pos="5533">
          <p15:clr>
            <a:srgbClr val="9AA0A6"/>
          </p15:clr>
        </p15:guide>
        <p15:guide id="4" orient="horz" pos="1153">
          <p15:clr>
            <a:srgbClr val="9AA0A6"/>
          </p15:clr>
        </p15:guide>
        <p15:guide id="5" orient="horz" pos="624">
          <p15:clr>
            <a:srgbClr val="9AA0A6"/>
          </p15:clr>
        </p15:guide>
        <p15:guide id="6" orient="horz" pos="938">
          <p15:clr>
            <a:srgbClr val="9AA0A6"/>
          </p15:clr>
        </p15:guide>
        <p15:guide id="7" orient="horz" pos="1387">
          <p15:clr>
            <a:srgbClr val="9AA0A6"/>
          </p15:clr>
        </p15:guide>
        <p15:guide id="8" orient="horz" pos="460">
          <p15:clr>
            <a:srgbClr val="9AA0A6"/>
          </p15:clr>
        </p15:guide>
        <p15:guide id="9" orient="horz" pos="1845">
          <p15:clr>
            <a:srgbClr val="9AA0A6"/>
          </p15:clr>
        </p15:guide>
        <p15:guide id="10" orient="horz" pos="2769">
          <p15:clr>
            <a:srgbClr val="9AA0A6"/>
          </p15:clr>
        </p15:guide>
        <p15:guide id="11" orient="horz" pos="2991">
          <p15:clr>
            <a:srgbClr val="9AA0A6"/>
          </p15:clr>
        </p15:guide>
        <p15:guide id="12" pos="2880">
          <p15:clr>
            <a:srgbClr val="9AA0A6"/>
          </p15:clr>
        </p15:guide>
        <p15:guide id="13" pos="1553">
          <p15:clr>
            <a:srgbClr val="9AA0A6"/>
          </p15:clr>
        </p15:guide>
        <p15:guide id="14" pos="4008">
          <p15:clr>
            <a:srgbClr val="9AA0A6"/>
          </p15:clr>
        </p15:guide>
        <p15:guide id="15" pos="2217">
          <p15:clr>
            <a:srgbClr val="9AA0A6"/>
          </p15:clr>
        </p15:guide>
        <p15:guide id="16" pos="3742">
          <p15:clr>
            <a:srgbClr val="9AA0A6"/>
          </p15:clr>
        </p15:guide>
        <p15:guide id="17" pos="890">
          <p15:clr>
            <a:srgbClr val="9AA0A6"/>
          </p15:clr>
        </p15:guide>
        <p15:guide id="18" pos="4870">
          <p15:clr>
            <a:srgbClr val="9AA0A6"/>
          </p15:clr>
        </p15:guide>
        <p15:guide id="19" pos="2993">
          <p15:clr>
            <a:srgbClr val="9AA0A6"/>
          </p15:clr>
        </p15:guide>
        <p15:guide id="20" pos="2755">
          <p15:clr>
            <a:srgbClr val="9AA0A6"/>
          </p15:clr>
        </p15:guide>
        <p15:guide id="21" pos="1885">
          <p15:clr>
            <a:srgbClr val="9AA0A6"/>
          </p15:clr>
        </p15:guide>
        <p15:guide id="22" pos="3875">
          <p15:clr>
            <a:srgbClr val="9AA0A6"/>
          </p15:clr>
        </p15:guide>
        <p15:guide id="23" pos="1719">
          <p15:clr>
            <a:srgbClr val="9AA0A6"/>
          </p15:clr>
        </p15:guide>
        <p15:guide id="24" pos="547">
          <p15:clr>
            <a:srgbClr val="9AA0A6"/>
          </p15:clr>
        </p15:guide>
        <p15:guide id="25" orient="horz" pos="2155">
          <p15:clr>
            <a:srgbClr val="9AA0A6"/>
          </p15:clr>
        </p15:guide>
        <p15:guide id="26" pos="397">
          <p15:clr>
            <a:srgbClr val="9AA0A6"/>
          </p15:clr>
        </p15:guide>
        <p15:guide id="27" orient="horz" pos="1045">
          <p15:clr>
            <a:srgbClr val="9AA0A6"/>
          </p15:clr>
        </p15:guide>
        <p15:guide id="28" orient="horz" pos="357">
          <p15:clr>
            <a:srgbClr val="9AA0A6"/>
          </p15:clr>
        </p15:guide>
        <p15:guide id="29" orient="horz" pos="1542">
          <p15:clr>
            <a:srgbClr val="9AA0A6"/>
          </p15:clr>
        </p15:guide>
        <p15:guide id="30" orient="horz" pos="1004">
          <p15:clr>
            <a:srgbClr val="9AA0A6"/>
          </p15:clr>
        </p15:guide>
        <p15:guide id="31" pos="296">
          <p15:clr>
            <a:srgbClr val="9AA0A6"/>
          </p15:clr>
        </p15:guide>
        <p15:guide id="32" pos="1058">
          <p15:clr>
            <a:srgbClr val="9AA0A6"/>
          </p15:clr>
        </p15:guide>
        <p15:guide id="33" pos="2071">
          <p15:clr>
            <a:srgbClr val="9AA0A6"/>
          </p15:clr>
        </p15:guide>
        <p15:guide id="34" orient="horz" pos="757">
          <p15:clr>
            <a:srgbClr val="9AA0A6"/>
          </p15:clr>
        </p15:guide>
        <p15:guide id="35" orient="horz" pos="588">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iJbx20XcKLbYZ35tP2NpfInTSUk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D5E7E3-276B-4B75-B64C-B3BB2FDB9272}" v="276" dt="2021-07-22T21:09:54.647"/>
    <p1510:client id="{437A1B24-A7F3-4305-BCFC-92C76A53619E}" v="46" dt="2021-08-10T15:58:34.552"/>
    <p1510:client id="{90E58A18-B8F9-4C08-BF7C-0BF02DDA1BE0}" v="933" dt="2021-08-10T13:42:20.612"/>
    <p1510:client id="{95A09A8C-2E4F-4221-9983-0B4BDB9E594C}" v="194" dt="2021-07-23T07:59:11.092"/>
    <p1510:client id="{B88AA04A-E1C8-4788-B48E-40FE8030C6A8}" v="372" dt="2021-07-31T14:22:54.125"/>
    <p1510:client id="{C3AD80AD-4890-46F4-B7A6-81D88552D473}" v="19" dt="2021-08-07T12:15:19.583"/>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5"/>
  </p:normalViewPr>
  <p:slideViewPr>
    <p:cSldViewPr snapToGrid="0">
      <p:cViewPr varScale="1">
        <p:scale>
          <a:sx n="156" d="100"/>
          <a:sy n="156" d="100"/>
        </p:scale>
        <p:origin x="552" y="168"/>
      </p:cViewPr>
      <p:guideLst>
        <p:guide orient="horz" pos="227"/>
        <p:guide pos="227"/>
        <p:guide pos="5533"/>
        <p:guide orient="horz" pos="1153"/>
        <p:guide orient="horz" pos="624"/>
        <p:guide orient="horz" pos="938"/>
        <p:guide orient="horz" pos="1387"/>
        <p:guide orient="horz" pos="460"/>
        <p:guide orient="horz" pos="1845"/>
        <p:guide orient="horz" pos="2769"/>
        <p:guide orient="horz" pos="2991"/>
        <p:guide pos="2880"/>
        <p:guide pos="1553"/>
        <p:guide pos="4008"/>
        <p:guide pos="2217"/>
        <p:guide pos="3742"/>
        <p:guide pos="890"/>
        <p:guide pos="4870"/>
        <p:guide pos="2993"/>
        <p:guide pos="2755"/>
        <p:guide pos="1885"/>
        <p:guide pos="3875"/>
        <p:guide pos="1719"/>
        <p:guide pos="547"/>
        <p:guide orient="horz" pos="2155"/>
        <p:guide pos="397"/>
        <p:guide orient="horz" pos="1045"/>
        <p:guide orient="horz" pos="357"/>
        <p:guide orient="horz" pos="1542"/>
        <p:guide orient="horz" pos="1004"/>
        <p:guide pos="296"/>
        <p:guide pos="1058"/>
        <p:guide pos="2071"/>
        <p:guide orient="horz" pos="757"/>
        <p:guide orient="horz" pos="5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font" Target="fonts/font22.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font" Target="fonts/font23.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font" Target="fonts/font21.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font" Target="fonts/font19.fntdata"/><Relationship Id="rId60" Type="http://customschemas.google.com/relationships/presentationmetadata" Target="metadata"/><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89666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27802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24585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10548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75592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67165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0305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18444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82323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6943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38829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86798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19082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95338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138671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852335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6302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1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1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Meet the Crew Slide">
  <p:cSld name="13-Meet the Crew Slide">
    <p:spTree>
      <p:nvGrpSpPr>
        <p:cNvPr id="1" name="Shape 50"/>
        <p:cNvGrpSpPr/>
        <p:nvPr/>
      </p:nvGrpSpPr>
      <p:grpSpPr>
        <a:xfrm>
          <a:off x="0" y="0"/>
          <a:ext cx="0" cy="0"/>
          <a:chOff x="0" y="0"/>
          <a:chExt cx="0" cy="0"/>
        </a:xfrm>
      </p:grpSpPr>
      <p:sp>
        <p:nvSpPr>
          <p:cNvPr id="51" name="Google Shape;51;p23"/>
          <p:cNvSpPr>
            <a:spLocks noGrp="1"/>
          </p:cNvSpPr>
          <p:nvPr>
            <p:ph type="pic" idx="2"/>
          </p:nvPr>
        </p:nvSpPr>
        <p:spPr>
          <a:xfrm>
            <a:off x="1060235" y="2128350"/>
            <a:ext cx="1487100" cy="1825200"/>
          </a:xfrm>
          <a:prstGeom prst="rect">
            <a:avLst/>
          </a:prstGeom>
          <a:noFill/>
          <a:ln>
            <a:noFill/>
          </a:ln>
        </p:spPr>
        <p:txBody>
          <a:bodyPr spcFirstLastPara="1" wrap="square" lIns="34275" tIns="17150" rIns="34275" bIns="17150" anchor="t" anchorCtr="0">
            <a:noAutofit/>
          </a:bodyPr>
          <a:lstStyle>
            <a:lvl1pPr marR="0" lvl="0" algn="l" rtl="0">
              <a:lnSpc>
                <a:spcPct val="90000"/>
              </a:lnSpc>
              <a:spcBef>
                <a:spcPts val="800"/>
              </a:spcBef>
              <a:spcAft>
                <a:spcPts val="0"/>
              </a:spcAft>
              <a:buClr>
                <a:schemeClr val="accent2"/>
              </a:buClr>
              <a:buSzPts val="900"/>
              <a:buFont typeface="Arial"/>
              <a:buNone/>
              <a:defRPr sz="900" b="0" i="0" u="none" strike="noStrike" cap="none">
                <a:solidFill>
                  <a:schemeClr val="accent2"/>
                </a:solidFill>
                <a:latin typeface="Montserrat Light"/>
                <a:ea typeface="Montserrat Light"/>
                <a:cs typeface="Montserrat Light"/>
                <a:sym typeface="Montserrat Light"/>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2" name="Google Shape;52;p23"/>
          <p:cNvSpPr>
            <a:spLocks noGrp="1"/>
          </p:cNvSpPr>
          <p:nvPr>
            <p:ph type="pic" idx="3"/>
          </p:nvPr>
        </p:nvSpPr>
        <p:spPr>
          <a:xfrm>
            <a:off x="3049596" y="2128350"/>
            <a:ext cx="1487100" cy="1825200"/>
          </a:xfrm>
          <a:prstGeom prst="rect">
            <a:avLst/>
          </a:prstGeom>
          <a:noFill/>
          <a:ln>
            <a:noFill/>
          </a:ln>
        </p:spPr>
        <p:txBody>
          <a:bodyPr spcFirstLastPara="1" wrap="square" lIns="34275" tIns="17150" rIns="34275" bIns="17150" anchor="t" anchorCtr="0">
            <a:noAutofit/>
          </a:bodyPr>
          <a:lstStyle>
            <a:lvl1pPr marR="0" lvl="0" algn="l" rtl="0">
              <a:lnSpc>
                <a:spcPct val="90000"/>
              </a:lnSpc>
              <a:spcBef>
                <a:spcPts val="800"/>
              </a:spcBef>
              <a:spcAft>
                <a:spcPts val="0"/>
              </a:spcAft>
              <a:buClr>
                <a:schemeClr val="accent2"/>
              </a:buClr>
              <a:buSzPts val="900"/>
              <a:buFont typeface="Arial"/>
              <a:buNone/>
              <a:defRPr sz="900" b="0" i="0" u="none" strike="noStrike" cap="none">
                <a:solidFill>
                  <a:schemeClr val="accent2"/>
                </a:solidFill>
                <a:latin typeface="Montserrat Light"/>
                <a:ea typeface="Montserrat Light"/>
                <a:cs typeface="Montserrat Light"/>
                <a:sym typeface="Montserrat Light"/>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23"/>
          <p:cNvSpPr>
            <a:spLocks noGrp="1"/>
          </p:cNvSpPr>
          <p:nvPr>
            <p:ph type="pic" idx="4"/>
          </p:nvPr>
        </p:nvSpPr>
        <p:spPr>
          <a:xfrm>
            <a:off x="5038958" y="2128350"/>
            <a:ext cx="1487100" cy="1825200"/>
          </a:xfrm>
          <a:prstGeom prst="rect">
            <a:avLst/>
          </a:prstGeom>
          <a:noFill/>
          <a:ln>
            <a:noFill/>
          </a:ln>
        </p:spPr>
        <p:txBody>
          <a:bodyPr spcFirstLastPara="1" wrap="square" lIns="34275" tIns="17150" rIns="34275" bIns="17150" anchor="t" anchorCtr="0">
            <a:noAutofit/>
          </a:bodyPr>
          <a:lstStyle>
            <a:lvl1pPr marR="0" lvl="0" algn="l" rtl="0">
              <a:lnSpc>
                <a:spcPct val="90000"/>
              </a:lnSpc>
              <a:spcBef>
                <a:spcPts val="800"/>
              </a:spcBef>
              <a:spcAft>
                <a:spcPts val="0"/>
              </a:spcAft>
              <a:buClr>
                <a:schemeClr val="accent2"/>
              </a:buClr>
              <a:buSzPts val="900"/>
              <a:buFont typeface="Arial"/>
              <a:buNone/>
              <a:defRPr sz="900" b="0" i="0" u="none" strike="noStrike" cap="none">
                <a:solidFill>
                  <a:schemeClr val="accent2"/>
                </a:solidFill>
                <a:latin typeface="Montserrat Light"/>
                <a:ea typeface="Montserrat Light"/>
                <a:cs typeface="Montserrat Light"/>
                <a:sym typeface="Montserrat Light"/>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4" name="Google Shape;54;p23"/>
          <p:cNvSpPr>
            <a:spLocks noGrp="1"/>
          </p:cNvSpPr>
          <p:nvPr>
            <p:ph type="pic" idx="5"/>
          </p:nvPr>
        </p:nvSpPr>
        <p:spPr>
          <a:xfrm>
            <a:off x="7028318" y="2128350"/>
            <a:ext cx="1487100" cy="1825200"/>
          </a:xfrm>
          <a:prstGeom prst="rect">
            <a:avLst/>
          </a:prstGeom>
          <a:noFill/>
          <a:ln>
            <a:noFill/>
          </a:ln>
        </p:spPr>
        <p:txBody>
          <a:bodyPr spcFirstLastPara="1" wrap="square" lIns="34275" tIns="17150" rIns="34275" bIns="17150" anchor="t" anchorCtr="0">
            <a:noAutofit/>
          </a:bodyPr>
          <a:lstStyle>
            <a:lvl1pPr marR="0" lvl="0" algn="l" rtl="0">
              <a:lnSpc>
                <a:spcPct val="90000"/>
              </a:lnSpc>
              <a:spcBef>
                <a:spcPts val="800"/>
              </a:spcBef>
              <a:spcAft>
                <a:spcPts val="0"/>
              </a:spcAft>
              <a:buClr>
                <a:schemeClr val="accent2"/>
              </a:buClr>
              <a:buSzPts val="900"/>
              <a:buFont typeface="Arial"/>
              <a:buNone/>
              <a:defRPr sz="900" b="0" i="0" u="none" strike="noStrike" cap="none">
                <a:solidFill>
                  <a:schemeClr val="accent2"/>
                </a:solidFill>
                <a:latin typeface="Montserrat Light"/>
                <a:ea typeface="Montserrat Light"/>
                <a:cs typeface="Montserrat Light"/>
                <a:sym typeface="Montserrat Light"/>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5" name="Google Shape;55;p23"/>
          <p:cNvSpPr txBox="1"/>
          <p:nvPr/>
        </p:nvSpPr>
        <p:spPr>
          <a:xfrm>
            <a:off x="123324" y="2496729"/>
            <a:ext cx="317100" cy="15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it-IT" sz="1000" b="1" i="0" u="none" strike="noStrike" cap="none">
                <a:solidFill>
                  <a:schemeClr val="accent6"/>
                </a:solidFill>
                <a:latin typeface="Montserrat SemiBold"/>
                <a:ea typeface="Montserrat SemiBold"/>
                <a:cs typeface="Montserrat SemiBold"/>
                <a:sym typeface="Montserrat SemiBold"/>
              </a:rPr>
              <a:t>‹N›</a:t>
            </a:fld>
            <a:endParaRPr sz="1000" b="1" i="0" u="none" strike="noStrike" cap="none">
              <a:solidFill>
                <a:schemeClr val="accent6"/>
              </a:solidFill>
              <a:latin typeface="Montserrat SemiBold"/>
              <a:ea typeface="Montserrat SemiBold"/>
              <a:cs typeface="Montserrat SemiBold"/>
              <a:sym typeface="Montserrat SemiBold"/>
            </a:endParaRPr>
          </a:p>
        </p:txBody>
      </p:sp>
    </p:spTree>
  </p:cSld>
  <p:clrMapOvr>
    <a:masterClrMapping/>
  </p:clrMapOvr>
  <p:extLst>
    <p:ext uri="{DCECCB84-F9BA-43D5-87BE-67443E8EF086}">
      <p15:sldGuideLst xmlns:p15="http://schemas.microsoft.com/office/powerpoint/2012/main">
        <p15:guide id="1" pos="396">
          <p15:clr>
            <a:srgbClr val="FBAE40"/>
          </p15:clr>
        </p15:guide>
        <p15:guide id="2" pos="5364">
          <p15:clr>
            <a:srgbClr val="FBAE40"/>
          </p15:clr>
        </p15:guide>
        <p15:guide id="3" orient="horz" pos="2850">
          <p15:clr>
            <a:srgbClr val="FBAE40"/>
          </p15:clr>
        </p15:guide>
        <p15:guide id="4" orient="horz" pos="3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mockapi.io"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314"/>
        </a:solidFill>
        <a:effectLst/>
      </p:bgPr>
    </p:bg>
    <p:spTree>
      <p:nvGrpSpPr>
        <p:cNvPr id="1" name="Shape 59"/>
        <p:cNvGrpSpPr/>
        <p:nvPr/>
      </p:nvGrpSpPr>
      <p:grpSpPr>
        <a:xfrm>
          <a:off x="0" y="0"/>
          <a:ext cx="0" cy="0"/>
          <a:chOff x="0" y="0"/>
          <a:chExt cx="0" cy="0"/>
        </a:xfrm>
      </p:grpSpPr>
      <p:sp>
        <p:nvSpPr>
          <p:cNvPr id="61" name="Google Shape;61;p1"/>
          <p:cNvSpPr txBox="1"/>
          <p:nvPr/>
        </p:nvSpPr>
        <p:spPr>
          <a:xfrm>
            <a:off x="342975" y="3749334"/>
            <a:ext cx="7670400" cy="519900"/>
          </a:xfrm>
          <a:prstGeom prst="rect">
            <a:avLst/>
          </a:prstGeom>
          <a:noFill/>
          <a:ln>
            <a:noFill/>
          </a:ln>
        </p:spPr>
        <p:txBody>
          <a:bodyPr spcFirstLastPara="1" wrap="square" lIns="0" tIns="91425" rIns="91425" bIns="91425" anchor="ctr" anchorCtr="0">
            <a:noAutofit/>
          </a:bodyPr>
          <a:lstStyle/>
          <a:p>
            <a:pPr marL="0" marR="0" lvl="0" indent="0" algn="l" rtl="0">
              <a:lnSpc>
                <a:spcPct val="100000"/>
              </a:lnSpc>
              <a:spcBef>
                <a:spcPts val="0"/>
              </a:spcBef>
              <a:spcAft>
                <a:spcPts val="0"/>
              </a:spcAft>
              <a:buClr>
                <a:schemeClr val="dk1"/>
              </a:buClr>
              <a:buSzPts val="3300"/>
              <a:buFont typeface="Arial"/>
              <a:buNone/>
            </a:pPr>
            <a:r>
              <a:rPr lang="it-IT" sz="3300" b="0" i="0" u="none" strike="noStrike" cap="none" dirty="0" err="1">
                <a:solidFill>
                  <a:schemeClr val="lt1"/>
                </a:solidFill>
                <a:latin typeface="Open Sans ExtraBold"/>
                <a:ea typeface="Open Sans ExtraBold"/>
                <a:cs typeface="Open Sans ExtraBold"/>
                <a:sym typeface="Open Sans ExtraBold"/>
              </a:rPr>
              <a:t>Typescript</a:t>
            </a:r>
            <a:endParaRPr sz="3300" b="0" i="0" u="none" strike="noStrike" cap="none" dirty="0">
              <a:solidFill>
                <a:schemeClr val="lt1"/>
              </a:solidFill>
              <a:latin typeface="Open Sans ExtraBold"/>
              <a:ea typeface="Open Sans ExtraBold"/>
              <a:cs typeface="Open Sans ExtraBold"/>
              <a:sym typeface="Open Sans ExtraBold"/>
            </a:endParaRPr>
          </a:p>
        </p:txBody>
      </p:sp>
      <p:sp>
        <p:nvSpPr>
          <p:cNvPr id="62" name="Google Shape;62;p1"/>
          <p:cNvSpPr txBox="1"/>
          <p:nvPr/>
        </p:nvSpPr>
        <p:spPr>
          <a:xfrm>
            <a:off x="342975" y="3462734"/>
            <a:ext cx="4479600" cy="219000"/>
          </a:xfrm>
          <a:prstGeom prst="rect">
            <a:avLst/>
          </a:prstGeom>
          <a:noFill/>
          <a:ln>
            <a:noFill/>
          </a:ln>
        </p:spPr>
        <p:txBody>
          <a:bodyPr spcFirstLastPara="1" wrap="square" lIns="0"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Open Sans"/>
              <a:ea typeface="Open Sans"/>
              <a:cs typeface="Open Sans"/>
              <a:sym typeface="Open Sans"/>
            </a:endParaRPr>
          </a:p>
        </p:txBody>
      </p:sp>
      <p:sp>
        <p:nvSpPr>
          <p:cNvPr id="64" name="Google Shape;64;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it-IT"/>
              <a:t>1</a:t>
            </a:fld>
            <a:endParaRPr/>
          </a:p>
        </p:txBody>
      </p:sp>
      <p:sp>
        <p:nvSpPr>
          <p:cNvPr id="65" name="Google Shape;65;p1"/>
          <p:cNvSpPr txBox="1"/>
          <p:nvPr/>
        </p:nvSpPr>
        <p:spPr>
          <a:xfrm>
            <a:off x="356775" y="4198158"/>
            <a:ext cx="7670400" cy="519900"/>
          </a:xfrm>
          <a:prstGeom prst="rect">
            <a:avLst/>
          </a:prstGeom>
          <a:noFill/>
          <a:ln>
            <a:noFill/>
          </a:ln>
        </p:spPr>
        <p:txBody>
          <a:bodyPr spcFirstLastPara="1" wrap="square" lIns="0"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it-IT" sz="2000" dirty="0">
                <a:solidFill>
                  <a:srgbClr val="FFFFFF"/>
                </a:solidFill>
                <a:latin typeface="Open Sans ExtraBold"/>
                <a:ea typeface="Open Sans ExtraBold"/>
                <a:cs typeface="Open Sans ExtraBold"/>
                <a:sym typeface="Open Sans ExtraBold"/>
              </a:rPr>
              <a:t>Docente:</a:t>
            </a:r>
            <a:r>
              <a:rPr lang="it-IT" sz="2000" dirty="0">
                <a:solidFill>
                  <a:schemeClr val="lt1"/>
                </a:solidFill>
                <a:latin typeface="Open Sans ExtraBold"/>
                <a:ea typeface="Open Sans ExtraBold"/>
                <a:cs typeface="Open Sans ExtraBold"/>
                <a:sym typeface="Open Sans ExtraBold"/>
              </a:rPr>
              <a:t> – Fabio Di </a:t>
            </a:r>
            <a:r>
              <a:rPr lang="it-IT" sz="2000">
                <a:solidFill>
                  <a:schemeClr val="lt1"/>
                </a:solidFill>
                <a:latin typeface="Open Sans ExtraBold"/>
                <a:ea typeface="Open Sans ExtraBold"/>
                <a:cs typeface="Open Sans ExtraBold"/>
                <a:sym typeface="Open Sans ExtraBold"/>
              </a:rPr>
              <a:t>Gloria</a:t>
            </a:r>
            <a:r>
              <a:rPr lang="it-IT" sz="2000" b="0" i="0" u="none" strike="noStrike" cap="none">
                <a:solidFill>
                  <a:srgbClr val="FFFFFF"/>
                </a:solidFill>
                <a:latin typeface="Open Sans ExtraBold"/>
                <a:ea typeface="Open Sans ExtraBold"/>
                <a:cs typeface="Open Sans ExtraBold"/>
                <a:sym typeface="Open Sans ExtraBold"/>
              </a:rPr>
              <a:t>  SLIDE 4</a:t>
            </a:r>
            <a:endParaRPr sz="2000" b="0" i="0" u="none" strike="noStrike" cap="none" dirty="0">
              <a:solidFill>
                <a:srgbClr val="FFFFFF"/>
              </a:solidFill>
              <a:latin typeface="Open Sans ExtraBold"/>
              <a:ea typeface="Open Sans ExtraBold"/>
              <a:cs typeface="Open Sans ExtraBold"/>
              <a:sym typeface="Open Sans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a:t>
            </a:fld>
            <a:endParaRPr/>
          </a:p>
        </p:txBody>
      </p:sp>
      <p:sp>
        <p:nvSpPr>
          <p:cNvPr id="2" name="CasellaDiTesto 1">
            <a:extLst>
              <a:ext uri="{FF2B5EF4-FFF2-40B4-BE49-F238E27FC236}">
                <a16:creationId xmlns:a16="http://schemas.microsoft.com/office/drawing/2014/main" id="{FAD29A0A-63C1-4C70-AD17-804276066539}"/>
              </a:ext>
            </a:extLst>
          </p:cNvPr>
          <p:cNvSpPr txBox="1"/>
          <p:nvPr/>
        </p:nvSpPr>
        <p:spPr>
          <a:xfrm>
            <a:off x="2284320" y="2259106"/>
            <a:ext cx="508803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800" dirty="0"/>
              <a:t>Funzionalità di </a:t>
            </a:r>
            <a:r>
              <a:rPr lang="it-IT" sz="2800" dirty="0" err="1"/>
              <a:t>typescript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2" name="Google Shape;72;p7"/>
          <p:cNvSpPr txBox="1"/>
          <p:nvPr/>
        </p:nvSpPr>
        <p:spPr>
          <a:xfrm>
            <a:off x="359999" y="570586"/>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73" name="Google Shape;73;p7"/>
          <p:cNvSpPr txBox="1"/>
          <p:nvPr/>
        </p:nvSpPr>
        <p:spPr>
          <a:xfrm>
            <a:off x="330892" y="1146706"/>
            <a:ext cx="6219426" cy="177202"/>
          </a:xfrm>
          <a:prstGeom prst="rect">
            <a:avLst/>
          </a:prstGeom>
          <a:noFill/>
          <a:ln>
            <a:noFill/>
          </a:ln>
        </p:spPr>
        <p:txBody>
          <a:bodyPr spcFirstLastPara="1" wrap="square" lIns="0" tIns="0" rIns="0" bIns="0" anchor="ctr" anchorCtr="0">
            <a:noAutofit/>
          </a:bodyPr>
          <a:lstStyle/>
          <a:p>
            <a:pPr>
              <a:buSzPts val="1600"/>
            </a:pPr>
            <a:r>
              <a:rPr lang="it-IT" sz="1600" b="1" dirty="0">
                <a:solidFill>
                  <a:schemeClr val="dk1"/>
                </a:solidFill>
                <a:ea typeface="Consolas"/>
                <a:cs typeface="Consolas"/>
                <a:sym typeface="Consolas"/>
              </a:rPr>
              <a:t> </a:t>
            </a:r>
            <a:r>
              <a:rPr lang="it-IT" sz="1600" b="1" i="0" u="none" strike="noStrike" cap="none" dirty="0">
                <a:solidFill>
                  <a:schemeClr val="dk1"/>
                </a:solidFill>
                <a:ea typeface="Consolas"/>
                <a:cs typeface="Consolas"/>
                <a:sym typeface="Consolas"/>
              </a:rPr>
              <a:t>Setting TS</a:t>
            </a:r>
            <a:r>
              <a:rPr lang="it-IT" sz="1600" b="0" i="0" u="none" strike="noStrike" cap="none" dirty="0">
                <a:solidFill>
                  <a:srgbClr val="FF0000"/>
                </a:solidFill>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74" name="Google Shape;74;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3</a:t>
            </a:fld>
            <a:endParaRPr/>
          </a:p>
        </p:txBody>
      </p:sp>
      <p:sp>
        <p:nvSpPr>
          <p:cNvPr id="75" name="Google Shape;75;p7"/>
          <p:cNvSpPr txBox="1"/>
          <p:nvPr/>
        </p:nvSpPr>
        <p:spPr>
          <a:xfrm>
            <a:off x="297849" y="1781555"/>
            <a:ext cx="4304466" cy="2031285"/>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buSzPts val="1800"/>
            </a:pPr>
            <a:r>
              <a:rPr lang="it-IT" sz="1800" b="0" i="0" u="none" strike="noStrike" cap="none" baseline="30000" dirty="0">
                <a:solidFill>
                  <a:schemeClr val="dk1"/>
                </a:solidFill>
                <a:latin typeface="Arial"/>
                <a:ea typeface="Arial"/>
                <a:cs typeface="Arial"/>
                <a:sym typeface="Arial"/>
              </a:rPr>
              <a:t>Da terminal è possibile utilizzare</a:t>
            </a:r>
            <a:r>
              <a:rPr lang="it-IT" sz="1800" baseline="30000" dirty="0">
                <a:solidFill>
                  <a:schemeClr val="dk1"/>
                </a:solidFill>
              </a:rPr>
              <a:t> </a:t>
            </a:r>
            <a:r>
              <a:rPr lang="it-IT" sz="1800" b="0" i="0" u="none" strike="noStrike" cap="none" baseline="30000" dirty="0">
                <a:solidFill>
                  <a:schemeClr val="dk1"/>
                </a:solidFill>
                <a:latin typeface="Arial"/>
                <a:ea typeface="Arial"/>
                <a:cs typeface="Arial"/>
                <a:sym typeface="Arial"/>
              </a:rPr>
              <a:t>il </a:t>
            </a:r>
            <a:r>
              <a:rPr lang="it-IT" sz="1800" b="0" i="0" u="none" strike="noStrike" cap="none" baseline="30000" err="1">
                <a:solidFill>
                  <a:schemeClr val="dk1"/>
                </a:solidFill>
                <a:latin typeface="Arial"/>
                <a:ea typeface="Arial"/>
                <a:cs typeface="Arial"/>
                <a:sym typeface="Arial"/>
              </a:rPr>
              <a:t>tsc</a:t>
            </a:r>
            <a:r>
              <a:rPr lang="it-IT" sz="1800" b="0" i="0" u="none" strike="noStrike" cap="none" baseline="30000" dirty="0">
                <a:solidFill>
                  <a:schemeClr val="dk1"/>
                </a:solidFill>
                <a:latin typeface="Arial"/>
                <a:ea typeface="Arial"/>
                <a:cs typeface="Arial"/>
                <a:sym typeface="Arial"/>
              </a:rPr>
              <a:t>—w (</a:t>
            </a:r>
            <a:r>
              <a:rPr lang="it-IT" sz="1800" b="0" i="0" u="none" strike="noStrike" cap="none" baseline="30000" err="1">
                <a:solidFill>
                  <a:schemeClr val="dk1"/>
                </a:solidFill>
                <a:latin typeface="Arial"/>
                <a:ea typeface="Arial"/>
                <a:cs typeface="Arial"/>
                <a:sym typeface="Arial"/>
              </a:rPr>
              <a:t>watch</a:t>
            </a:r>
            <a:r>
              <a:rPr lang="it-IT" sz="1800" b="0" i="0" u="none" strike="noStrike" cap="none" baseline="30000" dirty="0">
                <a:solidFill>
                  <a:schemeClr val="dk1"/>
                </a:solidFill>
                <a:latin typeface="Arial"/>
                <a:ea typeface="Arial"/>
                <a:cs typeface="Arial"/>
                <a:sym typeface="Arial"/>
              </a:rPr>
              <a:t> mode) per aggiornare da terminal il </a:t>
            </a:r>
            <a:r>
              <a:rPr lang="it-IT" sz="1800" b="0" i="0" u="none" strike="noStrike" cap="none" baseline="30000" err="1">
                <a:solidFill>
                  <a:schemeClr val="dk1"/>
                </a:solidFill>
                <a:latin typeface="Arial"/>
                <a:ea typeface="Arial"/>
                <a:cs typeface="Arial"/>
                <a:sym typeface="Arial"/>
              </a:rPr>
              <a:t>ts</a:t>
            </a:r>
            <a:r>
              <a:rPr lang="it-IT" sz="1800" b="0" i="0" u="none" strike="noStrike" cap="none" baseline="30000" dirty="0">
                <a:solidFill>
                  <a:schemeClr val="dk1"/>
                </a:solidFill>
                <a:latin typeface="Arial"/>
                <a:ea typeface="Arial"/>
                <a:cs typeface="Arial"/>
                <a:sym typeface="Arial"/>
              </a:rPr>
              <a:t> e la copia del file </a:t>
            </a:r>
            <a:r>
              <a:rPr lang="it-IT" sz="1800" b="0" i="0" u="none" strike="noStrike" cap="none" baseline="30000" err="1">
                <a:solidFill>
                  <a:schemeClr val="dk1"/>
                </a:solidFill>
                <a:latin typeface="Arial"/>
                <a:ea typeface="Arial"/>
                <a:cs typeface="Arial"/>
                <a:sym typeface="Arial"/>
              </a:rPr>
              <a:t>Js</a:t>
            </a:r>
            <a:r>
              <a:rPr lang="it-IT" sz="1800" b="0" i="0" u="none" strike="noStrike" cap="none" baseline="30000" dirty="0">
                <a:solidFill>
                  <a:schemeClr val="dk1"/>
                </a:solidFill>
                <a:latin typeface="Arial"/>
                <a:ea typeface="Arial"/>
                <a:cs typeface="Arial"/>
                <a:sym typeface="Arial"/>
              </a:rPr>
              <a:t> ogni modifica </a:t>
            </a:r>
            <a:r>
              <a:rPr lang="it-IT" sz="1800" b="0" i="0" u="none" strike="noStrike" cap="none" baseline="30000">
                <a:solidFill>
                  <a:schemeClr val="dk1"/>
                </a:solidFill>
                <a:latin typeface="Arial"/>
                <a:ea typeface="Arial"/>
                <a:cs typeface="Arial"/>
                <a:sym typeface="Arial"/>
              </a:rPr>
              <a:t>eseguita, ci farà </a:t>
            </a:r>
            <a:r>
              <a:rPr lang="it-IT" sz="1800" baseline="30000">
                <a:solidFill>
                  <a:schemeClr val="dk1"/>
                </a:solidFill>
              </a:rPr>
              <a:t>risparmiare tempo</a:t>
            </a:r>
            <a:r>
              <a:rPr lang="it-IT" sz="1800" b="0" i="0" u="none" strike="noStrike" cap="none" baseline="30000">
                <a:solidFill>
                  <a:schemeClr val="dk1"/>
                </a:solidFill>
                <a:latin typeface="Arial"/>
                <a:ea typeface="Arial"/>
                <a:cs typeface="Arial"/>
                <a:sym typeface="Arial"/>
              </a:rPr>
              <a:t> in fase di esecuzione.</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645AD"/>
              </a:solidFill>
              <a:latin typeface="Arial"/>
              <a:ea typeface="Arial"/>
              <a:cs typeface="Arial"/>
              <a:sym typeface="Arial"/>
            </a:endParaRPr>
          </a:p>
        </p:txBody>
      </p:sp>
      <p:sp>
        <p:nvSpPr>
          <p:cNvPr id="76" name="Google Shape;76;p7"/>
          <p:cNvSpPr txBox="1"/>
          <p:nvPr/>
        </p:nvSpPr>
        <p:spPr>
          <a:xfrm>
            <a:off x="4990098" y="1470862"/>
            <a:ext cx="2743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Compiling multiple files</a:t>
            </a:r>
            <a:endParaRPr sz="1600" b="0" i="0" u="none" strike="noStrike" cap="none">
              <a:solidFill>
                <a:srgbClr val="000000"/>
              </a:solidFill>
              <a:latin typeface="Open Sans"/>
              <a:ea typeface="Open Sans"/>
              <a:cs typeface="Open Sans"/>
              <a:sym typeface="Open Sans"/>
            </a:endParaRPr>
          </a:p>
        </p:txBody>
      </p:sp>
      <p:sp>
        <p:nvSpPr>
          <p:cNvPr id="77" name="Google Shape;77;p7"/>
          <p:cNvSpPr txBox="1"/>
          <p:nvPr/>
        </p:nvSpPr>
        <p:spPr>
          <a:xfrm>
            <a:off x="4990098" y="1779170"/>
            <a:ext cx="274319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Possiamo utilizzare il compiling multiple files per eseguire da terminal un'unica volta  tutti i nostri files ts all'interno del progetto.</a:t>
            </a:r>
            <a:endParaRPr sz="1400" b="0" i="0" u="none" strike="noStrike" cap="none">
              <a:solidFill>
                <a:srgbClr val="000000"/>
              </a:solidFill>
              <a:latin typeface="Arial"/>
              <a:ea typeface="Arial"/>
              <a:cs typeface="Arial"/>
              <a:sym typeface="Arial"/>
            </a:endParaRPr>
          </a:p>
        </p:txBody>
      </p:sp>
      <p:sp>
        <p:nvSpPr>
          <p:cNvPr id="78" name="Google Shape;78;p7"/>
          <p:cNvSpPr txBox="1"/>
          <p:nvPr/>
        </p:nvSpPr>
        <p:spPr>
          <a:xfrm>
            <a:off x="4990097" y="2884570"/>
            <a:ext cx="2743200" cy="1231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Including e excluding files</a:t>
            </a:r>
            <a:endParaRPr sz="16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All' interno del tsconfig.json è possibile specificare attraverso la chiave include ed exclude i files ts del progetto.</a:t>
            </a:r>
            <a:endParaRPr sz="1400" b="0" i="0" u="none" strike="noStrike" cap="none">
              <a:solidFill>
                <a:srgbClr val="000000"/>
              </a:solidFill>
              <a:latin typeface="Arial"/>
              <a:ea typeface="Arial"/>
              <a:cs typeface="Arial"/>
              <a:sym typeface="Arial"/>
            </a:endParaRPr>
          </a:p>
        </p:txBody>
      </p:sp>
      <p:sp>
        <p:nvSpPr>
          <p:cNvPr id="79" name="Google Shape;79;p7"/>
          <p:cNvSpPr txBox="1"/>
          <p:nvPr/>
        </p:nvSpPr>
        <p:spPr>
          <a:xfrm>
            <a:off x="297782" y="1470860"/>
            <a:ext cx="274319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Watch mod</a:t>
            </a:r>
            <a:r>
              <a:rPr lang="it-IT" sz="1400" b="0" i="0" u="none" strike="noStrike" cap="none">
                <a:solidFill>
                  <a:srgbClr val="FF0000"/>
                </a:solidFill>
                <a:latin typeface="Arial"/>
                <a:ea typeface="Arial"/>
                <a:cs typeface="Arial"/>
                <a:sym typeface="Arial"/>
              </a:rPr>
              <a:t>e</a:t>
            </a:r>
            <a:endParaRPr sz="1400" b="0" i="0" u="none" strike="noStrike" cap="none">
              <a:solidFill>
                <a:srgbClr val="000000"/>
              </a:solidFill>
              <a:latin typeface="Arial"/>
              <a:ea typeface="Arial"/>
              <a:cs typeface="Arial"/>
              <a:sym typeface="Arial"/>
            </a:endParaRPr>
          </a:p>
        </p:txBody>
      </p:sp>
      <p:sp>
        <p:nvSpPr>
          <p:cNvPr id="80" name="Google Shape;80;p7"/>
          <p:cNvSpPr txBox="1"/>
          <p:nvPr/>
        </p:nvSpPr>
        <p:spPr>
          <a:xfrm>
            <a:off x="301321" y="2800085"/>
            <a:ext cx="2743200" cy="10771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dirty="0">
                <a:solidFill>
                  <a:srgbClr val="FF0000"/>
                </a:solidFill>
                <a:latin typeface="Arial"/>
                <a:ea typeface="Arial"/>
                <a:cs typeface="Arial"/>
                <a:sym typeface="Arial"/>
              </a:rPr>
              <a:t>Module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Arial"/>
                <a:ea typeface="Arial"/>
                <a:cs typeface="Arial"/>
                <a:sym typeface="Arial"/>
              </a:rPr>
              <a:t>Il </a:t>
            </a:r>
            <a:r>
              <a:rPr lang="it-IT" sz="1200" b="0" i="0" u="none" strike="noStrike" cap="none" err="1">
                <a:solidFill>
                  <a:srgbClr val="000000"/>
                </a:solidFill>
                <a:latin typeface="Arial"/>
                <a:ea typeface="Arial"/>
                <a:cs typeface="Arial"/>
                <a:sym typeface="Arial"/>
              </a:rPr>
              <a:t>module</a:t>
            </a:r>
            <a:r>
              <a:rPr lang="it-IT" sz="1200" b="0" i="0" u="none" strike="noStrike" cap="none" dirty="0">
                <a:solidFill>
                  <a:srgbClr val="000000"/>
                </a:solidFill>
                <a:latin typeface="Arial"/>
                <a:ea typeface="Arial"/>
                <a:cs typeface="Arial"/>
                <a:sym typeface="Arial"/>
              </a:rPr>
              <a:t> permette di esportare e di importare una classe o funzione </a:t>
            </a:r>
            <a:r>
              <a:rPr lang="it-IT" sz="1200" b="0" i="0" u="none" strike="noStrike" cap="none" err="1">
                <a:solidFill>
                  <a:srgbClr val="000000"/>
                </a:solidFill>
                <a:latin typeface="Arial"/>
                <a:ea typeface="Arial"/>
                <a:cs typeface="Arial"/>
                <a:sym typeface="Arial"/>
              </a:rPr>
              <a:t>all</a:t>
            </a:r>
            <a:r>
              <a:rPr lang="it-IT" sz="1200" b="0" i="0" u="none" strike="noStrike" cap="none" dirty="0">
                <a:solidFill>
                  <a:srgbClr val="000000"/>
                </a:solidFill>
                <a:latin typeface="Arial"/>
                <a:ea typeface="Arial"/>
                <a:cs typeface="Arial"/>
                <a:sym typeface="Arial"/>
              </a:rPr>
              <a:t> interno di un altro file .</a:t>
            </a:r>
            <a:r>
              <a:rPr lang="it-IT" sz="1200" b="0" i="0" u="none" strike="noStrike" cap="none" err="1">
                <a:solidFill>
                  <a:srgbClr val="000000"/>
                </a:solidFill>
                <a:latin typeface="Arial"/>
                <a:ea typeface="Arial"/>
                <a:cs typeface="Arial"/>
                <a:sym typeface="Arial"/>
              </a:rPr>
              <a:t>ts</a:t>
            </a:r>
            <a:endParaRPr sz="1200" b="0" i="0" u="none" strike="noStrike" cap="none" err="1">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7" name="Google Shape;87;p2"/>
          <p:cNvSpPr txBox="1"/>
          <p:nvPr/>
        </p:nvSpPr>
        <p:spPr>
          <a:xfrm>
            <a:off x="359999" y="615704"/>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88" name="Google Shape;88;p2"/>
          <p:cNvSpPr txBox="1"/>
          <p:nvPr/>
        </p:nvSpPr>
        <p:spPr>
          <a:xfrm>
            <a:off x="306744" y="1101059"/>
            <a:ext cx="3256650" cy="3501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dirty="0">
                <a:solidFill>
                  <a:schemeClr val="dk1"/>
                </a:solidFill>
                <a:ea typeface="Consolas"/>
                <a:cs typeface="Consolas"/>
                <a:sym typeface="Consolas"/>
              </a:rPr>
              <a:t> Custom </a:t>
            </a:r>
            <a:r>
              <a:rPr lang="it-IT" sz="1600" b="1" i="0" u="none" strike="noStrike" cap="none" dirty="0" err="1">
                <a:solidFill>
                  <a:schemeClr val="dk1"/>
                </a:solidFill>
                <a:ea typeface="Consolas"/>
                <a:cs typeface="Consolas"/>
                <a:sym typeface="Consolas"/>
              </a:rPr>
              <a:t>type</a:t>
            </a:r>
            <a:r>
              <a:rPr lang="it-IT" sz="1600" b="1" i="0" u="none" strike="noStrike" cap="none" dirty="0">
                <a:solidFill>
                  <a:schemeClr val="dk1"/>
                </a:solidFill>
                <a:ea typeface="Consolas"/>
                <a:cs typeface="Consolas"/>
                <a:sym typeface="Consolas"/>
              </a:rPr>
              <a:t> </a:t>
            </a:r>
            <a:r>
              <a:rPr lang="it-IT" sz="1600" b="0" i="0" u="none" strike="noStrike" cap="none" dirty="0">
                <a:solidFill>
                  <a:srgbClr val="FF0000"/>
                </a:solidFill>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89" name="Google Shape;89;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4</a:t>
            </a:fld>
            <a:endParaRPr/>
          </a:p>
        </p:txBody>
      </p:sp>
      <p:sp>
        <p:nvSpPr>
          <p:cNvPr id="92" name="Google Shape;92;p2"/>
          <p:cNvSpPr txBox="1"/>
          <p:nvPr/>
        </p:nvSpPr>
        <p:spPr>
          <a:xfrm>
            <a:off x="249125" y="1561539"/>
            <a:ext cx="3224463" cy="14157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Arial"/>
                <a:ea typeface="Arial"/>
                <a:cs typeface="Arial"/>
                <a:sym typeface="Arial"/>
              </a:rPr>
              <a:t>Custom Type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chemeClr val="dk1"/>
                </a:solidFill>
                <a:latin typeface="Arial"/>
                <a:ea typeface="Arial"/>
                <a:cs typeface="Arial"/>
                <a:sym typeface="Arial"/>
              </a:rPr>
              <a:t>Attraverso il custom type è possibile referenziare più tipi primitivi anche union ad un tipo unico custom ed essere utilizzato su proprietà o altre specifiche come nell'esempio.</a:t>
            </a:r>
            <a:endParaRPr sz="1400" b="0" i="0" u="none" strike="noStrike" cap="none">
              <a:solidFill>
                <a:srgbClr val="000000"/>
              </a:solidFill>
              <a:latin typeface="Arial"/>
              <a:ea typeface="Arial"/>
              <a:cs typeface="Arial"/>
              <a:sym typeface="Arial"/>
            </a:endParaRPr>
          </a:p>
        </p:txBody>
      </p:sp>
      <p:sp>
        <p:nvSpPr>
          <p:cNvPr id="2" name="Google Shape;90;p2">
            <a:extLst>
              <a:ext uri="{FF2B5EF4-FFF2-40B4-BE49-F238E27FC236}">
                <a16:creationId xmlns:a16="http://schemas.microsoft.com/office/drawing/2014/main" id="{08E48EB8-0F86-4310-B7E8-A594E995A857}"/>
              </a:ext>
            </a:extLst>
          </p:cNvPr>
          <p:cNvSpPr txBox="1"/>
          <p:nvPr/>
        </p:nvSpPr>
        <p:spPr>
          <a:xfrm>
            <a:off x="3526469" y="1662567"/>
            <a:ext cx="5258589" cy="4914125"/>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buSzPts val="1400"/>
            </a:pPr>
            <a:r>
              <a:rPr lang="it-IT" sz="1800" baseline="30000" dirty="0">
                <a:solidFill>
                  <a:srgbClr val="FF0000"/>
                </a:solidFill>
              </a:rPr>
              <a:t>Esempio:</a:t>
            </a:r>
          </a:p>
          <a:p>
            <a:pPr marL="0" marR="0" lvl="0" indent="0" algn="l">
              <a:lnSpc>
                <a:spcPct val="100000"/>
              </a:lnSpc>
              <a:spcBef>
                <a:spcPts val="0"/>
              </a:spcBef>
              <a:spcAft>
                <a:spcPts val="0"/>
              </a:spcAft>
              <a:buSzPts val="1400"/>
              <a:buFont typeface="Arial"/>
              <a:buNone/>
            </a:pPr>
            <a:r>
              <a:rPr lang="it-IT" sz="1600" i="0" u="none" strike="noStrike" cap="none" baseline="30000" dirty="0" err="1">
                <a:solidFill>
                  <a:srgbClr val="000000"/>
                </a:solidFill>
                <a:latin typeface="Arial"/>
                <a:ea typeface="Arial"/>
                <a:cs typeface="Arial"/>
                <a:sym typeface="Arial"/>
              </a:rPr>
              <a:t>type</a:t>
            </a: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Combinable</a:t>
            </a:r>
            <a:r>
              <a:rPr lang="it-IT" sz="1600" i="0" u="none" strike="noStrike" cap="none" baseline="30000" dirty="0">
                <a:solidFill>
                  <a:srgbClr val="000000"/>
                </a:solidFill>
                <a:latin typeface="Arial"/>
                <a:ea typeface="Arial"/>
                <a:cs typeface="Arial"/>
                <a:sym typeface="Arial"/>
              </a:rPr>
              <a:t> = </a:t>
            </a:r>
            <a:r>
              <a:rPr lang="it-IT" sz="1600" i="0" u="none" strike="noStrike" cap="none" baseline="30000" dirty="0" err="1">
                <a:solidFill>
                  <a:srgbClr val="000000"/>
                </a:solidFill>
                <a:latin typeface="Arial"/>
                <a:ea typeface="Arial"/>
                <a:cs typeface="Arial"/>
                <a:sym typeface="Arial"/>
              </a:rPr>
              <a:t>number|string</a:t>
            </a:r>
            <a:endParaRPr lang="it-IT"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err="1">
                <a:solidFill>
                  <a:srgbClr val="000000"/>
                </a:solidFill>
                <a:latin typeface="Arial"/>
                <a:ea typeface="Arial"/>
                <a:cs typeface="Arial"/>
                <a:sym typeface="Arial"/>
              </a:rPr>
              <a:t>type</a:t>
            </a: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ConversionDescriptor</a:t>
            </a:r>
            <a:r>
              <a:rPr lang="it-IT" sz="1600" i="0" u="none" strike="noStrike" cap="none" baseline="30000" dirty="0">
                <a:solidFill>
                  <a:srgbClr val="000000"/>
                </a:solidFill>
                <a:latin typeface="Arial"/>
                <a:ea typeface="Arial"/>
                <a:cs typeface="Arial"/>
                <a:sym typeface="Arial"/>
              </a:rPr>
              <a:t> = </a:t>
            </a:r>
            <a:r>
              <a:rPr lang="it-IT" sz="1600" i="0" u="none" strike="noStrike" cap="none" baseline="30000" dirty="0" err="1">
                <a:solidFill>
                  <a:srgbClr val="000000"/>
                </a:solidFill>
                <a:latin typeface="Arial"/>
                <a:ea typeface="Arial"/>
                <a:cs typeface="Arial"/>
                <a:sym typeface="Arial"/>
              </a:rPr>
              <a:t>boolean|string</a:t>
            </a:r>
            <a:r>
              <a:rPr lang="it-IT" sz="1600" i="0" u="none" strike="noStrike" cap="none" baseline="30000" dirty="0">
                <a:solidFill>
                  <a:srgbClr val="000000"/>
                </a:solidFill>
                <a:latin typeface="Arial"/>
                <a:ea typeface="Arial"/>
                <a:cs typeface="Arial"/>
                <a:sym typeface="Arial"/>
              </a:rPr>
              <a:t> </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err="1">
                <a:solidFill>
                  <a:srgbClr val="000000"/>
                </a:solidFill>
                <a:latin typeface="Arial"/>
                <a:ea typeface="Arial"/>
                <a:cs typeface="Arial"/>
                <a:sym typeface="Arial"/>
              </a:rPr>
              <a:t>function</a:t>
            </a:r>
            <a:r>
              <a:rPr lang="it-IT" sz="1600" i="0" u="none" strike="noStrike" cap="none" baseline="30000" dirty="0">
                <a:solidFill>
                  <a:srgbClr val="000000"/>
                </a:solidFill>
                <a:latin typeface="Arial"/>
                <a:ea typeface="Arial"/>
                <a:cs typeface="Arial"/>
                <a:sym typeface="Arial"/>
              </a:rPr>
              <a:t> combine(</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a:solidFill>
                  <a:srgbClr val="000000"/>
                </a:solidFill>
                <a:latin typeface="Arial"/>
                <a:ea typeface="Arial"/>
                <a:cs typeface="Arial"/>
                <a:sym typeface="Arial"/>
              </a:rPr>
              <a:t>  input1: </a:t>
            </a:r>
            <a:r>
              <a:rPr lang="it-IT" sz="1600" i="0" u="none" strike="noStrike" cap="none" baseline="30000" dirty="0" err="1">
                <a:solidFill>
                  <a:srgbClr val="000000"/>
                </a:solidFill>
                <a:latin typeface="Arial"/>
                <a:ea typeface="Arial"/>
                <a:cs typeface="Arial"/>
                <a:sym typeface="Arial"/>
              </a:rPr>
              <a:t>Combinable</a:t>
            </a:r>
            <a:r>
              <a:rPr lang="it-IT" sz="1600" i="0" u="none" strike="noStrike" cap="none" baseline="30000" dirty="0">
                <a:solidFill>
                  <a:srgbClr val="000000"/>
                </a:solidFill>
                <a:latin typeface="Arial"/>
                <a:ea typeface="Arial"/>
                <a:cs typeface="Arial"/>
                <a:sym typeface="Arial"/>
              </a:rPr>
              <a:t>,</a:t>
            </a:r>
            <a:endParaRPr sz="1600" i="0" u="none" strike="noStrike" cap="none">
              <a:solidFill>
                <a:srgbClr val="000000"/>
              </a:solidFill>
              <a:latin typeface="Arial"/>
              <a:ea typeface="Arial"/>
              <a:cs typeface="Arial"/>
            </a:endParaRPr>
          </a:p>
          <a:p>
            <a:pPr>
              <a:buSzPts val="1400"/>
            </a:pPr>
            <a:r>
              <a:rPr lang="it-IT" sz="1600" i="0" u="none" strike="noStrike" cap="none" baseline="30000" dirty="0">
                <a:solidFill>
                  <a:srgbClr val="000000"/>
                </a:solidFill>
                <a:latin typeface="Arial"/>
                <a:ea typeface="Arial"/>
                <a:cs typeface="Arial"/>
                <a:sym typeface="Arial"/>
              </a:rPr>
              <a:t>  input2: </a:t>
            </a:r>
            <a:r>
              <a:rPr lang="it-IT" sz="1600" i="0" u="none" strike="noStrike" cap="none" baseline="30000" dirty="0" err="1">
                <a:solidFill>
                  <a:srgbClr val="000000"/>
                </a:solidFill>
                <a:latin typeface="Arial"/>
                <a:ea typeface="Arial"/>
                <a:cs typeface="Arial"/>
                <a:sym typeface="Arial"/>
              </a:rPr>
              <a:t>Combinable</a:t>
            </a:r>
            <a:r>
              <a:rPr lang="it-IT" sz="1600" i="0" u="none" strike="noStrike" cap="none" baseline="30000" dirty="0">
                <a:solidFill>
                  <a:srgbClr val="000000"/>
                </a:solidFill>
                <a:latin typeface="Arial"/>
                <a:ea typeface="Arial"/>
                <a:cs typeface="Arial"/>
                <a:sym typeface="Arial"/>
              </a:rPr>
              <a:t>,</a:t>
            </a:r>
            <a:br>
              <a:rPr lang="it-IT" sz="1600" baseline="30000" dirty="0"/>
            </a:br>
            <a:r>
              <a:rPr lang="it-IT" sz="1600" i="0" u="none" strike="noStrike" cap="none" baseline="30000" dirty="0" err="1">
                <a:solidFill>
                  <a:srgbClr val="000000"/>
                </a:solidFill>
                <a:latin typeface="Arial"/>
                <a:ea typeface="Arial"/>
                <a:cs typeface="Arial"/>
                <a:sym typeface="Arial"/>
              </a:rPr>
              <a:t>resultConversion</a:t>
            </a: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ConversionDescriptor</a:t>
            </a:r>
            <a:r>
              <a:rPr lang="it-IT" sz="1600" i="0" u="none" strike="noStrike" cap="none" baseline="30000" dirty="0">
                <a:solidFill>
                  <a:srgbClr val="000000"/>
                </a:solidFill>
                <a:latin typeface="Arial"/>
                <a:ea typeface="Arial"/>
                <a:cs typeface="Arial"/>
                <a:sym typeface="Arial"/>
              </a:rPr>
              <a:t>) {</a:t>
            </a:r>
            <a:endParaRPr sz="160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let</a:t>
            </a: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result</a:t>
            </a:r>
            <a:r>
              <a:rPr lang="it-IT" sz="1600" i="0" u="none" strike="noStrike" cap="none" baseline="30000" dirty="0">
                <a:solidFill>
                  <a:srgbClr val="000000"/>
                </a:solidFill>
                <a:latin typeface="Arial"/>
                <a:ea typeface="Arial"/>
                <a:cs typeface="Arial"/>
                <a:sym typeface="Arial"/>
              </a:rPr>
              <a:t>;</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if</a:t>
            </a: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typeof</a:t>
            </a:r>
            <a:r>
              <a:rPr lang="it-IT" sz="1600" i="0" u="none" strike="noStrike" cap="none" baseline="30000" dirty="0">
                <a:solidFill>
                  <a:srgbClr val="000000"/>
                </a:solidFill>
                <a:latin typeface="Arial"/>
                <a:ea typeface="Arial"/>
                <a:cs typeface="Arial"/>
                <a:sym typeface="Arial"/>
              </a:rPr>
              <a:t> input1 === '</a:t>
            </a:r>
            <a:r>
              <a:rPr lang="it-IT" sz="1600" i="0" u="none" strike="noStrike" cap="none" baseline="30000" dirty="0" err="1">
                <a:solidFill>
                  <a:srgbClr val="000000"/>
                </a:solidFill>
                <a:latin typeface="Arial"/>
                <a:ea typeface="Arial"/>
                <a:cs typeface="Arial"/>
                <a:sym typeface="Arial"/>
              </a:rPr>
              <a:t>number</a:t>
            </a:r>
            <a:r>
              <a:rPr lang="it-IT" sz="1600" i="0" u="none" strike="noStrike" cap="none" baseline="30000" dirty="0">
                <a:solidFill>
                  <a:srgbClr val="000000"/>
                </a:solidFill>
                <a:latin typeface="Arial"/>
                <a:ea typeface="Arial"/>
                <a:cs typeface="Arial"/>
                <a:sym typeface="Arial"/>
              </a:rPr>
              <a:t>' &amp;&amp; </a:t>
            </a:r>
            <a:r>
              <a:rPr lang="it-IT" sz="1600" i="0" u="none" strike="noStrike" cap="none" baseline="30000" dirty="0" err="1">
                <a:solidFill>
                  <a:srgbClr val="000000"/>
                </a:solidFill>
                <a:latin typeface="Arial"/>
                <a:ea typeface="Arial"/>
                <a:cs typeface="Arial"/>
                <a:sym typeface="Arial"/>
              </a:rPr>
              <a:t>typeof</a:t>
            </a:r>
            <a:r>
              <a:rPr lang="it-IT" sz="1600" i="0" u="none" strike="noStrike" cap="none" baseline="30000" dirty="0">
                <a:solidFill>
                  <a:srgbClr val="000000"/>
                </a:solidFill>
                <a:latin typeface="Arial"/>
                <a:ea typeface="Arial"/>
                <a:cs typeface="Arial"/>
                <a:sym typeface="Arial"/>
              </a:rPr>
              <a:t> input2 === '</a:t>
            </a:r>
            <a:r>
              <a:rPr lang="it-IT" sz="1600" i="0" u="none" strike="noStrike" cap="none" baseline="30000" dirty="0" err="1">
                <a:solidFill>
                  <a:srgbClr val="000000"/>
                </a:solidFill>
                <a:latin typeface="Arial"/>
                <a:ea typeface="Arial"/>
                <a:cs typeface="Arial"/>
                <a:sym typeface="Arial"/>
              </a:rPr>
              <a:t>number</a:t>
            </a:r>
            <a:r>
              <a:rPr lang="it-IT" sz="1600" i="0" u="none" strike="noStrike" cap="none" baseline="30000" dirty="0">
                <a:solidFill>
                  <a:srgbClr val="000000"/>
                </a:solidFill>
                <a:latin typeface="Arial"/>
                <a:ea typeface="Arial"/>
                <a:cs typeface="Arial"/>
                <a:sym typeface="Arial"/>
              </a:rPr>
              <a:t>' || </a:t>
            </a:r>
            <a:r>
              <a:rPr lang="it-IT" sz="1600" i="0" u="none" strike="noStrike" cap="none" baseline="30000" dirty="0" err="1">
                <a:solidFill>
                  <a:srgbClr val="000000"/>
                </a:solidFill>
                <a:latin typeface="Arial"/>
                <a:ea typeface="Arial"/>
                <a:cs typeface="Arial"/>
                <a:sym typeface="Arial"/>
              </a:rPr>
              <a:t>resultConversion</a:t>
            </a:r>
            <a:r>
              <a:rPr lang="it-IT" sz="1600" i="0" u="none" strike="noStrike" cap="none" baseline="30000" dirty="0">
                <a:solidFill>
                  <a:srgbClr val="000000"/>
                </a:solidFill>
                <a:latin typeface="Arial"/>
                <a:ea typeface="Arial"/>
                <a:cs typeface="Arial"/>
                <a:sym typeface="Arial"/>
              </a:rPr>
              <a:t> === '</a:t>
            </a:r>
            <a:r>
              <a:rPr lang="it-IT" sz="1600" i="0" u="none" strike="noStrike" cap="none" baseline="30000" dirty="0" err="1">
                <a:solidFill>
                  <a:srgbClr val="000000"/>
                </a:solidFill>
                <a:latin typeface="Arial"/>
                <a:ea typeface="Arial"/>
                <a:cs typeface="Arial"/>
                <a:sym typeface="Arial"/>
              </a:rPr>
              <a:t>as-number</a:t>
            </a:r>
            <a:r>
              <a:rPr lang="it-IT" sz="1600" i="0" u="none" strike="noStrike" cap="none" baseline="30000" dirty="0">
                <a:solidFill>
                  <a:srgbClr val="000000"/>
                </a:solidFill>
                <a:latin typeface="Arial"/>
                <a:ea typeface="Arial"/>
                <a:cs typeface="Arial"/>
                <a:sym typeface="Arial"/>
              </a:rPr>
              <a:t>') {</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result</a:t>
            </a:r>
            <a:r>
              <a:rPr lang="it-IT" sz="1600" i="0" u="none" strike="noStrike" cap="none" baseline="30000" dirty="0">
                <a:solidFill>
                  <a:srgbClr val="000000"/>
                </a:solidFill>
                <a:latin typeface="Arial"/>
                <a:ea typeface="Arial"/>
                <a:cs typeface="Arial"/>
                <a:sym typeface="Arial"/>
              </a:rPr>
              <a:t> = +input1 + +input2;</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a:solidFill>
                  <a:srgbClr val="000000"/>
                </a:solidFill>
                <a:latin typeface="Arial"/>
                <a:ea typeface="Arial"/>
                <a:cs typeface="Arial"/>
                <a:sym typeface="Arial"/>
              </a:rPr>
              <a:t>  } else {</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result</a:t>
            </a:r>
            <a:r>
              <a:rPr lang="it-IT" sz="1600" i="0" u="none" strike="noStrike" cap="none" baseline="30000" dirty="0">
                <a:solidFill>
                  <a:srgbClr val="000000"/>
                </a:solidFill>
                <a:latin typeface="Arial"/>
                <a:ea typeface="Arial"/>
                <a:cs typeface="Arial"/>
                <a:sym typeface="Arial"/>
              </a:rPr>
              <a:t> = input1.toString() + input2.toString();</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r>
              <a:rPr lang="it-IT" sz="1600" i="0" u="none" strike="noStrike" cap="none" baseline="30000" dirty="0">
                <a:solidFill>
                  <a:srgbClr val="000000"/>
                </a:solidFill>
                <a:latin typeface="Arial"/>
                <a:ea typeface="Arial"/>
                <a:cs typeface="Arial"/>
                <a:sym typeface="Arial"/>
              </a:rPr>
              <a:t>  }  </a:t>
            </a:r>
            <a:r>
              <a:rPr lang="it-IT" sz="1600" i="0" u="none" strike="noStrike" cap="none" baseline="30000" dirty="0" err="1">
                <a:solidFill>
                  <a:srgbClr val="000000"/>
                </a:solidFill>
                <a:latin typeface="Arial"/>
                <a:ea typeface="Arial"/>
                <a:cs typeface="Arial"/>
                <a:sym typeface="Arial"/>
              </a:rPr>
              <a:t>return</a:t>
            </a:r>
            <a:r>
              <a:rPr lang="it-IT" sz="1600" i="0" u="none" strike="noStrike" cap="none" baseline="30000" dirty="0">
                <a:solidFill>
                  <a:srgbClr val="000000"/>
                </a:solidFill>
                <a:latin typeface="Arial"/>
                <a:ea typeface="Arial"/>
                <a:cs typeface="Arial"/>
                <a:sym typeface="Arial"/>
              </a:rPr>
              <a:t> </a:t>
            </a:r>
            <a:r>
              <a:rPr lang="it-IT" sz="1600" i="0" u="none" strike="noStrike" cap="none" baseline="30000" dirty="0" err="1">
                <a:solidFill>
                  <a:srgbClr val="000000"/>
                </a:solidFill>
                <a:latin typeface="Arial"/>
                <a:ea typeface="Arial"/>
                <a:cs typeface="Arial"/>
                <a:sym typeface="Arial"/>
              </a:rPr>
              <a:t>result</a:t>
            </a:r>
            <a:r>
              <a:rPr lang="it-IT" sz="1600" i="0" u="none" strike="noStrike" cap="none" baseline="30000" dirty="0">
                <a:solidFill>
                  <a:srgbClr val="000000"/>
                </a:solidFill>
                <a:latin typeface="Arial"/>
                <a:ea typeface="Arial"/>
                <a:cs typeface="Arial"/>
                <a:sym typeface="Arial"/>
              </a:rPr>
              <a:t>;</a:t>
            </a:r>
            <a:endParaRPr sz="16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600"/>
              <a:buFont typeface="Arial"/>
              <a:buNone/>
            </a:pPr>
            <a:endParaRPr b="0" i="0" u="none" strike="noStrike" cap="none" baseline="30000"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baseline="300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645AD"/>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7" name="Google Shape;87;p2"/>
          <p:cNvSpPr txBox="1"/>
          <p:nvPr/>
        </p:nvSpPr>
        <p:spPr>
          <a:xfrm>
            <a:off x="359999" y="615704"/>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88" name="Google Shape;88;p2"/>
          <p:cNvSpPr txBox="1"/>
          <p:nvPr/>
        </p:nvSpPr>
        <p:spPr>
          <a:xfrm>
            <a:off x="306744" y="1108578"/>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dirty="0">
                <a:solidFill>
                  <a:schemeClr val="dk1"/>
                </a:solidFill>
                <a:ea typeface="Consolas"/>
                <a:cs typeface="Consolas"/>
                <a:sym typeface="Consolas"/>
              </a:rPr>
              <a:t> </a:t>
            </a:r>
            <a:r>
              <a:rPr lang="it-IT" sz="1600" b="1" dirty="0" err="1">
                <a:solidFill>
                  <a:schemeClr val="dk1"/>
                </a:solidFill>
                <a:ea typeface="Consolas"/>
                <a:cs typeface="Consolas"/>
                <a:sym typeface="Consolas"/>
              </a:rPr>
              <a:t>Assertion</a:t>
            </a:r>
            <a:r>
              <a:rPr lang="it-IT" sz="1600" b="1" i="0" u="none" strike="noStrike" cap="none" dirty="0">
                <a:solidFill>
                  <a:schemeClr val="dk1"/>
                </a:solidFill>
                <a:ea typeface="Consolas"/>
                <a:cs typeface="Consolas"/>
                <a:sym typeface="Consolas"/>
              </a:rPr>
              <a:t> </a:t>
            </a:r>
            <a:r>
              <a:rPr lang="it-IT" sz="1600" b="1" i="0" u="none" strike="noStrike" cap="none" dirty="0" err="1">
                <a:solidFill>
                  <a:schemeClr val="dk1"/>
                </a:solidFill>
                <a:ea typeface="Consolas"/>
                <a:cs typeface="Consolas"/>
                <a:sym typeface="Consolas"/>
              </a:rPr>
              <a:t>Type</a:t>
            </a:r>
            <a:r>
              <a:rPr lang="it-IT" sz="1600" b="0" i="0" u="none" strike="noStrike" cap="none" dirty="0">
                <a:solidFill>
                  <a:srgbClr val="FF0000"/>
                </a:solidFill>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89" name="Google Shape;89;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5</a:t>
            </a:fld>
            <a:endParaRPr/>
          </a:p>
        </p:txBody>
      </p:sp>
      <p:sp>
        <p:nvSpPr>
          <p:cNvPr id="91" name="Google Shape;91;p2"/>
          <p:cNvSpPr txBox="1"/>
          <p:nvPr/>
        </p:nvSpPr>
        <p:spPr>
          <a:xfrm>
            <a:off x="308840" y="1497400"/>
            <a:ext cx="2743199"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Arial"/>
                <a:ea typeface="Arial"/>
                <a:cs typeface="Arial"/>
                <a:sym typeface="Arial"/>
              </a:rPr>
              <a:t>Assertion Type</a:t>
            </a:r>
            <a:endParaRPr sz="1400" b="0" i="0" u="none" strike="noStrike" cap="none">
              <a:solidFill>
                <a:srgbClr val="FF0000"/>
              </a:solidFill>
              <a:latin typeface="Arial"/>
              <a:ea typeface="Arial"/>
              <a:cs typeface="Arial"/>
              <a:sym typeface="Arial"/>
            </a:endParaRPr>
          </a:p>
        </p:txBody>
      </p:sp>
      <p:sp>
        <p:nvSpPr>
          <p:cNvPr id="93" name="Google Shape;93;p2"/>
          <p:cNvSpPr txBox="1"/>
          <p:nvPr/>
        </p:nvSpPr>
        <p:spPr>
          <a:xfrm>
            <a:off x="308839" y="1877811"/>
            <a:ext cx="4044114" cy="10156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L'asserzione del tipo consente di impostare il tipo di un valore e di dire al compilatore di non inferirlo. Questo è quando tu, come programmatore, potresti avere una migliore comprensione del tipo di una variabile rispetto a ciò che TypeScript può dedurre da solo. </a:t>
            </a:r>
            <a:endParaRPr sz="1400" b="0" i="0" u="none" strike="noStrike" cap="none">
              <a:solidFill>
                <a:srgbClr val="000000"/>
              </a:solidFill>
              <a:latin typeface="Arial"/>
              <a:ea typeface="Arial"/>
              <a:cs typeface="Arial"/>
              <a:sym typeface="Arial"/>
            </a:endParaRPr>
          </a:p>
        </p:txBody>
      </p:sp>
      <p:sp>
        <p:nvSpPr>
          <p:cNvPr id="94" name="Google Shape;94;p2"/>
          <p:cNvSpPr txBox="1"/>
          <p:nvPr/>
        </p:nvSpPr>
        <p:spPr>
          <a:xfrm>
            <a:off x="308840" y="2968172"/>
            <a:ext cx="2743200" cy="169277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let code: any = 123;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br>
              <a:rPr lang="it-IT" sz="1200" b="0" i="0" u="none" strike="noStrike" cap="none">
                <a:solidFill>
                  <a:srgbClr val="000000"/>
                </a:solidFill>
                <a:latin typeface="Arial"/>
                <a:ea typeface="Arial"/>
                <a:cs typeface="Arial"/>
                <a:sym typeface="Arial"/>
              </a:rPr>
            </a:br>
            <a:r>
              <a:rPr lang="it-IT" sz="1200" b="0" i="0" u="none" strike="noStrike" cap="none">
                <a:solidFill>
                  <a:srgbClr val="000000"/>
                </a:solidFill>
                <a:latin typeface="Arial"/>
                <a:ea typeface="Arial"/>
                <a:cs typeface="Arial"/>
                <a:sym typeface="Arial"/>
              </a:rPr>
              <a:t>let employeeCode = &lt;number&gt; code;</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a:t>
            </a:r>
            <a:br>
              <a:rPr lang="it-IT" sz="1200" b="0" i="0" u="none" strike="noStrike" cap="none">
                <a:solidFill>
                  <a:srgbClr val="000000"/>
                </a:solidFill>
                <a:latin typeface="Arial"/>
                <a:ea typeface="Arial"/>
                <a:cs typeface="Arial"/>
                <a:sym typeface="Arial"/>
              </a:rPr>
            </a:br>
            <a:r>
              <a:rPr lang="it-IT" sz="1200" b="0" i="0" u="none" strike="noStrike" cap="none">
                <a:solidFill>
                  <a:srgbClr val="000000"/>
                </a:solidFill>
                <a:latin typeface="Arial"/>
                <a:ea typeface="Arial"/>
                <a:cs typeface="Arial"/>
                <a:sym typeface="Arial"/>
              </a:rPr>
              <a:t>console.log(typeof(employeeCode)); </a:t>
            </a:r>
            <a:br>
              <a:rPr lang="it-IT" sz="1400" b="0" i="0" u="none" strike="noStrike" cap="none">
                <a:solidFill>
                  <a:srgbClr val="000000"/>
                </a:solidFill>
                <a:latin typeface="Consolas"/>
                <a:ea typeface="Consolas"/>
                <a:cs typeface="Consolas"/>
                <a:sym typeface="Consolas"/>
              </a:rPr>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it-IT"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37168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6</a:t>
            </a:fld>
            <a:endParaRPr/>
          </a:p>
        </p:txBody>
      </p:sp>
      <p:sp>
        <p:nvSpPr>
          <p:cNvPr id="3" name="CasellaDiTesto 2">
            <a:extLst>
              <a:ext uri="{FF2B5EF4-FFF2-40B4-BE49-F238E27FC236}">
                <a16:creationId xmlns:a16="http://schemas.microsoft.com/office/drawing/2014/main" id="{C4AC62E5-429B-4C3B-8FF1-156C47467A32}"/>
              </a:ext>
            </a:extLst>
          </p:cNvPr>
          <p:cNvSpPr txBox="1"/>
          <p:nvPr/>
        </p:nvSpPr>
        <p:spPr>
          <a:xfrm>
            <a:off x="249758" y="785796"/>
            <a:ext cx="27431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600" b="1" dirty="0"/>
              <a:t>Custom </a:t>
            </a:r>
            <a:r>
              <a:rPr lang="it-IT" sz="1600" b="1" dirty="0" err="1"/>
              <a:t>type</a:t>
            </a:r>
            <a:endParaRPr lang="it-IT" sz="1600" b="1" dirty="0"/>
          </a:p>
        </p:txBody>
      </p:sp>
      <p:pic>
        <p:nvPicPr>
          <p:cNvPr id="4" name="Immagine 4" descr="Immagine che contiene testo&#10;&#10;Descrizione generata automaticamente">
            <a:extLst>
              <a:ext uri="{FF2B5EF4-FFF2-40B4-BE49-F238E27FC236}">
                <a16:creationId xmlns:a16="http://schemas.microsoft.com/office/drawing/2014/main" id="{8B0669F2-CEB2-49A1-A22D-1405D14FA117}"/>
              </a:ext>
            </a:extLst>
          </p:cNvPr>
          <p:cNvPicPr>
            <a:picLocks noChangeAspect="1"/>
          </p:cNvPicPr>
          <p:nvPr/>
        </p:nvPicPr>
        <p:blipFill>
          <a:blip r:embed="rId3"/>
          <a:stretch>
            <a:fillRect/>
          </a:stretch>
        </p:blipFill>
        <p:spPr>
          <a:xfrm>
            <a:off x="361223" y="1396931"/>
            <a:ext cx="6088598" cy="3300941"/>
          </a:xfrm>
          <a:prstGeom prst="rect">
            <a:avLst/>
          </a:prstGeom>
        </p:spPr>
      </p:pic>
      <p:sp>
        <p:nvSpPr>
          <p:cNvPr id="2" name="CasellaDiTesto 1">
            <a:extLst>
              <a:ext uri="{FF2B5EF4-FFF2-40B4-BE49-F238E27FC236}">
                <a16:creationId xmlns:a16="http://schemas.microsoft.com/office/drawing/2014/main" id="{0719F571-17A0-4862-832B-4C5D678BFF8F}"/>
              </a:ext>
            </a:extLst>
          </p:cNvPr>
          <p:cNvSpPr txBox="1"/>
          <p:nvPr/>
        </p:nvSpPr>
        <p:spPr>
          <a:xfrm>
            <a:off x="249759" y="214795"/>
            <a:ext cx="27431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2400" b="1" dirty="0" err="1"/>
              <a:t>Typescript</a:t>
            </a:r>
            <a:endParaRPr lang="it-IT" sz="2400" b="1" dirty="0"/>
          </a:p>
        </p:txBody>
      </p:sp>
    </p:spTree>
    <p:extLst>
      <p:ext uri="{BB962C8B-B14F-4D97-AF65-F5344CB8AC3E}">
        <p14:creationId xmlns:p14="http://schemas.microsoft.com/office/powerpoint/2010/main" val="2966002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9"/>
          <p:cNvSpPr txBox="1"/>
          <p:nvPr/>
        </p:nvSpPr>
        <p:spPr>
          <a:xfrm>
            <a:off x="360000" y="4697100"/>
            <a:ext cx="666900" cy="12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it-IT" sz="600" b="0" i="0" u="none" strike="noStrike" cap="none">
                <a:solidFill>
                  <a:srgbClr val="111314"/>
                </a:solidFill>
                <a:latin typeface="Open Sans"/>
                <a:ea typeface="Open Sans"/>
                <a:cs typeface="Open Sans"/>
                <a:sym typeface="Open Sans"/>
              </a:rPr>
              <a:t>epicodeschool</a:t>
            </a:r>
            <a:endParaRPr sz="600" b="0" i="0" u="none" strike="noStrike" cap="none">
              <a:solidFill>
                <a:srgbClr val="111314"/>
              </a:solidFill>
              <a:latin typeface="Open Sans"/>
              <a:ea typeface="Open Sans"/>
              <a:cs typeface="Open Sans"/>
              <a:sym typeface="Open Sans"/>
            </a:endParaRPr>
          </a:p>
        </p:txBody>
      </p:sp>
      <p:pic>
        <p:nvPicPr>
          <p:cNvPr id="133" name="Google Shape;133;p9"/>
          <p:cNvPicPr preferRelativeResize="0"/>
          <p:nvPr/>
        </p:nvPicPr>
        <p:blipFill rotWithShape="1">
          <a:blip r:embed="rId3">
            <a:alphaModFix/>
          </a:blip>
          <a:srcRect l="1700" r="1700"/>
          <a:stretch/>
        </p:blipFill>
        <p:spPr>
          <a:xfrm>
            <a:off x="356775" y="360000"/>
            <a:ext cx="674802" cy="214800"/>
          </a:xfrm>
          <a:prstGeom prst="rect">
            <a:avLst/>
          </a:prstGeom>
          <a:noFill/>
          <a:ln>
            <a:noFill/>
          </a:ln>
        </p:spPr>
      </p:pic>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7</a:t>
            </a:fld>
            <a:endParaRPr/>
          </a:p>
        </p:txBody>
      </p:sp>
      <p:sp>
        <p:nvSpPr>
          <p:cNvPr id="3" name="CasellaDiTesto 2">
            <a:extLst>
              <a:ext uri="{FF2B5EF4-FFF2-40B4-BE49-F238E27FC236}">
                <a16:creationId xmlns:a16="http://schemas.microsoft.com/office/drawing/2014/main" id="{C4AC62E5-429B-4C3B-8FF1-156C47467A32}"/>
              </a:ext>
            </a:extLst>
          </p:cNvPr>
          <p:cNvSpPr txBox="1"/>
          <p:nvPr/>
        </p:nvSpPr>
        <p:spPr>
          <a:xfrm>
            <a:off x="297782" y="1072315"/>
            <a:ext cx="27431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600" b="1" dirty="0" err="1"/>
              <a:t>Assertion</a:t>
            </a:r>
            <a:r>
              <a:rPr lang="it-IT" sz="1600" b="1" dirty="0"/>
              <a:t>  </a:t>
            </a:r>
            <a:r>
              <a:rPr lang="it-IT" sz="1600" b="1" dirty="0" err="1"/>
              <a:t>type</a:t>
            </a:r>
            <a:endParaRPr lang="it-IT" sz="1600" b="1" dirty="0"/>
          </a:p>
        </p:txBody>
      </p:sp>
      <p:pic>
        <p:nvPicPr>
          <p:cNvPr id="2" name="Immagine 4" descr="Immagine che contiene testo&#10;&#10;Descrizione generata automaticamente">
            <a:extLst>
              <a:ext uri="{FF2B5EF4-FFF2-40B4-BE49-F238E27FC236}">
                <a16:creationId xmlns:a16="http://schemas.microsoft.com/office/drawing/2014/main" id="{5AEDF6EF-CA4C-4306-BCA9-ADC8B8D3F026}"/>
              </a:ext>
            </a:extLst>
          </p:cNvPr>
          <p:cNvPicPr>
            <a:picLocks noChangeAspect="1"/>
          </p:cNvPicPr>
          <p:nvPr/>
        </p:nvPicPr>
        <p:blipFill>
          <a:blip r:embed="rId4"/>
          <a:stretch>
            <a:fillRect/>
          </a:stretch>
        </p:blipFill>
        <p:spPr>
          <a:xfrm>
            <a:off x="357939" y="1454685"/>
            <a:ext cx="6065596" cy="3247526"/>
          </a:xfrm>
          <a:prstGeom prst="rect">
            <a:avLst/>
          </a:prstGeom>
        </p:spPr>
      </p:pic>
      <p:sp>
        <p:nvSpPr>
          <p:cNvPr id="5" name="CasellaDiTesto 4">
            <a:extLst>
              <a:ext uri="{FF2B5EF4-FFF2-40B4-BE49-F238E27FC236}">
                <a16:creationId xmlns:a16="http://schemas.microsoft.com/office/drawing/2014/main" id="{66590D5E-C1D4-402F-AFAF-1E2F79F8B4DE}"/>
              </a:ext>
            </a:extLst>
          </p:cNvPr>
          <p:cNvSpPr txBox="1"/>
          <p:nvPr/>
        </p:nvSpPr>
        <p:spPr>
          <a:xfrm>
            <a:off x="297782" y="658729"/>
            <a:ext cx="27431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600" b="1" dirty="0" err="1"/>
              <a:t>Typescript</a:t>
            </a:r>
            <a:endParaRPr lang="it-IT" sz="1600" b="1"/>
          </a:p>
        </p:txBody>
      </p:sp>
    </p:spTree>
    <p:extLst>
      <p:ext uri="{BB962C8B-B14F-4D97-AF65-F5344CB8AC3E}">
        <p14:creationId xmlns:p14="http://schemas.microsoft.com/office/powerpoint/2010/main" val="3936828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8</a:t>
            </a:fld>
            <a:endParaRPr/>
          </a:p>
        </p:txBody>
      </p:sp>
      <p:sp>
        <p:nvSpPr>
          <p:cNvPr id="2" name="CasellaDiTesto 1">
            <a:extLst>
              <a:ext uri="{FF2B5EF4-FFF2-40B4-BE49-F238E27FC236}">
                <a16:creationId xmlns:a16="http://schemas.microsoft.com/office/drawing/2014/main" id="{FAD29A0A-63C1-4C70-AD17-804276066539}"/>
              </a:ext>
            </a:extLst>
          </p:cNvPr>
          <p:cNvSpPr txBox="1"/>
          <p:nvPr/>
        </p:nvSpPr>
        <p:spPr>
          <a:xfrm>
            <a:off x="2250704" y="2309532"/>
            <a:ext cx="671848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800" dirty="0"/>
              <a:t>Introduzione ad </a:t>
            </a:r>
            <a:r>
              <a:rPr lang="it-IT" sz="2800" dirty="0" err="1"/>
              <a:t>ecmascript</a:t>
            </a:r>
            <a:r>
              <a:rPr lang="it-IT" sz="2800" dirty="0"/>
              <a:t> 6</a:t>
            </a:r>
          </a:p>
        </p:txBody>
      </p:sp>
    </p:spTree>
    <p:extLst>
      <p:ext uri="{BB962C8B-B14F-4D97-AF65-F5344CB8AC3E}">
        <p14:creationId xmlns:p14="http://schemas.microsoft.com/office/powerpoint/2010/main" val="2269847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6" name="Google Shape;116;p8"/>
          <p:cNvSpPr txBox="1"/>
          <p:nvPr/>
        </p:nvSpPr>
        <p:spPr>
          <a:xfrm>
            <a:off x="284802" y="638263"/>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117" name="Google Shape;117;p8"/>
          <p:cNvSpPr txBox="1"/>
          <p:nvPr/>
        </p:nvSpPr>
        <p:spPr>
          <a:xfrm>
            <a:off x="281538" y="1146177"/>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err="1">
                <a:solidFill>
                  <a:schemeClr val="dk1"/>
                </a:solidFill>
                <a:ea typeface="Consolas"/>
                <a:cs typeface="Consolas"/>
                <a:sym typeface="Consolas"/>
              </a:rPr>
              <a:t>Ecmascript</a:t>
            </a:r>
            <a:r>
              <a:rPr lang="it-IT" sz="1600" b="1" i="0" u="none" strike="noStrike" cap="none" dirty="0">
                <a:solidFill>
                  <a:schemeClr val="dk1"/>
                </a:solidFill>
                <a:ea typeface="Consolas"/>
                <a:cs typeface="Consolas"/>
                <a:sym typeface="Consolas"/>
              </a:rPr>
              <a:t> 6 parte 1</a:t>
            </a:r>
            <a:r>
              <a:rPr lang="it-IT" sz="1600" b="1" i="0" u="none" strike="noStrike" cap="none" dirty="0">
                <a:solidFill>
                  <a:schemeClr val="dk1"/>
                </a:solidFill>
                <a:latin typeface="Consolas"/>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18" name="Google Shape;11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9</a:t>
            </a:fld>
            <a:endParaRPr/>
          </a:p>
        </p:txBody>
      </p:sp>
      <p:sp>
        <p:nvSpPr>
          <p:cNvPr id="119" name="Google Shape;119;p8"/>
          <p:cNvSpPr txBox="1"/>
          <p:nvPr/>
        </p:nvSpPr>
        <p:spPr>
          <a:xfrm>
            <a:off x="195835" y="1726790"/>
            <a:ext cx="2589900" cy="29340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dirty="0">
                <a:solidFill>
                  <a:srgbClr val="000000"/>
                </a:solidFill>
                <a:latin typeface="Arial"/>
                <a:ea typeface="Arial"/>
                <a:cs typeface="Arial"/>
                <a:sym typeface="Arial"/>
              </a:rPr>
              <a:t>Così come in </a:t>
            </a:r>
            <a:r>
              <a:rPr lang="it-IT" sz="1800" b="0" i="0" u="none" strike="noStrike" cap="none" baseline="30000" dirty="0" err="1">
                <a:solidFill>
                  <a:srgbClr val="000000"/>
                </a:solidFill>
                <a:latin typeface="Arial"/>
                <a:ea typeface="Arial"/>
                <a:cs typeface="Arial"/>
                <a:sym typeface="Arial"/>
              </a:rPr>
              <a:t>Javascript</a:t>
            </a:r>
            <a:r>
              <a:rPr lang="it-IT" sz="1800" b="0" i="0" u="none" strike="noStrike" cap="none" baseline="30000" dirty="0">
                <a:solidFill>
                  <a:srgbClr val="000000"/>
                </a:solidFill>
                <a:latin typeface="Arial"/>
                <a:ea typeface="Arial"/>
                <a:cs typeface="Arial"/>
                <a:sym typeface="Arial"/>
              </a:rPr>
              <a:t> anche </a:t>
            </a:r>
            <a:r>
              <a:rPr lang="it-IT" sz="1800" b="0" i="0" u="none" strike="noStrike" cap="none" baseline="30000" dirty="0" err="1">
                <a:solidFill>
                  <a:srgbClr val="000000"/>
                </a:solidFill>
                <a:latin typeface="Arial"/>
                <a:ea typeface="Arial"/>
                <a:cs typeface="Arial"/>
                <a:sym typeface="Arial"/>
              </a:rPr>
              <a:t>Typescript</a:t>
            </a:r>
            <a:r>
              <a:rPr lang="it-IT" sz="1800" b="0" i="0" u="none" strike="noStrike" cap="none" baseline="30000" dirty="0">
                <a:solidFill>
                  <a:srgbClr val="000000"/>
                </a:solidFill>
                <a:latin typeface="Arial"/>
                <a:ea typeface="Arial"/>
                <a:cs typeface="Arial"/>
                <a:sym typeface="Arial"/>
              </a:rPr>
              <a:t> </a:t>
            </a:r>
            <a:r>
              <a:rPr lang="it-IT" sz="1800" b="0" i="0" u="none" strike="noStrike" cap="none" baseline="30000" dirty="0" err="1">
                <a:solidFill>
                  <a:srgbClr val="000000"/>
                </a:solidFill>
                <a:latin typeface="Arial"/>
                <a:ea typeface="Arial"/>
                <a:cs typeface="Arial"/>
                <a:sym typeface="Arial"/>
              </a:rPr>
              <a:t>adotte</a:t>
            </a:r>
            <a:r>
              <a:rPr lang="it-IT" sz="1800" b="0" i="0" u="none" strike="noStrike" cap="none" baseline="30000" dirty="0">
                <a:solidFill>
                  <a:srgbClr val="000000"/>
                </a:solidFill>
                <a:latin typeface="Arial"/>
                <a:ea typeface="Arial"/>
                <a:cs typeface="Arial"/>
                <a:sym typeface="Arial"/>
              </a:rPr>
              <a:t> le nuove funzionalità introdotte da </a:t>
            </a:r>
            <a:r>
              <a:rPr lang="it-IT" sz="1800" b="0" i="0" u="none" strike="noStrike" cap="none" baseline="30000" dirty="0" err="1">
                <a:solidFill>
                  <a:srgbClr val="000000"/>
                </a:solidFill>
                <a:latin typeface="Arial"/>
                <a:ea typeface="Arial"/>
                <a:cs typeface="Arial"/>
                <a:sym typeface="Arial"/>
              </a:rPr>
              <a:t>Ecmascript</a:t>
            </a:r>
            <a:r>
              <a:rPr lang="it-IT" sz="1800" b="0" i="0" u="none" strike="noStrike" cap="none" baseline="30000" dirty="0">
                <a:solidFill>
                  <a:srgbClr val="000000"/>
                </a:solidFill>
                <a:latin typeface="Arial"/>
                <a:ea typeface="Arial"/>
                <a:cs typeface="Arial"/>
                <a:sym typeface="Arial"/>
              </a:rPr>
              <a:t> 6, alcune le abbiamo già viste all'inizio del corso con</a:t>
            </a:r>
            <a:r>
              <a:rPr lang="it-IT" sz="1800" b="0" i="0" u="none" strike="noStrike" cap="none" baseline="30000" dirty="0">
                <a:solidFill>
                  <a:srgbClr val="00B0F0"/>
                </a:solidFill>
                <a:latin typeface="Arial"/>
                <a:ea typeface="Arial"/>
                <a:cs typeface="Arial"/>
                <a:sym typeface="Arial"/>
              </a:rPr>
              <a:t> </a:t>
            </a:r>
            <a:r>
              <a:rPr lang="it-IT" sz="1800" b="0" i="0" u="none" strike="noStrike" cap="none" baseline="30000" dirty="0" err="1">
                <a:solidFill>
                  <a:srgbClr val="00B0F0"/>
                </a:solidFill>
                <a:latin typeface="Arial"/>
                <a:ea typeface="Arial"/>
                <a:cs typeface="Arial"/>
                <a:sym typeface="Arial"/>
              </a:rPr>
              <a:t>let</a:t>
            </a:r>
            <a:r>
              <a:rPr lang="it-IT" sz="1800" b="0" i="0" u="none" strike="noStrike" cap="none" baseline="30000" dirty="0">
                <a:solidFill>
                  <a:srgbClr val="000000"/>
                </a:solidFill>
                <a:latin typeface="Arial"/>
                <a:ea typeface="Arial"/>
                <a:cs typeface="Arial"/>
                <a:sym typeface="Arial"/>
              </a:rPr>
              <a:t> e </a:t>
            </a:r>
            <a:r>
              <a:rPr lang="it-IT" sz="1800" b="0" i="0" u="none" strike="noStrike" cap="none" baseline="30000" dirty="0" err="1">
                <a:solidFill>
                  <a:srgbClr val="00B0F0"/>
                </a:solidFill>
                <a:latin typeface="Arial"/>
                <a:ea typeface="Arial"/>
                <a:cs typeface="Arial"/>
                <a:sym typeface="Arial"/>
              </a:rPr>
              <a:t>const</a:t>
            </a:r>
            <a:r>
              <a:rPr lang="it-IT" sz="1800" b="0" i="0" u="none" strike="noStrike" cap="none" baseline="30000" dirty="0">
                <a:solidFill>
                  <a:srgbClr val="00B0F0"/>
                </a:solidFill>
                <a:latin typeface="Arial"/>
                <a:ea typeface="Arial"/>
                <a:cs typeface="Arial"/>
                <a:sym typeface="Arial"/>
              </a:rPr>
              <a:t>.</a:t>
            </a:r>
            <a:br>
              <a:rPr lang="it-IT" sz="1800" b="0" i="0" u="none" strike="noStrike" cap="none" baseline="30000" dirty="0">
                <a:latin typeface="Arial"/>
                <a:ea typeface="Arial"/>
                <a:cs typeface="Arial"/>
              </a:rPr>
            </a:br>
            <a:r>
              <a:rPr lang="it-IT" sz="1800" b="0" i="0" u="none" strike="noStrike" cap="none" baseline="30000" dirty="0">
                <a:solidFill>
                  <a:srgbClr val="FF0000"/>
                </a:solidFill>
                <a:latin typeface="Arial"/>
                <a:ea typeface="Arial"/>
                <a:cs typeface="Arial"/>
                <a:sym typeface="Arial"/>
              </a:rPr>
              <a:t>Altre funzionalità:</a:t>
            </a:r>
            <a:br>
              <a:rPr lang="it-IT" sz="1800" b="0" i="0" u="none" strike="noStrike" cap="none" baseline="30000" dirty="0">
                <a:latin typeface="Arial"/>
                <a:ea typeface="Arial"/>
                <a:cs typeface="Arial"/>
              </a:rPr>
            </a:br>
            <a:r>
              <a:rPr lang="it-IT" sz="1800" b="0" i="0" u="none" strike="noStrike" cap="none" baseline="30000" dirty="0">
                <a:solidFill>
                  <a:schemeClr val="dk1"/>
                </a:solidFill>
                <a:latin typeface="Arial"/>
                <a:ea typeface="Arial"/>
                <a:cs typeface="Arial"/>
                <a:sym typeface="Arial"/>
              </a:rPr>
              <a:t>template </a:t>
            </a:r>
            <a:r>
              <a:rPr lang="it-IT" sz="1800" b="0" i="0" u="none" strike="noStrike" cap="none" baseline="30000" dirty="0" err="1">
                <a:solidFill>
                  <a:schemeClr val="dk1"/>
                </a:solidFill>
                <a:latin typeface="Arial"/>
                <a:ea typeface="Arial"/>
                <a:cs typeface="Arial"/>
                <a:sym typeface="Arial"/>
              </a:rPr>
              <a:t>literal</a:t>
            </a:r>
            <a:endParaRPr lang="it-IT" sz="1800" b="0" i="0" u="none" strike="noStrike" cap="none" baseline="30000" dirty="0">
              <a:solidFill>
                <a:schemeClr val="dk1"/>
              </a:solidFill>
              <a:latin typeface="Arial"/>
              <a:ea typeface="Arial"/>
              <a:cs typeface="Arial"/>
            </a:endParaRPr>
          </a:p>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dirty="0">
                <a:solidFill>
                  <a:schemeClr val="dk1"/>
                </a:solidFill>
                <a:latin typeface="Arial"/>
                <a:ea typeface="Arial"/>
                <a:cs typeface="Arial"/>
                <a:sym typeface="Arial"/>
              </a:rPr>
              <a:t>array filter-</a:t>
            </a:r>
            <a:r>
              <a:rPr lang="it-IT" sz="1800" b="0" i="0" u="none" strike="noStrike" cap="none" baseline="30000" dirty="0" err="1">
                <a:solidFill>
                  <a:schemeClr val="dk1"/>
                </a:solidFill>
                <a:latin typeface="Arial"/>
                <a:ea typeface="Arial"/>
                <a:cs typeface="Arial"/>
                <a:sym typeface="Arial"/>
              </a:rPr>
              <a:t>map</a:t>
            </a:r>
            <a:r>
              <a:rPr lang="it-IT" sz="1800" b="0" i="0" u="none" strike="noStrike" cap="none" baseline="30000" dirty="0">
                <a:solidFill>
                  <a:schemeClr val="dk1"/>
                </a:solidFill>
                <a:latin typeface="Arial"/>
                <a:ea typeface="Arial"/>
                <a:cs typeface="Arial"/>
                <a:sym typeface="Arial"/>
              </a:rPr>
              <a:t>-</a:t>
            </a:r>
            <a:r>
              <a:rPr lang="it-IT" sz="1800" b="0" i="0" u="none" strike="noStrike" cap="none" baseline="30000" dirty="0" err="1">
                <a:solidFill>
                  <a:schemeClr val="dk1"/>
                </a:solidFill>
                <a:latin typeface="Arial"/>
                <a:ea typeface="Arial"/>
                <a:cs typeface="Arial"/>
                <a:sym typeface="Arial"/>
              </a:rPr>
              <a:t>find</a:t>
            </a:r>
            <a:endParaRPr sz="1400" b="0" i="0" u="none" strike="noStrike" cap="none" dirty="0" err="1">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645AD"/>
              </a:solidFill>
              <a:latin typeface="Arial"/>
              <a:ea typeface="Arial"/>
              <a:cs typeface="Arial"/>
              <a:sym typeface="Arial"/>
            </a:endParaRPr>
          </a:p>
        </p:txBody>
      </p:sp>
      <p:sp>
        <p:nvSpPr>
          <p:cNvPr id="120" name="Google Shape;120;p8"/>
          <p:cNvSpPr txBox="1"/>
          <p:nvPr/>
        </p:nvSpPr>
        <p:spPr>
          <a:xfrm>
            <a:off x="3285813" y="1726531"/>
            <a:ext cx="2743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Esempio:</a:t>
            </a:r>
            <a:endParaRPr sz="1200" b="0" i="0" u="none" strike="noStrike" cap="none">
              <a:solidFill>
                <a:srgbClr val="000000"/>
              </a:solidFill>
              <a:latin typeface="Open Sans"/>
              <a:ea typeface="Open Sans"/>
              <a:cs typeface="Open Sans"/>
              <a:sym typeface="Open Sans"/>
            </a:endParaRPr>
          </a:p>
        </p:txBody>
      </p:sp>
      <p:sp>
        <p:nvSpPr>
          <p:cNvPr id="121" name="Google Shape;121;p8"/>
          <p:cNvSpPr txBox="1"/>
          <p:nvPr/>
        </p:nvSpPr>
        <p:spPr>
          <a:xfrm>
            <a:off x="3282976" y="2089892"/>
            <a:ext cx="2743200" cy="11387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FF0000"/>
                </a:solidFill>
                <a:latin typeface="Arial"/>
                <a:ea typeface="Arial"/>
                <a:cs typeface="Arial"/>
                <a:sym typeface="Arial"/>
              </a:rPr>
              <a:t>Template </a:t>
            </a:r>
            <a:r>
              <a:rPr lang="it-IT" sz="1200" b="0" i="0" u="none" strike="noStrike" cap="none" dirty="0" err="1">
                <a:solidFill>
                  <a:srgbClr val="FF0000"/>
                </a:solidFill>
                <a:latin typeface="Arial"/>
                <a:ea typeface="Arial"/>
                <a:cs typeface="Arial"/>
                <a:sym typeface="Arial"/>
              </a:rPr>
              <a:t>literal</a:t>
            </a:r>
            <a:endParaRPr sz="1200" b="0" i="0" u="none" strike="noStrike" cap="none" dirty="0" err="1">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100" b="0" i="0" u="none" strike="noStrike" cap="none" dirty="0" err="1">
                <a:solidFill>
                  <a:srgbClr val="000000"/>
                </a:solidFill>
                <a:latin typeface="Arial"/>
                <a:ea typeface="Arial"/>
                <a:cs typeface="Arial"/>
                <a:sym typeface="Arial"/>
              </a:rPr>
              <a:t>let</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nome:string</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fabio</a:t>
            </a:r>
            <a:r>
              <a:rPr lang="it-IT" sz="1100" b="0" i="0" u="none" strike="noStrike" cap="none" dirty="0">
                <a:solidFill>
                  <a:srgbClr val="000000"/>
                </a:solidFill>
                <a:latin typeface="Arial"/>
                <a:ea typeface="Arial"/>
                <a:cs typeface="Arial"/>
                <a:sym typeface="Arial"/>
              </a:rPr>
              <a:t>’</a:t>
            </a:r>
            <a:endParaRPr sz="11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200"/>
              <a:buFont typeface="Arial"/>
              <a:buNone/>
            </a:pPr>
            <a:r>
              <a:rPr lang="it-IT" sz="1100" b="0" i="0" u="none" strike="noStrike" cap="none" dirty="0" err="1">
                <a:solidFill>
                  <a:srgbClr val="000000"/>
                </a:solidFill>
                <a:latin typeface="Arial"/>
                <a:ea typeface="Arial"/>
                <a:cs typeface="Arial"/>
                <a:sym typeface="Arial"/>
              </a:rPr>
              <a:t>let</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cognome:string</a:t>
            </a:r>
            <a:r>
              <a:rPr lang="it-IT" sz="1100" b="0" i="0" u="none" strike="noStrike" cap="none" dirty="0">
                <a:solidFill>
                  <a:srgbClr val="000000"/>
                </a:solidFill>
                <a:latin typeface="Arial"/>
                <a:ea typeface="Arial"/>
                <a:cs typeface="Arial"/>
                <a:sym typeface="Arial"/>
              </a:rPr>
              <a:t> = ‘di gloria’</a:t>
            </a:r>
            <a:endParaRPr sz="1100" b="0" i="0" u="none" strike="noStrike" cap="none" dirty="0">
              <a:solidFill>
                <a:srgbClr val="000000"/>
              </a:solidFill>
              <a:latin typeface="Arial"/>
              <a:ea typeface="Arial"/>
              <a:cs typeface="Arial"/>
            </a:endParaRPr>
          </a:p>
          <a:p>
            <a:pPr>
              <a:buSzPts val="1200"/>
            </a:pPr>
            <a:endParaRPr lang="it-IT" sz="1100" dirty="0"/>
          </a:p>
          <a:p>
            <a:pPr marL="0" marR="0" lvl="0" indent="0" algn="l" rtl="0">
              <a:lnSpc>
                <a:spcPct val="100000"/>
              </a:lnSpc>
              <a:spcBef>
                <a:spcPts val="0"/>
              </a:spcBef>
              <a:spcAft>
                <a:spcPts val="0"/>
              </a:spcAft>
              <a:buClr>
                <a:srgbClr val="000000"/>
              </a:buClr>
              <a:buSzPts val="1200"/>
              <a:buFont typeface="Arial"/>
              <a:buNone/>
            </a:pPr>
            <a:r>
              <a:rPr lang="it-IT" sz="1100" b="0" i="0" u="none" strike="noStrike" cap="none" dirty="0">
                <a:solidFill>
                  <a:srgbClr val="000000"/>
                </a:solidFill>
                <a:latin typeface="Arial"/>
                <a:ea typeface="Arial"/>
                <a:cs typeface="Arial"/>
                <a:sym typeface="Arial"/>
              </a:rPr>
              <a:t>console.log(` ${nome}  ${cognome}`)</a:t>
            </a:r>
            <a:endParaRPr sz="1100" b="0" i="0" u="none" strike="noStrike" cap="none" dirty="0">
              <a:solidFill>
                <a:srgbClr val="000000"/>
              </a:solidFill>
              <a:latin typeface="Arial"/>
              <a:ea typeface="Arial"/>
              <a:cs typeface="Arial"/>
              <a:sym typeface="Arial"/>
            </a:endParaRPr>
          </a:p>
        </p:txBody>
      </p:sp>
      <p:sp>
        <p:nvSpPr>
          <p:cNvPr id="124" name="Google Shape;124;p8"/>
          <p:cNvSpPr txBox="1"/>
          <p:nvPr/>
        </p:nvSpPr>
        <p:spPr>
          <a:xfrm>
            <a:off x="3328237" y="3531268"/>
            <a:ext cx="2743200" cy="1615787"/>
          </a:xfrm>
          <a:prstGeom prst="rect">
            <a:avLst/>
          </a:prstGeom>
          <a:noFill/>
          <a:ln>
            <a:noFill/>
          </a:ln>
        </p:spPr>
        <p:txBody>
          <a:bodyPr spcFirstLastPara="1" wrap="square" lIns="91425" tIns="45700" rIns="91425" bIns="45700" anchor="t" anchorCtr="0">
            <a:spAutoFit/>
          </a:bodyPr>
          <a:lstStyle/>
          <a:p>
            <a:pPr>
              <a:buSzPts val="1100"/>
            </a:pPr>
            <a:r>
              <a:rPr lang="it-IT" sz="1100" b="0" i="0" u="none" strike="noStrike" cap="none" dirty="0">
                <a:solidFill>
                  <a:srgbClr val="000000"/>
                </a:solidFill>
                <a:latin typeface="Arial"/>
                <a:ea typeface="Arial"/>
                <a:cs typeface="Arial"/>
                <a:sym typeface="Arial"/>
              </a:rPr>
              <a:t>Nel seguente esempio avremo un </a:t>
            </a:r>
            <a:r>
              <a:rPr lang="it-IT" sz="1100" b="0" i="0" u="none" strike="noStrike" cap="none" dirty="0" err="1">
                <a:solidFill>
                  <a:srgbClr val="000000"/>
                </a:solidFill>
                <a:latin typeface="Arial"/>
                <a:ea typeface="Arial"/>
                <a:cs typeface="Arial"/>
                <a:sym typeface="Arial"/>
              </a:rPr>
              <a:t>arrow</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function</a:t>
            </a:r>
            <a:r>
              <a:rPr lang="it-IT" sz="1100" b="0" i="0" u="none" strike="noStrike" cap="none" dirty="0">
                <a:solidFill>
                  <a:srgbClr val="000000"/>
                </a:solidFill>
                <a:latin typeface="Arial"/>
                <a:ea typeface="Arial"/>
                <a:cs typeface="Arial"/>
                <a:sym typeface="Arial"/>
              </a:rPr>
              <a:t> che dividerà per due ogni elemento dell’array caratterizzato dal metodo </a:t>
            </a:r>
            <a:r>
              <a:rPr lang="it-IT" sz="1100" b="0" i="0" u="none" strike="noStrike" cap="none" dirty="0" err="1">
                <a:solidFill>
                  <a:srgbClr val="000000"/>
                </a:solidFill>
                <a:latin typeface="Arial"/>
                <a:ea typeface="Arial"/>
                <a:cs typeface="Arial"/>
                <a:sym typeface="Arial"/>
              </a:rPr>
              <a:t>map</a:t>
            </a:r>
            <a:r>
              <a:rPr lang="it-IT" sz="1100" b="0" i="0" u="none" strike="noStrike" cap="none" dirty="0">
                <a:solidFill>
                  <a:srgbClr val="000000"/>
                </a:solidFill>
                <a:latin typeface="Arial"/>
                <a:ea typeface="Arial"/>
                <a:cs typeface="Arial"/>
                <a:sym typeface="Arial"/>
              </a:rPr>
              <a:t>:</a:t>
            </a:r>
            <a:br>
              <a:rPr lang="it-IT" sz="1100" dirty="0"/>
            </a:b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dirty="0" err="1">
                <a:solidFill>
                  <a:srgbClr val="000000"/>
                </a:solidFill>
                <a:latin typeface="Arial"/>
                <a:ea typeface="Arial"/>
                <a:cs typeface="Arial"/>
                <a:sym typeface="Arial"/>
              </a:rPr>
              <a:t>let</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arr:number</a:t>
            </a:r>
            <a:r>
              <a:rPr lang="it-IT" sz="1100" b="0" i="0" u="none" strike="noStrike" cap="none" dirty="0">
                <a:solidFill>
                  <a:srgbClr val="000000"/>
                </a:solidFill>
                <a:latin typeface="Arial"/>
                <a:ea typeface="Arial"/>
                <a:cs typeface="Arial"/>
                <a:sym typeface="Arial"/>
              </a:rPr>
              <a:t>[] =[10,20,30];</a:t>
            </a:r>
            <a:endParaRPr sz="1400" b="0" i="0" u="none" strike="noStrike" cap="none" dirty="0">
              <a:solidFill>
                <a:srgbClr val="000000"/>
              </a:solidFill>
              <a:latin typeface="Arial"/>
              <a:ea typeface="Arial"/>
              <a:cs typeface="Arial"/>
              <a:sym typeface="Arial"/>
            </a:endParaRPr>
          </a:p>
          <a:p>
            <a:pPr>
              <a:buSzPts val="1100"/>
            </a:pPr>
            <a:r>
              <a:rPr lang="it-IT" sz="1100" b="0" i="0" u="none" strike="noStrike" cap="none" dirty="0" err="1">
                <a:solidFill>
                  <a:srgbClr val="000000"/>
                </a:solidFill>
                <a:latin typeface="Arial"/>
                <a:ea typeface="Arial"/>
                <a:cs typeface="Arial"/>
                <a:sym typeface="Arial"/>
              </a:rPr>
              <a:t>let</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map:number</a:t>
            </a:r>
            <a:r>
              <a:rPr lang="it-IT" sz="1100" b="0" i="0" u="none" strike="noStrike" cap="none" dirty="0">
                <a:solidFill>
                  <a:srgbClr val="000000"/>
                </a:solidFill>
                <a:latin typeface="Arial"/>
                <a:ea typeface="Arial"/>
                <a:cs typeface="Arial"/>
                <a:sym typeface="Arial"/>
              </a:rPr>
              <a:t>[] = </a:t>
            </a:r>
            <a:r>
              <a:rPr lang="it-IT" sz="1100" b="0" i="0" u="none" strike="noStrike" cap="none" dirty="0" err="1">
                <a:solidFill>
                  <a:srgbClr val="000000"/>
                </a:solidFill>
                <a:latin typeface="Arial"/>
                <a:ea typeface="Arial"/>
                <a:cs typeface="Arial"/>
                <a:sym typeface="Arial"/>
              </a:rPr>
              <a:t>arr.map</a:t>
            </a:r>
            <a:r>
              <a:rPr lang="it-IT" sz="1100" b="0" i="0" u="none" strike="noStrike" cap="none" dirty="0">
                <a:solidFill>
                  <a:srgbClr val="000000"/>
                </a:solidFill>
                <a:latin typeface="Arial"/>
                <a:ea typeface="Arial"/>
                <a:cs typeface="Arial"/>
                <a:sym typeface="Arial"/>
              </a:rPr>
              <a:t>(</a:t>
            </a:r>
            <a:r>
              <a:rPr lang="it-IT" sz="1100" b="0" i="0" u="none" strike="noStrike" cap="none" dirty="0" err="1">
                <a:solidFill>
                  <a:srgbClr val="000000"/>
                </a:solidFill>
                <a:latin typeface="Arial"/>
                <a:ea typeface="Arial"/>
                <a:cs typeface="Arial"/>
                <a:sym typeface="Arial"/>
              </a:rPr>
              <a:t>result</a:t>
            </a:r>
            <a:r>
              <a:rPr lang="it-IT" sz="1100" b="0" i="0" u="none" strike="noStrike" cap="none" dirty="0">
                <a:solidFill>
                  <a:srgbClr val="000000"/>
                </a:solidFill>
                <a:latin typeface="Arial"/>
                <a:ea typeface="Arial"/>
                <a:cs typeface="Arial"/>
                <a:sym typeface="Arial"/>
              </a:rPr>
              <a:t>=&gt;</a:t>
            </a:r>
            <a:r>
              <a:rPr lang="it-IT" sz="1100" b="0" i="0" u="none" strike="noStrike" cap="none" dirty="0" err="1">
                <a:solidFill>
                  <a:srgbClr val="000000"/>
                </a:solidFill>
                <a:latin typeface="Arial"/>
                <a:ea typeface="Arial"/>
                <a:cs typeface="Arial"/>
                <a:sym typeface="Arial"/>
              </a:rPr>
              <a:t>result</a:t>
            </a:r>
            <a:r>
              <a:rPr lang="it-IT" sz="1100" b="0" i="0" u="none" strike="noStrike" cap="none" dirty="0">
                <a:solidFill>
                  <a:srgbClr val="000000"/>
                </a:solidFill>
                <a:latin typeface="Arial"/>
                <a:ea typeface="Arial"/>
                <a:cs typeface="Arial"/>
                <a:sym typeface="Arial"/>
              </a:rPr>
              <a:t>/2);</a:t>
            </a:r>
            <a:br>
              <a:rPr lang="it-IT" sz="1100" dirty="0"/>
            </a:br>
            <a:r>
              <a:rPr lang="it-IT" sz="1100" b="0" i="0" u="none" strike="noStrike" cap="none" dirty="0">
                <a:solidFill>
                  <a:srgbClr val="000000"/>
                </a:solidFill>
                <a:latin typeface="Arial"/>
                <a:ea typeface="Arial"/>
                <a:cs typeface="Arial"/>
                <a:sym typeface="Arial"/>
              </a:rPr>
              <a:t>console.log(</a:t>
            </a:r>
            <a:r>
              <a:rPr lang="it-IT" sz="1100" b="0" i="0" u="none" strike="noStrike" cap="none" dirty="0" err="1">
                <a:solidFill>
                  <a:srgbClr val="000000"/>
                </a:solidFill>
                <a:latin typeface="Arial"/>
                <a:ea typeface="Arial"/>
                <a:cs typeface="Arial"/>
                <a:sym typeface="Arial"/>
              </a:rPr>
              <a:t>map</a:t>
            </a:r>
            <a:r>
              <a:rPr lang="it-IT" sz="11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endParaRPr>
          </a:p>
        </p:txBody>
      </p:sp>
      <p:sp>
        <p:nvSpPr>
          <p:cNvPr id="125" name="Google Shape;125;p8"/>
          <p:cNvSpPr txBox="1"/>
          <p:nvPr/>
        </p:nvSpPr>
        <p:spPr>
          <a:xfrm>
            <a:off x="3200401" y="3253038"/>
            <a:ext cx="2743199"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FF0000"/>
                </a:solidFill>
                <a:latin typeface="Arial"/>
                <a:ea typeface="Arial"/>
                <a:cs typeface="Arial"/>
                <a:sym typeface="Arial"/>
              </a:rPr>
              <a:t>   Array map</a:t>
            </a:r>
            <a:endParaRPr sz="1200" b="0" i="0" u="none" strike="noStrike" cap="none">
              <a:solidFill>
                <a:srgbClr val="FF0000"/>
              </a:solidFill>
              <a:latin typeface="Arial"/>
              <a:ea typeface="Arial"/>
              <a:cs typeface="Arial"/>
              <a:sym typeface="Arial"/>
            </a:endParaRPr>
          </a:p>
        </p:txBody>
      </p:sp>
    </p:spTree>
    <p:extLst>
      <p:ext uri="{BB962C8B-B14F-4D97-AF65-F5344CB8AC3E}">
        <p14:creationId xmlns:p14="http://schemas.microsoft.com/office/powerpoint/2010/main" val="1442267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6" name="Google Shape;116;p8"/>
          <p:cNvSpPr txBox="1"/>
          <p:nvPr/>
        </p:nvSpPr>
        <p:spPr>
          <a:xfrm>
            <a:off x="284802" y="638263"/>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117" name="Google Shape;117;p8"/>
          <p:cNvSpPr txBox="1"/>
          <p:nvPr/>
        </p:nvSpPr>
        <p:spPr>
          <a:xfrm>
            <a:off x="281538" y="1146177"/>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err="1">
                <a:solidFill>
                  <a:schemeClr val="dk1"/>
                </a:solidFill>
                <a:ea typeface="Consolas"/>
                <a:cs typeface="Consolas"/>
                <a:sym typeface="Consolas"/>
              </a:rPr>
              <a:t>Ecmascript</a:t>
            </a:r>
            <a:r>
              <a:rPr lang="it-IT" sz="1600" b="1" i="0" u="none" strike="noStrike" cap="none" dirty="0">
                <a:solidFill>
                  <a:schemeClr val="dk1"/>
                </a:solidFill>
                <a:ea typeface="Consolas"/>
                <a:cs typeface="Consolas"/>
                <a:sym typeface="Consolas"/>
              </a:rPr>
              <a:t> 6 parte 1</a:t>
            </a:r>
            <a:r>
              <a:rPr lang="it-IT" sz="1600" b="1" i="0" u="none" strike="noStrike" cap="none" dirty="0">
                <a:solidFill>
                  <a:schemeClr val="dk1"/>
                </a:solidFill>
                <a:latin typeface="Consolas"/>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18" name="Google Shape;11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10</a:t>
            </a:fld>
            <a:endParaRPr/>
          </a:p>
        </p:txBody>
      </p:sp>
      <p:sp>
        <p:nvSpPr>
          <p:cNvPr id="119" name="Google Shape;119;p8"/>
          <p:cNvSpPr txBox="1"/>
          <p:nvPr/>
        </p:nvSpPr>
        <p:spPr>
          <a:xfrm>
            <a:off x="203355" y="1456079"/>
            <a:ext cx="2589900" cy="18261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br>
              <a:rPr lang="it-IT" sz="1800" b="0" i="0" u="none" strike="noStrike" cap="none" baseline="30000" dirty="0">
                <a:latin typeface="Arial"/>
                <a:ea typeface="Arial"/>
                <a:cs typeface="Arial"/>
              </a:rPr>
            </a:br>
            <a:r>
              <a:rPr lang="it-IT" sz="1800" b="0" i="0" u="none" strike="noStrike" cap="none" baseline="30000">
                <a:solidFill>
                  <a:srgbClr val="FF0000"/>
                </a:solidFill>
                <a:latin typeface="Arial"/>
                <a:ea typeface="Arial"/>
                <a:cs typeface="Arial"/>
                <a:sym typeface="Arial"/>
              </a:rPr>
              <a:t>Altre funzionalità:</a:t>
            </a:r>
            <a:endParaRPr lang="it-IT" sz="1800" b="0" i="0" u="none" strike="noStrike" cap="none" baseline="30000" dirty="0">
              <a:latin typeface="Arial"/>
              <a:ea typeface="Arial"/>
              <a:cs typeface="Arial"/>
            </a:endParaRPr>
          </a:p>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dirty="0">
                <a:solidFill>
                  <a:schemeClr val="dk1"/>
                </a:solidFill>
                <a:latin typeface="Arial"/>
                <a:ea typeface="Arial"/>
                <a:cs typeface="Arial"/>
                <a:sym typeface="Arial"/>
              </a:rPr>
              <a:t>array filter-</a:t>
            </a:r>
            <a:r>
              <a:rPr lang="it-IT" sz="1800" b="0" i="0" u="none" strike="noStrike" cap="none" baseline="30000" dirty="0" err="1">
                <a:solidFill>
                  <a:schemeClr val="dk1"/>
                </a:solidFill>
                <a:latin typeface="Arial"/>
                <a:ea typeface="Arial"/>
                <a:cs typeface="Arial"/>
                <a:sym typeface="Arial"/>
              </a:rPr>
              <a:t>map</a:t>
            </a:r>
            <a:r>
              <a:rPr lang="it-IT" sz="1800" b="0" i="0" u="none" strike="noStrike" cap="none" baseline="30000" dirty="0">
                <a:solidFill>
                  <a:schemeClr val="dk1"/>
                </a:solidFill>
                <a:latin typeface="Arial"/>
                <a:ea typeface="Arial"/>
                <a:cs typeface="Arial"/>
                <a:sym typeface="Arial"/>
              </a:rPr>
              <a:t>-</a:t>
            </a:r>
            <a:r>
              <a:rPr lang="it-IT" sz="1800" b="0" i="0" u="none" strike="noStrike" cap="none" baseline="30000" dirty="0" err="1">
                <a:solidFill>
                  <a:schemeClr val="dk1"/>
                </a:solidFill>
                <a:latin typeface="Arial"/>
                <a:ea typeface="Arial"/>
                <a:cs typeface="Arial"/>
                <a:sym typeface="Arial"/>
              </a:rPr>
              <a:t>find</a:t>
            </a:r>
            <a:endParaRPr sz="1400" b="0" i="0" u="none" strike="noStrike" cap="none" dirty="0" err="1">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645AD"/>
              </a:solidFill>
              <a:latin typeface="Arial"/>
              <a:ea typeface="Arial"/>
              <a:cs typeface="Arial"/>
              <a:sym typeface="Arial"/>
            </a:endParaRPr>
          </a:p>
        </p:txBody>
      </p:sp>
      <p:sp>
        <p:nvSpPr>
          <p:cNvPr id="122" name="Google Shape;122;p8"/>
          <p:cNvSpPr txBox="1"/>
          <p:nvPr/>
        </p:nvSpPr>
        <p:spPr>
          <a:xfrm>
            <a:off x="2654156" y="1693046"/>
            <a:ext cx="274320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FF0000"/>
                </a:solidFill>
                <a:latin typeface="Arial"/>
                <a:ea typeface="Arial"/>
                <a:cs typeface="Arial"/>
                <a:sym typeface="Arial"/>
              </a:rPr>
              <a:t>Array filter</a:t>
            </a:r>
            <a:endParaRPr sz="1400" b="0" i="0" u="none" strike="noStrike" cap="none">
              <a:solidFill>
                <a:srgbClr val="000000"/>
              </a:solidFill>
              <a:latin typeface="Arial"/>
              <a:ea typeface="Arial"/>
              <a:cs typeface="Arial"/>
              <a:sym typeface="Arial"/>
            </a:endParaRPr>
          </a:p>
        </p:txBody>
      </p:sp>
      <p:sp>
        <p:nvSpPr>
          <p:cNvPr id="123" name="Google Shape;123;p8"/>
          <p:cNvSpPr txBox="1"/>
          <p:nvPr/>
        </p:nvSpPr>
        <p:spPr>
          <a:xfrm>
            <a:off x="2658979" y="2162677"/>
            <a:ext cx="2743200" cy="21236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100" b="0" i="0" u="none" strike="noStrike" cap="none" dirty="0">
                <a:solidFill>
                  <a:srgbClr val="000000"/>
                </a:solidFill>
                <a:latin typeface="Arial"/>
                <a:ea typeface="Arial"/>
                <a:cs typeface="Arial"/>
                <a:sym typeface="Arial"/>
              </a:rPr>
              <a:t>Nel seguente esempio avremo una </a:t>
            </a:r>
            <a:r>
              <a:rPr lang="it-IT" sz="1100" b="0" i="0" u="none" strike="noStrike" cap="none" err="1">
                <a:solidFill>
                  <a:srgbClr val="000000"/>
                </a:solidFill>
                <a:latin typeface="Arial"/>
                <a:ea typeface="Arial"/>
                <a:cs typeface="Arial"/>
                <a:sym typeface="Arial"/>
              </a:rPr>
              <a:t>function</a:t>
            </a:r>
            <a:r>
              <a:rPr lang="it-IT" sz="1100" b="0" i="0" u="none" strike="noStrike" cap="none" dirty="0">
                <a:solidFill>
                  <a:srgbClr val="000000"/>
                </a:solidFill>
                <a:latin typeface="Arial"/>
                <a:ea typeface="Arial"/>
                <a:cs typeface="Arial"/>
                <a:sym typeface="Arial"/>
              </a:rPr>
              <a:t> che restituirà tutti gli elementi dell’array maggiori di 6 utilizzando il metodo filter.</a:t>
            </a:r>
            <a:endParaRPr lang="it-IT" sz="11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dirty="0" err="1">
                <a:solidFill>
                  <a:srgbClr val="000000"/>
                </a:solidFill>
                <a:latin typeface="Arial"/>
                <a:ea typeface="Arial"/>
                <a:cs typeface="Arial"/>
                <a:sym typeface="Arial"/>
              </a:rPr>
              <a:t>let</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arr:number</a:t>
            </a:r>
            <a:r>
              <a:rPr lang="it-IT" sz="1100" b="0" i="0" u="none" strike="noStrike" cap="none" dirty="0">
                <a:solidFill>
                  <a:srgbClr val="000000"/>
                </a:solidFill>
                <a:latin typeface="Arial"/>
                <a:ea typeface="Arial"/>
                <a:cs typeface="Arial"/>
                <a:sym typeface="Arial"/>
              </a:rPr>
              <a:t> []</a:t>
            </a:r>
            <a:endParaRPr sz="11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err="1">
                <a:solidFill>
                  <a:srgbClr val="000000"/>
                </a:solidFill>
                <a:latin typeface="Arial"/>
                <a:ea typeface="Arial"/>
                <a:cs typeface="Arial"/>
                <a:sym typeface="Arial"/>
              </a:rPr>
              <a:t>arr</a:t>
            </a:r>
            <a:r>
              <a:rPr lang="it-IT" sz="1100" b="0" i="0" u="none" strike="noStrike" cap="none" dirty="0">
                <a:solidFill>
                  <a:srgbClr val="000000"/>
                </a:solidFill>
                <a:latin typeface="Arial"/>
                <a:ea typeface="Arial"/>
                <a:cs typeface="Arial"/>
                <a:sym typeface="Arial"/>
              </a:rPr>
              <a:t>= [6,8,11,15]</a:t>
            </a:r>
            <a:endParaRPr lang="it-IT" sz="1100" b="0" i="0" u="none" strike="noStrike" cap="none" dirty="0">
              <a:solidFill>
                <a:srgbClr val="000000"/>
              </a:solidFill>
              <a:latin typeface="Arial"/>
              <a:ea typeface="Arial"/>
              <a:cs typeface="Arial"/>
            </a:endParaRPr>
          </a:p>
          <a:p>
            <a:pPr>
              <a:buSzPts val="1100"/>
            </a:pPr>
            <a:endParaRPr lang="it-IT" sz="1100" dirty="0"/>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dirty="0" err="1">
                <a:solidFill>
                  <a:srgbClr val="000000"/>
                </a:solidFill>
                <a:latin typeface="Arial"/>
                <a:ea typeface="Arial"/>
                <a:cs typeface="Arial"/>
                <a:sym typeface="Arial"/>
              </a:rPr>
              <a:t>let</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filter:number</a:t>
            </a:r>
            <a:r>
              <a:rPr lang="it-IT" sz="1100" b="0" i="0" u="none" strike="noStrike" cap="none" dirty="0">
                <a:solidFill>
                  <a:srgbClr val="000000"/>
                </a:solidFill>
                <a:latin typeface="Arial"/>
                <a:ea typeface="Arial"/>
                <a:cs typeface="Arial"/>
                <a:sym typeface="Arial"/>
              </a:rPr>
              <a:t>[] = </a:t>
            </a:r>
            <a:r>
              <a:rPr lang="it-IT" sz="1100" b="0" i="0" u="none" strike="noStrike" cap="none" dirty="0" err="1">
                <a:solidFill>
                  <a:srgbClr val="000000"/>
                </a:solidFill>
                <a:latin typeface="Arial"/>
                <a:ea typeface="Arial"/>
                <a:cs typeface="Arial"/>
                <a:sym typeface="Arial"/>
              </a:rPr>
              <a:t>arr.filter</a:t>
            </a:r>
            <a:r>
              <a:rPr lang="it-IT" sz="1100" b="0" i="0" u="none" strike="noStrike" cap="none" dirty="0">
                <a:solidFill>
                  <a:srgbClr val="000000"/>
                </a:solidFill>
                <a:latin typeface="Arial"/>
                <a:ea typeface="Arial"/>
                <a:cs typeface="Arial"/>
                <a:sym typeface="Arial"/>
              </a:rPr>
              <a:t>(</a:t>
            </a:r>
            <a:r>
              <a:rPr lang="it-IT" sz="1100" b="0" i="0" u="none" strike="noStrike" cap="none" dirty="0" err="1">
                <a:solidFill>
                  <a:srgbClr val="000000"/>
                </a:solidFill>
                <a:latin typeface="Arial"/>
                <a:ea typeface="Arial"/>
                <a:cs typeface="Arial"/>
                <a:sym typeface="Arial"/>
              </a:rPr>
              <a:t>function</a:t>
            </a:r>
            <a:r>
              <a:rPr lang="it-IT" sz="1100" b="0" i="0" u="none" strike="noStrike" cap="none" dirty="0">
                <a:solidFill>
                  <a:srgbClr val="000000"/>
                </a:solidFill>
                <a:latin typeface="Arial"/>
                <a:ea typeface="Arial"/>
                <a:cs typeface="Arial"/>
                <a:sym typeface="Arial"/>
              </a:rPr>
              <a:t>(</a:t>
            </a:r>
            <a:r>
              <a:rPr lang="it-IT" sz="1100" b="0" i="0" u="none" strike="noStrike" cap="none" dirty="0" err="1">
                <a:solidFill>
                  <a:srgbClr val="000000"/>
                </a:solidFill>
                <a:latin typeface="Arial"/>
                <a:ea typeface="Arial"/>
                <a:cs typeface="Arial"/>
                <a:sym typeface="Arial"/>
              </a:rPr>
              <a:t>number</a:t>
            </a:r>
            <a:r>
              <a:rPr lang="it-IT" sz="1100" b="0" i="0" u="none" strike="noStrike" cap="none" dirty="0">
                <a:solidFill>
                  <a:srgbClr val="000000"/>
                </a:solidFill>
                <a:latin typeface="Arial"/>
                <a:ea typeface="Arial"/>
                <a:cs typeface="Arial"/>
                <a:sym typeface="Arial"/>
              </a:rPr>
              <a:t>) {</a:t>
            </a:r>
            <a:endParaRPr sz="11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dirty="0" err="1">
                <a:solidFill>
                  <a:srgbClr val="000000"/>
                </a:solidFill>
                <a:latin typeface="Arial"/>
                <a:ea typeface="Arial"/>
                <a:cs typeface="Arial"/>
                <a:sym typeface="Arial"/>
              </a:rPr>
              <a:t>return</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number</a:t>
            </a:r>
            <a:r>
              <a:rPr lang="it-IT" sz="1100" b="0" i="0" u="none" strike="noStrike" cap="none" dirty="0">
                <a:solidFill>
                  <a:srgbClr val="000000"/>
                </a:solidFill>
                <a:latin typeface="Arial"/>
                <a:ea typeface="Arial"/>
                <a:cs typeface="Arial"/>
                <a:sym typeface="Arial"/>
              </a:rPr>
              <a:t> &gt; 7;</a:t>
            </a:r>
            <a:endParaRPr sz="11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dirty="0">
                <a:solidFill>
                  <a:srgbClr val="000000"/>
                </a:solidFill>
                <a:latin typeface="Arial"/>
                <a:ea typeface="Arial"/>
                <a:cs typeface="Arial"/>
                <a:sym typeface="Arial"/>
              </a:rPr>
              <a:t>});</a:t>
            </a:r>
            <a:endParaRPr sz="1100" b="0" i="0" u="none" strike="noStrike" cap="none" dirty="0">
              <a:solidFill>
                <a:srgbClr val="000000"/>
              </a:solidFill>
              <a:latin typeface="Arial"/>
              <a:ea typeface="Arial"/>
              <a:cs typeface="Arial"/>
              <a:sym typeface="Arial"/>
            </a:endParaRPr>
          </a:p>
        </p:txBody>
      </p:sp>
      <p:sp>
        <p:nvSpPr>
          <p:cNvPr id="126" name="Google Shape;126;p8"/>
          <p:cNvSpPr txBox="1"/>
          <p:nvPr/>
        </p:nvSpPr>
        <p:spPr>
          <a:xfrm>
            <a:off x="6087979" y="1703971"/>
            <a:ext cx="2743199"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FF0000"/>
                </a:solidFill>
                <a:latin typeface="Arial"/>
                <a:ea typeface="Arial"/>
                <a:cs typeface="Arial"/>
                <a:sym typeface="Arial"/>
              </a:rPr>
              <a:t>Array find</a:t>
            </a:r>
            <a:endParaRPr sz="1200" b="0" i="0" u="none" strike="noStrike" cap="none">
              <a:solidFill>
                <a:srgbClr val="FF0000"/>
              </a:solidFill>
              <a:latin typeface="Arial"/>
              <a:ea typeface="Arial"/>
              <a:cs typeface="Arial"/>
              <a:sym typeface="Arial"/>
            </a:endParaRPr>
          </a:p>
        </p:txBody>
      </p:sp>
      <p:sp>
        <p:nvSpPr>
          <p:cNvPr id="127" name="Google Shape;127;p8"/>
          <p:cNvSpPr txBox="1"/>
          <p:nvPr/>
        </p:nvSpPr>
        <p:spPr>
          <a:xfrm>
            <a:off x="6087979" y="2132598"/>
            <a:ext cx="2743199" cy="21236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it-IT" sz="1100" b="0" i="0" u="none" strike="noStrike" cap="none" dirty="0">
                <a:solidFill>
                  <a:srgbClr val="000000"/>
                </a:solidFill>
                <a:latin typeface="Arial"/>
                <a:ea typeface="Arial"/>
                <a:cs typeface="Arial"/>
                <a:sym typeface="Arial"/>
              </a:rPr>
              <a:t>Nel seguente esempio avremo una </a:t>
            </a:r>
            <a:r>
              <a:rPr lang="it-IT" sz="1100" b="0" i="0" u="none" strike="noStrike" cap="none" err="1">
                <a:solidFill>
                  <a:srgbClr val="000000"/>
                </a:solidFill>
                <a:latin typeface="Arial"/>
                <a:ea typeface="Arial"/>
                <a:cs typeface="Arial"/>
                <a:sym typeface="Arial"/>
              </a:rPr>
              <a:t>function</a:t>
            </a:r>
            <a:r>
              <a:rPr lang="it-IT" sz="1100" b="0" i="0" u="none" strike="noStrike" cap="none" dirty="0">
                <a:solidFill>
                  <a:srgbClr val="000000"/>
                </a:solidFill>
                <a:latin typeface="Arial"/>
                <a:ea typeface="Arial"/>
                <a:cs typeface="Arial"/>
                <a:sym typeface="Arial"/>
              </a:rPr>
              <a:t> che restituirà il primo elemento dell’array maggiore di 215 utilizzando il metodo </a:t>
            </a:r>
            <a:r>
              <a:rPr lang="it-IT" sz="1100" b="0" i="0" u="none" strike="noStrike" cap="none" err="1">
                <a:solidFill>
                  <a:srgbClr val="000000"/>
                </a:solidFill>
                <a:latin typeface="Arial"/>
                <a:ea typeface="Arial"/>
                <a:cs typeface="Arial"/>
                <a:sym typeface="Arial"/>
              </a:rPr>
              <a:t>find</a:t>
            </a:r>
            <a:r>
              <a:rPr lang="it-IT" sz="1100" b="0" i="0" u="none" strike="noStrike" cap="none" dirty="0">
                <a:solidFill>
                  <a:srgbClr val="000000"/>
                </a:solidFill>
                <a:latin typeface="Arial"/>
                <a:ea typeface="Arial"/>
                <a:cs typeface="Arial"/>
                <a:sym typeface="Arial"/>
              </a:rPr>
              <a:t>.</a:t>
            </a:r>
            <a:endParaRPr lang="it-IT" sz="1100" b="0" i="0" u="none" strike="noStrike" cap="none" dirty="0">
              <a:solidFill>
                <a:srgbClr val="000000"/>
              </a:solidFill>
              <a:latin typeface="Arial"/>
              <a:ea typeface="Arial"/>
              <a:cs typeface="Arial"/>
            </a:endParaRPr>
          </a:p>
          <a:p>
            <a:pPr>
              <a:buSzPts val="1000"/>
            </a:pPr>
            <a:endParaRPr lang="it-IT" sz="1100" dirty="0"/>
          </a:p>
          <a:p>
            <a:pPr marL="0" marR="0" lvl="0" indent="0" algn="l" rtl="0">
              <a:lnSpc>
                <a:spcPct val="100000"/>
              </a:lnSpc>
              <a:spcBef>
                <a:spcPts val="0"/>
              </a:spcBef>
              <a:spcAft>
                <a:spcPts val="0"/>
              </a:spcAft>
              <a:buClr>
                <a:srgbClr val="000000"/>
              </a:buClr>
              <a:buSzPts val="1000"/>
              <a:buFont typeface="Arial"/>
              <a:buNone/>
            </a:pPr>
            <a:r>
              <a:rPr lang="it-IT" sz="1100" b="0" i="0" u="none" strike="noStrike" cap="none" dirty="0" err="1">
                <a:solidFill>
                  <a:srgbClr val="000000"/>
                </a:solidFill>
                <a:latin typeface="Arial"/>
                <a:ea typeface="Arial"/>
                <a:cs typeface="Arial"/>
                <a:sym typeface="Arial"/>
              </a:rPr>
              <a:t>function</a:t>
            </a:r>
            <a:r>
              <a:rPr lang="it-IT" sz="1100" b="0" i="0" u="none" strike="noStrike" cap="none" dirty="0">
                <a:solidFill>
                  <a:srgbClr val="000000"/>
                </a:solidFill>
                <a:latin typeface="Arial"/>
                <a:ea typeface="Arial"/>
                <a:cs typeface="Arial"/>
                <a:sym typeface="Arial"/>
              </a:rPr>
              <a:t> finder(</a:t>
            </a:r>
            <a:r>
              <a:rPr lang="it-IT" sz="1100" b="0" i="0" u="none" strike="noStrike" cap="none" dirty="0" err="1">
                <a:solidFill>
                  <a:srgbClr val="000000"/>
                </a:solidFill>
                <a:latin typeface="Arial"/>
                <a:ea typeface="Arial"/>
                <a:cs typeface="Arial"/>
                <a:sym typeface="Arial"/>
              </a:rPr>
              <a:t>element</a:t>
            </a:r>
            <a:r>
              <a:rPr lang="it-IT" sz="1100" b="0" i="0" u="none" strike="noStrike" cap="none" dirty="0">
                <a:solidFill>
                  <a:srgbClr val="000000"/>
                </a:solidFill>
                <a:latin typeface="Arial"/>
                <a:ea typeface="Arial"/>
                <a:cs typeface="Arial"/>
                <a:sym typeface="Arial"/>
              </a:rPr>
              <a:t>) {</a:t>
            </a:r>
            <a:endParaRPr sz="1100" b="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000"/>
              <a:buFont typeface="Arial"/>
              <a:buNone/>
            </a:pPr>
            <a:r>
              <a:rPr lang="it-IT" sz="1100" b="0" i="0" u="none" strike="noStrike" cap="none" dirty="0" err="1">
                <a:solidFill>
                  <a:srgbClr val="000000"/>
                </a:solidFill>
                <a:latin typeface="Arial"/>
                <a:ea typeface="Arial"/>
                <a:cs typeface="Arial"/>
                <a:sym typeface="Arial"/>
              </a:rPr>
              <a:t>return</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element</a:t>
            </a:r>
            <a:r>
              <a:rPr lang="it-IT" sz="1100" b="0" i="0" u="none" strike="noStrike" cap="none" dirty="0">
                <a:solidFill>
                  <a:srgbClr val="000000"/>
                </a:solidFill>
                <a:latin typeface="Arial"/>
                <a:ea typeface="Arial"/>
                <a:cs typeface="Arial"/>
                <a:sym typeface="Arial"/>
              </a:rPr>
              <a:t> &gt; 215;</a:t>
            </a:r>
            <a:endParaRPr sz="1100" b="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000"/>
              <a:buFont typeface="Arial"/>
              <a:buNone/>
            </a:pPr>
            <a:r>
              <a:rPr lang="it-IT" sz="1100" b="0" i="0" u="none" strike="noStrike" cap="none" dirty="0">
                <a:solidFill>
                  <a:srgbClr val="000000"/>
                </a:solidFill>
                <a:latin typeface="Arial"/>
                <a:ea typeface="Arial"/>
                <a:cs typeface="Arial"/>
                <a:sym typeface="Arial"/>
              </a:rPr>
              <a:t>}</a:t>
            </a:r>
            <a:endParaRPr lang="it-IT" sz="1100" b="0" i="0" u="none" strike="noStrike" cap="none" dirty="0">
              <a:solidFill>
                <a:srgbClr val="000000"/>
              </a:solidFill>
              <a:latin typeface="Arial"/>
              <a:ea typeface="Arial"/>
              <a:cs typeface="Arial"/>
            </a:endParaRPr>
          </a:p>
          <a:p>
            <a:pPr>
              <a:buSzPts val="1000"/>
            </a:pPr>
            <a:endParaRPr lang="it-IT" sz="1100" dirty="0"/>
          </a:p>
          <a:p>
            <a:pPr marL="0" marR="0" lvl="0" indent="0" algn="l" rtl="0">
              <a:lnSpc>
                <a:spcPct val="100000"/>
              </a:lnSpc>
              <a:spcBef>
                <a:spcPts val="0"/>
              </a:spcBef>
              <a:spcAft>
                <a:spcPts val="0"/>
              </a:spcAft>
              <a:buClr>
                <a:srgbClr val="000000"/>
              </a:buClr>
              <a:buSzPts val="1000"/>
              <a:buFont typeface="Arial"/>
              <a:buNone/>
            </a:pPr>
            <a:r>
              <a:rPr lang="it-IT" sz="1100" b="0" i="0" u="none" strike="noStrike" cap="none" dirty="0" err="1">
                <a:solidFill>
                  <a:srgbClr val="000000"/>
                </a:solidFill>
                <a:latin typeface="Arial"/>
                <a:ea typeface="Arial"/>
                <a:cs typeface="Arial"/>
                <a:sym typeface="Arial"/>
              </a:rPr>
              <a:t>let</a:t>
            </a:r>
            <a:r>
              <a:rPr lang="it-IT" sz="1100" b="0" i="0" u="none" strike="noStrike" cap="none" dirty="0">
                <a:solidFill>
                  <a:srgbClr val="000000"/>
                </a:solidFill>
                <a:latin typeface="Arial"/>
                <a:ea typeface="Arial"/>
                <a:cs typeface="Arial"/>
                <a:sym typeface="Arial"/>
              </a:rPr>
              <a:t> </a:t>
            </a:r>
            <a:r>
              <a:rPr lang="it-IT" sz="1100" b="0" i="0" u="none" strike="noStrike" cap="none" dirty="0" err="1">
                <a:solidFill>
                  <a:srgbClr val="000000"/>
                </a:solidFill>
                <a:latin typeface="Arial"/>
                <a:ea typeface="Arial"/>
                <a:cs typeface="Arial"/>
                <a:sym typeface="Arial"/>
              </a:rPr>
              <a:t>finds</a:t>
            </a:r>
            <a:r>
              <a:rPr lang="it-IT" sz="1100" b="0" i="0" u="none" strike="noStrike" cap="none" dirty="0">
                <a:solidFill>
                  <a:srgbClr val="000000"/>
                </a:solidFill>
                <a:latin typeface="Arial"/>
                <a:ea typeface="Arial"/>
                <a:cs typeface="Arial"/>
                <a:sym typeface="Arial"/>
              </a:rPr>
              <a:t>= [120, 500, 800, 130, 440].</a:t>
            </a:r>
            <a:r>
              <a:rPr lang="it-IT" sz="1100" b="0" i="0" u="none" strike="noStrike" cap="none" dirty="0" err="1">
                <a:solidFill>
                  <a:srgbClr val="000000"/>
                </a:solidFill>
                <a:latin typeface="Arial"/>
                <a:ea typeface="Arial"/>
                <a:cs typeface="Arial"/>
                <a:sym typeface="Arial"/>
              </a:rPr>
              <a:t>find</a:t>
            </a:r>
            <a:r>
              <a:rPr lang="it-IT" sz="1100" b="0" i="0" u="none" strike="noStrike" cap="none" dirty="0">
                <a:solidFill>
                  <a:srgbClr val="000000"/>
                </a:solidFill>
                <a:latin typeface="Arial"/>
                <a:ea typeface="Arial"/>
                <a:cs typeface="Arial"/>
                <a:sym typeface="Arial"/>
              </a:rPr>
              <a:t>(finder);</a:t>
            </a:r>
            <a:endParaRPr sz="1100" b="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1000"/>
              <a:buFont typeface="Arial"/>
              <a:buNone/>
            </a:pPr>
            <a:r>
              <a:rPr lang="it-IT" sz="1100" b="0" i="0" u="none" strike="noStrike" cap="none" dirty="0">
                <a:solidFill>
                  <a:srgbClr val="000000"/>
                </a:solidFill>
                <a:latin typeface="Arial"/>
                <a:ea typeface="Arial"/>
                <a:cs typeface="Arial"/>
                <a:sym typeface="Arial"/>
              </a:rPr>
              <a:t>console.log(</a:t>
            </a:r>
            <a:r>
              <a:rPr lang="it-IT" sz="1100" b="0" i="0" u="none" strike="noStrike" cap="none" err="1">
                <a:solidFill>
                  <a:srgbClr val="000000"/>
                </a:solidFill>
                <a:latin typeface="Arial"/>
                <a:ea typeface="Arial"/>
                <a:cs typeface="Arial"/>
                <a:sym typeface="Arial"/>
              </a:rPr>
              <a:t>finds</a:t>
            </a:r>
            <a:r>
              <a:rPr lang="it-IT" sz="1100" b="0" i="0" u="none" strike="noStrike" cap="none" dirty="0">
                <a:solidFill>
                  <a:srgbClr val="000000"/>
                </a:solidFill>
                <a:latin typeface="Arial"/>
                <a:ea typeface="Arial"/>
                <a:cs typeface="Arial"/>
                <a:sym typeface="Arial"/>
              </a:rPr>
              <a:t>)</a:t>
            </a:r>
            <a:endParaRPr sz="11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11</a:t>
            </a:fld>
            <a:endParaRPr/>
          </a:p>
        </p:txBody>
      </p:sp>
      <p:sp>
        <p:nvSpPr>
          <p:cNvPr id="3" name="CasellaDiTesto 2">
            <a:extLst>
              <a:ext uri="{FF2B5EF4-FFF2-40B4-BE49-F238E27FC236}">
                <a16:creationId xmlns:a16="http://schemas.microsoft.com/office/drawing/2014/main" id="{1521A94C-1D3B-470D-8EC9-A39304C0A4FF}"/>
              </a:ext>
            </a:extLst>
          </p:cNvPr>
          <p:cNvSpPr txBox="1"/>
          <p:nvPr/>
        </p:nvSpPr>
        <p:spPr>
          <a:xfrm>
            <a:off x="262407" y="644749"/>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800" b="1"/>
              <a:t>Typescript</a:t>
            </a:r>
            <a:endParaRPr lang="it-IT" sz="1800" b="1" dirty="0"/>
          </a:p>
          <a:p>
            <a:endParaRPr lang="it-IT" dirty="0"/>
          </a:p>
        </p:txBody>
      </p:sp>
      <p:sp>
        <p:nvSpPr>
          <p:cNvPr id="5" name="CasellaDiTesto 4">
            <a:extLst>
              <a:ext uri="{FF2B5EF4-FFF2-40B4-BE49-F238E27FC236}">
                <a16:creationId xmlns:a16="http://schemas.microsoft.com/office/drawing/2014/main" id="{0BD843A5-F1E9-467C-B2F4-D5EF6F9E3B04}"/>
              </a:ext>
            </a:extLst>
          </p:cNvPr>
          <p:cNvSpPr txBox="1"/>
          <p:nvPr/>
        </p:nvSpPr>
        <p:spPr>
          <a:xfrm>
            <a:off x="290580" y="1043189"/>
            <a:ext cx="26707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600" b="1"/>
              <a:t>Ecmascript</a:t>
            </a:r>
            <a:endParaRPr lang="it-IT" sz="1600" b="1" dirty="0"/>
          </a:p>
        </p:txBody>
      </p:sp>
      <p:pic>
        <p:nvPicPr>
          <p:cNvPr id="6" name="Immagine 6" descr="Immagine che contiene testo&#10;&#10;Descrizione generata automaticamente">
            <a:extLst>
              <a:ext uri="{FF2B5EF4-FFF2-40B4-BE49-F238E27FC236}">
                <a16:creationId xmlns:a16="http://schemas.microsoft.com/office/drawing/2014/main" id="{61357607-336C-43AD-81B5-AA02D9971323}"/>
              </a:ext>
            </a:extLst>
          </p:cNvPr>
          <p:cNvPicPr>
            <a:picLocks noChangeAspect="1"/>
          </p:cNvPicPr>
          <p:nvPr/>
        </p:nvPicPr>
        <p:blipFill>
          <a:blip r:embed="rId3"/>
          <a:stretch>
            <a:fillRect/>
          </a:stretch>
        </p:blipFill>
        <p:spPr>
          <a:xfrm>
            <a:off x="391196" y="1381711"/>
            <a:ext cx="5887043" cy="3313442"/>
          </a:xfrm>
          <a:prstGeom prst="rect">
            <a:avLst/>
          </a:prstGeom>
        </p:spPr>
      </p:pic>
    </p:spTree>
    <p:extLst>
      <p:ext uri="{BB962C8B-B14F-4D97-AF65-F5344CB8AC3E}">
        <p14:creationId xmlns:p14="http://schemas.microsoft.com/office/powerpoint/2010/main" val="3093696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12</a:t>
            </a:fld>
            <a:endParaRPr/>
          </a:p>
        </p:txBody>
      </p:sp>
      <p:sp>
        <p:nvSpPr>
          <p:cNvPr id="3" name="CasellaDiTesto 2">
            <a:extLst>
              <a:ext uri="{FF2B5EF4-FFF2-40B4-BE49-F238E27FC236}">
                <a16:creationId xmlns:a16="http://schemas.microsoft.com/office/drawing/2014/main" id="{1521A94C-1D3B-470D-8EC9-A39304C0A4FF}"/>
              </a:ext>
            </a:extLst>
          </p:cNvPr>
          <p:cNvSpPr txBox="1"/>
          <p:nvPr/>
        </p:nvSpPr>
        <p:spPr>
          <a:xfrm>
            <a:off x="262407" y="644749"/>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800" b="1"/>
              <a:t>Typescript</a:t>
            </a:r>
            <a:endParaRPr lang="it-IT" sz="1800" b="1" dirty="0"/>
          </a:p>
          <a:p>
            <a:endParaRPr lang="it-IT" dirty="0"/>
          </a:p>
        </p:txBody>
      </p:sp>
      <p:sp>
        <p:nvSpPr>
          <p:cNvPr id="5" name="CasellaDiTesto 4">
            <a:extLst>
              <a:ext uri="{FF2B5EF4-FFF2-40B4-BE49-F238E27FC236}">
                <a16:creationId xmlns:a16="http://schemas.microsoft.com/office/drawing/2014/main" id="{0BD843A5-F1E9-467C-B2F4-D5EF6F9E3B04}"/>
              </a:ext>
            </a:extLst>
          </p:cNvPr>
          <p:cNvSpPr txBox="1"/>
          <p:nvPr/>
        </p:nvSpPr>
        <p:spPr>
          <a:xfrm>
            <a:off x="258383" y="1002942"/>
            <a:ext cx="26707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600" b="1"/>
              <a:t>Ecmascript</a:t>
            </a:r>
            <a:endParaRPr lang="it-IT" sz="1600" b="1" dirty="0"/>
          </a:p>
        </p:txBody>
      </p:sp>
      <p:pic>
        <p:nvPicPr>
          <p:cNvPr id="2" name="Immagine 3" descr="Immagine che contiene testo&#10;&#10;Descrizione generata automaticamente">
            <a:extLst>
              <a:ext uri="{FF2B5EF4-FFF2-40B4-BE49-F238E27FC236}">
                <a16:creationId xmlns:a16="http://schemas.microsoft.com/office/drawing/2014/main" id="{CCA71B66-B0FC-4F9B-8F80-CE0A0C6C7B6B}"/>
              </a:ext>
            </a:extLst>
          </p:cNvPr>
          <p:cNvPicPr>
            <a:picLocks noChangeAspect="1"/>
          </p:cNvPicPr>
          <p:nvPr/>
        </p:nvPicPr>
        <p:blipFill>
          <a:blip r:embed="rId3"/>
          <a:stretch>
            <a:fillRect/>
          </a:stretch>
        </p:blipFill>
        <p:spPr>
          <a:xfrm>
            <a:off x="358999" y="1349257"/>
            <a:ext cx="5986474" cy="3346507"/>
          </a:xfrm>
          <a:prstGeom prst="rect">
            <a:avLst/>
          </a:prstGeom>
        </p:spPr>
      </p:pic>
    </p:spTree>
    <p:extLst>
      <p:ext uri="{BB962C8B-B14F-4D97-AF65-F5344CB8AC3E}">
        <p14:creationId xmlns:p14="http://schemas.microsoft.com/office/powerpoint/2010/main" val="4269654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13</a:t>
            </a:fld>
            <a:endParaRPr/>
          </a:p>
        </p:txBody>
      </p:sp>
      <p:sp>
        <p:nvSpPr>
          <p:cNvPr id="3" name="CasellaDiTesto 2">
            <a:extLst>
              <a:ext uri="{FF2B5EF4-FFF2-40B4-BE49-F238E27FC236}">
                <a16:creationId xmlns:a16="http://schemas.microsoft.com/office/drawing/2014/main" id="{1521A94C-1D3B-470D-8EC9-A39304C0A4FF}"/>
              </a:ext>
            </a:extLst>
          </p:cNvPr>
          <p:cNvSpPr txBox="1"/>
          <p:nvPr/>
        </p:nvSpPr>
        <p:spPr>
          <a:xfrm>
            <a:off x="262407" y="644749"/>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800" b="1"/>
              <a:t>Typescript</a:t>
            </a:r>
            <a:endParaRPr lang="it-IT" sz="1800" b="1" dirty="0"/>
          </a:p>
          <a:p>
            <a:endParaRPr lang="it-IT" dirty="0"/>
          </a:p>
        </p:txBody>
      </p:sp>
      <p:sp>
        <p:nvSpPr>
          <p:cNvPr id="5" name="CasellaDiTesto 4">
            <a:extLst>
              <a:ext uri="{FF2B5EF4-FFF2-40B4-BE49-F238E27FC236}">
                <a16:creationId xmlns:a16="http://schemas.microsoft.com/office/drawing/2014/main" id="{0BD843A5-F1E9-467C-B2F4-D5EF6F9E3B04}"/>
              </a:ext>
            </a:extLst>
          </p:cNvPr>
          <p:cNvSpPr txBox="1"/>
          <p:nvPr/>
        </p:nvSpPr>
        <p:spPr>
          <a:xfrm>
            <a:off x="258383" y="1010992"/>
            <a:ext cx="26707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600" b="1"/>
              <a:t>Ecmascript</a:t>
            </a:r>
            <a:endParaRPr lang="it-IT" sz="1600" b="1" dirty="0"/>
          </a:p>
        </p:txBody>
      </p:sp>
      <p:pic>
        <p:nvPicPr>
          <p:cNvPr id="4" name="Immagine 5" descr="Immagine che contiene testo&#10;&#10;Descrizione generata automaticamente">
            <a:extLst>
              <a:ext uri="{FF2B5EF4-FFF2-40B4-BE49-F238E27FC236}">
                <a16:creationId xmlns:a16="http://schemas.microsoft.com/office/drawing/2014/main" id="{9683B757-D894-4B61-B1CF-B6B608BDA15A}"/>
              </a:ext>
            </a:extLst>
          </p:cNvPr>
          <p:cNvPicPr>
            <a:picLocks noChangeAspect="1"/>
          </p:cNvPicPr>
          <p:nvPr/>
        </p:nvPicPr>
        <p:blipFill>
          <a:blip r:embed="rId3"/>
          <a:stretch>
            <a:fillRect/>
          </a:stretch>
        </p:blipFill>
        <p:spPr>
          <a:xfrm>
            <a:off x="358999" y="1413717"/>
            <a:ext cx="6020092" cy="3281624"/>
          </a:xfrm>
          <a:prstGeom prst="rect">
            <a:avLst/>
          </a:prstGeom>
        </p:spPr>
      </p:pic>
    </p:spTree>
    <p:extLst>
      <p:ext uri="{BB962C8B-B14F-4D97-AF65-F5344CB8AC3E}">
        <p14:creationId xmlns:p14="http://schemas.microsoft.com/office/powerpoint/2010/main" val="1111790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4" name="Google Shape;134;p9"/>
          <p:cNvSpPr txBox="1"/>
          <p:nvPr/>
        </p:nvSpPr>
        <p:spPr>
          <a:xfrm>
            <a:off x="164486" y="645783"/>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135" name="Google Shape;135;p9"/>
          <p:cNvSpPr txBox="1"/>
          <p:nvPr/>
        </p:nvSpPr>
        <p:spPr>
          <a:xfrm>
            <a:off x="153702" y="1289052"/>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a:solidFill>
                  <a:schemeClr val="dk1"/>
                </a:solidFill>
                <a:latin typeface="Consolas"/>
                <a:ea typeface="Consolas"/>
                <a:cs typeface="Consolas"/>
                <a:sym typeface="Consolas"/>
              </a:rPr>
              <a:t>Ecmascript 6 parte 2</a:t>
            </a:r>
            <a:r>
              <a:rPr lang="it-IT" sz="1600" b="1" i="0" u="none" strike="noStrike" cap="none">
                <a:solidFill>
                  <a:srgbClr val="FF0000"/>
                </a:solidFill>
                <a:latin typeface="Consolas"/>
                <a:ea typeface="Consolas"/>
                <a:cs typeface="Consolas"/>
                <a:sym typeface="Consolas"/>
              </a:rPr>
              <a:t> </a:t>
            </a:r>
            <a:r>
              <a:rPr lang="it-IT" sz="1600" b="0" i="0" u="none" strike="noStrike" cap="none">
                <a:solidFill>
                  <a:srgbClr val="FF0000"/>
                </a:solidFill>
                <a:latin typeface="Consolas"/>
                <a:ea typeface="Consolas"/>
                <a:cs typeface="Consolas"/>
                <a:sym typeface="Consolas"/>
              </a:rPr>
              <a:t>    </a:t>
            </a:r>
            <a:r>
              <a:rPr lang="it-IT" sz="1400" b="0" i="0" u="none" strike="noStrike" cap="none">
                <a:solidFill>
                  <a:srgbClr val="FF0000"/>
                </a:solidFill>
                <a:latin typeface="Open Sans"/>
                <a:ea typeface="Open Sans"/>
                <a:cs typeface="Open Sans"/>
                <a:sym typeface="Open Sans"/>
              </a:rPr>
              <a:t>                             </a:t>
            </a:r>
            <a:endParaRPr sz="1400" b="0" i="0" u="none" strike="noStrike" cap="none">
              <a:solidFill>
                <a:srgbClr val="FF0000"/>
              </a:solidFill>
              <a:latin typeface="Open Sans"/>
              <a:ea typeface="Open Sans"/>
              <a:cs typeface="Open Sans"/>
              <a:sym typeface="Open Sans"/>
            </a:endParaRPr>
          </a:p>
        </p:txBody>
      </p:sp>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14</a:t>
            </a:fld>
            <a:endParaRPr/>
          </a:p>
        </p:txBody>
      </p:sp>
      <p:sp>
        <p:nvSpPr>
          <p:cNvPr id="137" name="Google Shape;137;p9"/>
          <p:cNvSpPr txBox="1"/>
          <p:nvPr/>
        </p:nvSpPr>
        <p:spPr>
          <a:xfrm>
            <a:off x="102335" y="1894352"/>
            <a:ext cx="2589967" cy="21852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a:solidFill>
                  <a:srgbClr val="00B0F0"/>
                </a:solidFill>
                <a:latin typeface="Arial"/>
                <a:ea typeface="Arial"/>
                <a:cs typeface="Arial"/>
                <a:sym typeface="Arial"/>
              </a:rPr>
              <a:t>.</a:t>
            </a:r>
            <a:br>
              <a:rPr lang="it-IT" sz="1800" b="0" i="0" u="none" strike="noStrike" cap="none" baseline="30000">
                <a:solidFill>
                  <a:srgbClr val="000000"/>
                </a:solidFill>
                <a:latin typeface="Arial"/>
                <a:ea typeface="Arial"/>
                <a:cs typeface="Arial"/>
                <a:sym typeface="Arial"/>
              </a:rPr>
            </a:br>
            <a:r>
              <a:rPr lang="it-IT" sz="2000" b="0" i="0" u="none" strike="noStrike" cap="none" baseline="30000">
                <a:solidFill>
                  <a:srgbClr val="FF0000"/>
                </a:solidFill>
                <a:latin typeface="Arial"/>
                <a:ea typeface="Arial"/>
                <a:cs typeface="Arial"/>
                <a:sym typeface="Arial"/>
              </a:rPr>
              <a:t>Altre funzionalità:</a:t>
            </a:r>
            <a:br>
              <a:rPr lang="it-IT" sz="2000" b="0" i="0" u="none" strike="noStrike" cap="none" baseline="30000">
                <a:solidFill>
                  <a:srgbClr val="000000"/>
                </a:solidFill>
                <a:latin typeface="Arial"/>
                <a:ea typeface="Arial"/>
                <a:cs typeface="Arial"/>
                <a:sym typeface="Arial"/>
              </a:rPr>
            </a:br>
            <a:r>
              <a:rPr lang="it-IT" sz="2000" b="0" i="0" u="none" strike="noStrike" cap="none" baseline="30000">
                <a:solidFill>
                  <a:schemeClr val="dk1"/>
                </a:solidFill>
                <a:latin typeface="Arial"/>
                <a:ea typeface="Arial"/>
                <a:cs typeface="Arial"/>
                <a:sym typeface="Arial"/>
              </a:rPr>
              <a:t>array destructuring</a:t>
            </a:r>
            <a:endParaRPr sz="2000" b="0" i="0" u="none" strike="noStrike" cap="none" baseline="300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it-IT" sz="2000" b="0" i="0" u="none" strike="noStrike" cap="none" baseline="30000">
                <a:solidFill>
                  <a:schemeClr val="dk1"/>
                </a:solidFill>
                <a:latin typeface="Arial"/>
                <a:ea typeface="Arial"/>
                <a:cs typeface="Arial"/>
                <a:sym typeface="Arial"/>
              </a:rPr>
              <a:t>object destructuring</a:t>
            </a:r>
            <a:endParaRPr sz="2000" b="0" i="0" u="none" strike="noStrike" cap="none" baseline="300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645AD"/>
              </a:solidFill>
              <a:latin typeface="Arial"/>
              <a:ea typeface="Arial"/>
              <a:cs typeface="Arial"/>
              <a:sym typeface="Arial"/>
            </a:endParaRPr>
          </a:p>
        </p:txBody>
      </p:sp>
      <p:sp>
        <p:nvSpPr>
          <p:cNvPr id="138" name="Google Shape;138;p9"/>
          <p:cNvSpPr txBox="1"/>
          <p:nvPr/>
        </p:nvSpPr>
        <p:spPr>
          <a:xfrm>
            <a:off x="3200389" y="2148677"/>
            <a:ext cx="2743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Esempio:</a:t>
            </a:r>
            <a:endParaRPr sz="1200" b="0" i="0" u="none" strike="noStrike" cap="none">
              <a:solidFill>
                <a:srgbClr val="000000"/>
              </a:solidFill>
              <a:latin typeface="Open Sans"/>
              <a:ea typeface="Open Sans"/>
              <a:cs typeface="Open Sans"/>
              <a:sym typeface="Open Sans"/>
            </a:endParaRPr>
          </a:p>
        </p:txBody>
      </p:sp>
      <p:sp>
        <p:nvSpPr>
          <p:cNvPr id="139" name="Google Shape;139;p9"/>
          <p:cNvSpPr txBox="1"/>
          <p:nvPr/>
        </p:nvSpPr>
        <p:spPr>
          <a:xfrm>
            <a:off x="3200400" y="2531143"/>
            <a:ext cx="2743199"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FF0000"/>
                </a:solidFill>
                <a:latin typeface="Arial"/>
                <a:ea typeface="Arial"/>
                <a:cs typeface="Arial"/>
                <a:sym typeface="Arial"/>
              </a:rPr>
              <a:t>Array destructuring</a:t>
            </a:r>
            <a:endParaRPr sz="1200" b="0" i="0" u="none" strike="noStrike" cap="none">
              <a:solidFill>
                <a:srgbClr val="FF0000"/>
              </a:solidFill>
              <a:latin typeface="Arial"/>
              <a:ea typeface="Arial"/>
              <a:cs typeface="Arial"/>
              <a:sym typeface="Arial"/>
            </a:endParaRPr>
          </a:p>
        </p:txBody>
      </p:sp>
      <p:sp>
        <p:nvSpPr>
          <p:cNvPr id="140" name="Google Shape;140;p9"/>
          <p:cNvSpPr txBox="1"/>
          <p:nvPr/>
        </p:nvSpPr>
        <p:spPr>
          <a:xfrm>
            <a:off x="3230479" y="3042486"/>
            <a:ext cx="2743200" cy="1569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La destrutturazione si può applicare a strutture di dati oppure oggetti,  consente di prelevare informazioni singole.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let nome:string,nazione:string;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[nome,nazione] = [‘marco’,’italia’];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console.log(`${nome} ${nazione}`)</a:t>
            </a:r>
            <a:endParaRPr sz="1400" b="0" i="0" u="none" strike="noStrike" cap="none">
              <a:solidFill>
                <a:srgbClr val="000000"/>
              </a:solidFill>
              <a:latin typeface="Arial"/>
              <a:ea typeface="Arial"/>
              <a:cs typeface="Arial"/>
              <a:sym typeface="Arial"/>
            </a:endParaRPr>
          </a:p>
        </p:txBody>
      </p:sp>
      <p:sp>
        <p:nvSpPr>
          <p:cNvPr id="141" name="Google Shape;141;p9"/>
          <p:cNvSpPr txBox="1"/>
          <p:nvPr/>
        </p:nvSpPr>
        <p:spPr>
          <a:xfrm>
            <a:off x="6378248" y="2502887"/>
            <a:ext cx="27432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FF0000"/>
                </a:solidFill>
                <a:latin typeface="Arial"/>
                <a:ea typeface="Arial"/>
                <a:cs typeface="Arial"/>
                <a:sym typeface="Arial"/>
              </a:rPr>
              <a:t>Object destructuring</a:t>
            </a:r>
            <a:endParaRPr sz="12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let oggetto = {nome:'marco',nazione:'italia'};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let {nome,nazione} = oggetto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console.log(`${nome} ${nazione}`)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55219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15</a:t>
            </a:fld>
            <a:endParaRPr/>
          </a:p>
        </p:txBody>
      </p:sp>
      <p:sp>
        <p:nvSpPr>
          <p:cNvPr id="3" name="CasellaDiTesto 2">
            <a:extLst>
              <a:ext uri="{FF2B5EF4-FFF2-40B4-BE49-F238E27FC236}">
                <a16:creationId xmlns:a16="http://schemas.microsoft.com/office/drawing/2014/main" id="{1521A94C-1D3B-470D-8EC9-A39304C0A4FF}"/>
              </a:ext>
            </a:extLst>
          </p:cNvPr>
          <p:cNvSpPr txBox="1"/>
          <p:nvPr/>
        </p:nvSpPr>
        <p:spPr>
          <a:xfrm>
            <a:off x="222161" y="155724"/>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800" b="1" dirty="0" err="1"/>
              <a:t>Typescript</a:t>
            </a:r>
            <a:endParaRPr lang="it-IT" sz="1800" b="1" dirty="0"/>
          </a:p>
          <a:p>
            <a:endParaRPr lang="it-IT" dirty="0"/>
          </a:p>
        </p:txBody>
      </p:sp>
      <p:sp>
        <p:nvSpPr>
          <p:cNvPr id="5" name="CasellaDiTesto 4">
            <a:extLst>
              <a:ext uri="{FF2B5EF4-FFF2-40B4-BE49-F238E27FC236}">
                <a16:creationId xmlns:a16="http://schemas.microsoft.com/office/drawing/2014/main" id="{0BD843A5-F1E9-467C-B2F4-D5EF6F9E3B04}"/>
              </a:ext>
            </a:extLst>
          </p:cNvPr>
          <p:cNvSpPr txBox="1"/>
          <p:nvPr/>
        </p:nvSpPr>
        <p:spPr>
          <a:xfrm>
            <a:off x="222161" y="571222"/>
            <a:ext cx="26707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600" b="1" dirty="0" err="1"/>
              <a:t>Ecmascript</a:t>
            </a:r>
            <a:endParaRPr lang="it-IT" sz="1600" b="1" dirty="0"/>
          </a:p>
        </p:txBody>
      </p:sp>
      <p:pic>
        <p:nvPicPr>
          <p:cNvPr id="2" name="Immagine 5" descr="Immagine che contiene testo&#10;&#10;Descrizione generata automaticamente">
            <a:extLst>
              <a:ext uri="{FF2B5EF4-FFF2-40B4-BE49-F238E27FC236}">
                <a16:creationId xmlns:a16="http://schemas.microsoft.com/office/drawing/2014/main" id="{E61901C7-83B3-4BE4-A205-BCCF864651CC}"/>
              </a:ext>
            </a:extLst>
          </p:cNvPr>
          <p:cNvPicPr>
            <a:picLocks noChangeAspect="1"/>
          </p:cNvPicPr>
          <p:nvPr/>
        </p:nvPicPr>
        <p:blipFill>
          <a:blip r:embed="rId3"/>
          <a:stretch>
            <a:fillRect/>
          </a:stretch>
        </p:blipFill>
        <p:spPr>
          <a:xfrm>
            <a:off x="358999" y="1349277"/>
            <a:ext cx="5893670" cy="3346111"/>
          </a:xfrm>
          <a:prstGeom prst="rect">
            <a:avLst/>
          </a:prstGeom>
        </p:spPr>
      </p:pic>
    </p:spTree>
    <p:extLst>
      <p:ext uri="{BB962C8B-B14F-4D97-AF65-F5344CB8AC3E}">
        <p14:creationId xmlns:p14="http://schemas.microsoft.com/office/powerpoint/2010/main" val="2268215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9"/>
          <p:cNvSpPr txBox="1"/>
          <p:nvPr/>
        </p:nvSpPr>
        <p:spPr>
          <a:xfrm>
            <a:off x="360000" y="4697100"/>
            <a:ext cx="666900" cy="12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it-IT" sz="600" b="0" i="0" u="none" strike="noStrike" cap="none">
                <a:solidFill>
                  <a:srgbClr val="111314"/>
                </a:solidFill>
                <a:latin typeface="Open Sans"/>
                <a:ea typeface="Open Sans"/>
                <a:cs typeface="Open Sans"/>
                <a:sym typeface="Open Sans"/>
              </a:rPr>
              <a:t>epicodeschool</a:t>
            </a:r>
            <a:endParaRPr sz="600" b="0" i="0" u="none" strike="noStrike" cap="none">
              <a:solidFill>
                <a:srgbClr val="111314"/>
              </a:solidFill>
              <a:latin typeface="Open Sans"/>
              <a:ea typeface="Open Sans"/>
              <a:cs typeface="Open Sans"/>
              <a:sym typeface="Open Sans"/>
            </a:endParaRPr>
          </a:p>
        </p:txBody>
      </p:sp>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16</a:t>
            </a:fld>
            <a:endParaRPr/>
          </a:p>
        </p:txBody>
      </p:sp>
      <p:sp>
        <p:nvSpPr>
          <p:cNvPr id="2" name="CasellaDiTesto 1">
            <a:extLst>
              <a:ext uri="{FF2B5EF4-FFF2-40B4-BE49-F238E27FC236}">
                <a16:creationId xmlns:a16="http://schemas.microsoft.com/office/drawing/2014/main" id="{FAD29A0A-63C1-4C70-AD17-804276066539}"/>
              </a:ext>
            </a:extLst>
          </p:cNvPr>
          <p:cNvSpPr txBox="1"/>
          <p:nvPr/>
        </p:nvSpPr>
        <p:spPr>
          <a:xfrm>
            <a:off x="1948145" y="2343150"/>
            <a:ext cx="671848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800" dirty="0"/>
              <a:t>Concetti di </a:t>
            </a:r>
            <a:r>
              <a:rPr lang="it-IT" sz="2800" dirty="0" err="1"/>
              <a:t>ecmascript</a:t>
            </a:r>
            <a:r>
              <a:rPr lang="it-IT" sz="2800" dirty="0"/>
              <a:t> 6- </a:t>
            </a:r>
            <a:endParaRPr lang="it-IT"/>
          </a:p>
          <a:p>
            <a:r>
              <a:rPr lang="it-IT" sz="2800" dirty="0" err="1"/>
              <a:t>Intersection</a:t>
            </a:r>
            <a:r>
              <a:rPr lang="it-IT" sz="2800" dirty="0"/>
              <a:t> </a:t>
            </a:r>
            <a:r>
              <a:rPr lang="it-IT" sz="2800" dirty="0" err="1"/>
              <a:t>type</a:t>
            </a:r>
            <a:r>
              <a:rPr lang="it-IT" sz="2800" dirty="0"/>
              <a:t> e </a:t>
            </a:r>
            <a:r>
              <a:rPr lang="it-IT" sz="2800" dirty="0" err="1"/>
              <a:t>function</a:t>
            </a:r>
            <a:r>
              <a:rPr lang="it-IT" sz="2800" dirty="0"/>
              <a:t> </a:t>
            </a:r>
            <a:r>
              <a:rPr lang="it-IT" sz="2800" dirty="0" err="1"/>
              <a:t>overload</a:t>
            </a:r>
            <a:r>
              <a:rPr lang="it-IT" sz="2800" dirty="0"/>
              <a:t>-</a:t>
            </a:r>
          </a:p>
          <a:p>
            <a:r>
              <a:rPr lang="it-IT" sz="2800" dirty="0"/>
              <a:t>Decoratori</a:t>
            </a:r>
            <a:endParaRPr lang="it-IT" dirty="0"/>
          </a:p>
        </p:txBody>
      </p:sp>
    </p:spTree>
    <p:extLst>
      <p:ext uri="{BB962C8B-B14F-4D97-AF65-F5344CB8AC3E}">
        <p14:creationId xmlns:p14="http://schemas.microsoft.com/office/powerpoint/2010/main" val="2945910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8" name="Google Shape;148;p24"/>
          <p:cNvSpPr txBox="1"/>
          <p:nvPr/>
        </p:nvSpPr>
        <p:spPr>
          <a:xfrm>
            <a:off x="317423" y="565290"/>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dirty="0" err="1">
                <a:solidFill>
                  <a:schemeClr val="dk1"/>
                </a:solidFill>
                <a:latin typeface="Open Sans"/>
                <a:ea typeface="Open Sans"/>
                <a:cs typeface="Open Sans"/>
                <a:sym typeface="Open Sans"/>
              </a:rPr>
              <a:t>Typescript</a:t>
            </a:r>
            <a:endParaRPr sz="2400" b="1" i="0" u="none" strike="noStrike" cap="none" dirty="0">
              <a:solidFill>
                <a:schemeClr val="dk1"/>
              </a:solidFill>
              <a:latin typeface="Open Sans"/>
              <a:ea typeface="Open Sans"/>
              <a:cs typeface="Open Sans"/>
              <a:sym typeface="Open Sans"/>
            </a:endParaRPr>
          </a:p>
        </p:txBody>
      </p:sp>
      <p:sp>
        <p:nvSpPr>
          <p:cNvPr id="149" name="Google Shape;149;p24"/>
          <p:cNvSpPr txBox="1"/>
          <p:nvPr/>
        </p:nvSpPr>
        <p:spPr>
          <a:xfrm>
            <a:off x="314688" y="1111967"/>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a:solidFill>
                  <a:schemeClr val="dk1"/>
                </a:solidFill>
                <a:ea typeface="Consolas"/>
                <a:cs typeface="Consolas"/>
                <a:sym typeface="Consolas"/>
              </a:rPr>
              <a:t>Ecmascript 6 parte 3 </a:t>
            </a:r>
            <a:r>
              <a:rPr lang="it-IT" sz="1600" b="0" i="0" u="none" strike="noStrike" cap="none" dirty="0">
                <a:solidFill>
                  <a:schemeClr val="dk1"/>
                </a:solidFill>
                <a:latin typeface="Consolas"/>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50" name="Google Shape;15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17</a:t>
            </a:fld>
            <a:endParaRPr/>
          </a:p>
        </p:txBody>
      </p:sp>
      <p:sp>
        <p:nvSpPr>
          <p:cNvPr id="151" name="Google Shape;151;p24"/>
          <p:cNvSpPr txBox="1"/>
          <p:nvPr/>
        </p:nvSpPr>
        <p:spPr>
          <a:xfrm>
            <a:off x="226252" y="1291396"/>
            <a:ext cx="2589900" cy="3447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a:solidFill>
                  <a:srgbClr val="00B0F0"/>
                </a:solidFill>
                <a:latin typeface="Arial"/>
                <a:ea typeface="Arial"/>
                <a:cs typeface="Arial"/>
                <a:sym typeface="Arial"/>
              </a:rPr>
              <a:t>.</a:t>
            </a:r>
            <a:br>
              <a:rPr lang="it-IT" sz="1800" b="0" i="0" u="none" strike="noStrike" cap="none" baseline="30000">
                <a:solidFill>
                  <a:srgbClr val="000000"/>
                </a:solidFill>
                <a:latin typeface="Arial"/>
                <a:ea typeface="Arial"/>
                <a:cs typeface="Arial"/>
                <a:sym typeface="Arial"/>
              </a:rPr>
            </a:br>
            <a:r>
              <a:rPr lang="it-IT" sz="2000" b="0" i="0" u="none" strike="noStrike" cap="none" baseline="30000">
                <a:solidFill>
                  <a:srgbClr val="FF0000"/>
                </a:solidFill>
                <a:latin typeface="Arial"/>
                <a:ea typeface="Arial"/>
                <a:cs typeface="Arial"/>
                <a:sym typeface="Arial"/>
              </a:rPr>
              <a:t>Altre funzionalità:</a:t>
            </a:r>
            <a:br>
              <a:rPr lang="it-IT" sz="2000" b="0" i="0" u="none" strike="noStrike" cap="none" baseline="30000">
                <a:solidFill>
                  <a:srgbClr val="000000"/>
                </a:solidFill>
                <a:latin typeface="Arial"/>
                <a:ea typeface="Arial"/>
                <a:cs typeface="Arial"/>
                <a:sym typeface="Arial"/>
              </a:rPr>
            </a:br>
            <a:r>
              <a:rPr lang="it-IT" sz="1800" b="0" i="0" u="none" strike="noStrike" cap="none" baseline="30000">
                <a:solidFill>
                  <a:schemeClr val="dk1"/>
                </a:solidFill>
                <a:latin typeface="Arial"/>
                <a:ea typeface="Arial"/>
                <a:cs typeface="Arial"/>
                <a:sym typeface="Arial"/>
              </a:rPr>
              <a:t>a</a:t>
            </a:r>
            <a:r>
              <a:rPr lang="it-IT" sz="1900" b="0" i="0" u="none" strike="noStrike" cap="none" baseline="30000">
                <a:solidFill>
                  <a:schemeClr val="dk1"/>
                </a:solidFill>
                <a:latin typeface="Arial"/>
                <a:ea typeface="Arial"/>
                <a:cs typeface="Arial"/>
                <a:sym typeface="Arial"/>
              </a:rPr>
              <a:t>rrow function</a:t>
            </a:r>
            <a:endParaRPr sz="1900" b="0" i="0" u="none" strike="noStrike" cap="none" baseline="300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it-IT" sz="1900" b="0" i="0" u="none" strike="noStrike" cap="none" baseline="30000">
                <a:solidFill>
                  <a:schemeClr val="dk1"/>
                </a:solidFill>
                <a:latin typeface="Arial"/>
                <a:ea typeface="Arial"/>
                <a:cs typeface="Arial"/>
                <a:sym typeface="Arial"/>
              </a:rPr>
              <a:t>spread e rest operator</a:t>
            </a:r>
            <a:endParaRPr sz="17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baseline="3000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645AD"/>
              </a:solidFill>
              <a:latin typeface="Arial"/>
              <a:ea typeface="Arial"/>
              <a:cs typeface="Arial"/>
              <a:sym typeface="Arial"/>
            </a:endParaRPr>
          </a:p>
        </p:txBody>
      </p:sp>
      <p:sp>
        <p:nvSpPr>
          <p:cNvPr id="152" name="Google Shape;152;p24"/>
          <p:cNvSpPr txBox="1"/>
          <p:nvPr/>
        </p:nvSpPr>
        <p:spPr>
          <a:xfrm>
            <a:off x="2864285" y="1514072"/>
            <a:ext cx="2743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Esempio:</a:t>
            </a:r>
            <a:endParaRPr sz="1200" b="0" i="0" u="none" strike="noStrike" cap="none">
              <a:solidFill>
                <a:srgbClr val="FF0000"/>
              </a:solidFill>
              <a:latin typeface="Open Sans"/>
              <a:ea typeface="Open Sans"/>
              <a:cs typeface="Open Sans"/>
              <a:sym typeface="Open Sans"/>
            </a:endParaRPr>
          </a:p>
        </p:txBody>
      </p:sp>
      <p:sp>
        <p:nvSpPr>
          <p:cNvPr id="153" name="Google Shape;153;p24"/>
          <p:cNvSpPr txBox="1"/>
          <p:nvPr/>
        </p:nvSpPr>
        <p:spPr>
          <a:xfrm>
            <a:off x="2857094" y="2057389"/>
            <a:ext cx="27432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FF0000"/>
                </a:solidFill>
                <a:latin typeface="Arial"/>
                <a:ea typeface="Arial"/>
                <a:cs typeface="Arial"/>
                <a:sym typeface="Arial"/>
              </a:rPr>
              <a:t>Array function</a:t>
            </a:r>
            <a:endParaRPr sz="1400" b="0" i="0" u="none" strike="noStrike" cap="none">
              <a:solidFill>
                <a:srgbClr val="000000"/>
              </a:solidFill>
              <a:latin typeface="Arial"/>
              <a:ea typeface="Arial"/>
              <a:cs typeface="Arial"/>
              <a:sym typeface="Arial"/>
            </a:endParaRPr>
          </a:p>
        </p:txBody>
      </p:sp>
      <p:sp>
        <p:nvSpPr>
          <p:cNvPr id="154" name="Google Shape;154;p24"/>
          <p:cNvSpPr txBox="1"/>
          <p:nvPr/>
        </p:nvSpPr>
        <p:spPr>
          <a:xfrm>
            <a:off x="2861059" y="2489414"/>
            <a:ext cx="2743199" cy="31239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Un arrow function è sempre una funzione come quelle viste nei moduli precedenti ma con meno codice da dover scrivere, quindi utilizzando una sintassi più rapida.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000000"/>
                </a:solidFill>
                <a:latin typeface="Arial"/>
                <a:ea typeface="Arial"/>
                <a:cs typeface="Arial"/>
                <a:sym typeface="Arial"/>
              </a:rPr>
              <a:t> </a:t>
            </a:r>
            <a:r>
              <a:rPr lang="it-IT" sz="1100" b="0" i="0" u="none" strike="noStrike" cap="none">
                <a:solidFill>
                  <a:srgbClr val="000000"/>
                </a:solidFill>
                <a:latin typeface="Arial"/>
                <a:ea typeface="Arial"/>
                <a:cs typeface="Arial"/>
                <a:sym typeface="Arial"/>
              </a:rPr>
              <a:t> let arrow=(nome:string)=&gt;{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        return nome;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       console.log(arrow('fabio'));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it-IT" sz="1400" b="0" i="0" u="none" strike="noStrike" cap="none">
                <a:solidFill>
                  <a:srgbClr val="000000"/>
                </a:solidFill>
                <a:latin typeface="Arial"/>
                <a:ea typeface="Arial"/>
                <a:cs typeface="Arial"/>
                <a:sym typeface="Arial"/>
              </a:rPr>
            </a:br>
            <a:br>
              <a:rPr lang="it-IT"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55" name="Google Shape;155;p24"/>
          <p:cNvSpPr txBox="1"/>
          <p:nvPr/>
        </p:nvSpPr>
        <p:spPr>
          <a:xfrm>
            <a:off x="5787190" y="2488778"/>
            <a:ext cx="2743200" cy="250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Lo spread operator consente un iterabile come un'espressione di un array o una stringa da espandere in punti in cui sono previsti zero o più argomenti (per chiamate di funzione) o elementi (per letterali di array) o un'espressione di oggetto da espandere in posizioni dove zero o più sono previste coppie di valori (per valori letterali oggetto).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let arr:number[] = [1,2,3]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let arrs:number[]= [4,5,6]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let spread:number[] = […arr...arrs]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console.log(spread)</a:t>
            </a:r>
            <a:endParaRPr sz="1400" b="0" i="0" u="none" strike="noStrike" cap="none">
              <a:solidFill>
                <a:srgbClr val="000000"/>
              </a:solidFill>
              <a:latin typeface="Arial"/>
              <a:ea typeface="Arial"/>
              <a:cs typeface="Arial"/>
              <a:sym typeface="Arial"/>
            </a:endParaRPr>
          </a:p>
        </p:txBody>
      </p:sp>
      <p:sp>
        <p:nvSpPr>
          <p:cNvPr id="156" name="Google Shape;156;p24"/>
          <p:cNvSpPr txBox="1"/>
          <p:nvPr/>
        </p:nvSpPr>
        <p:spPr>
          <a:xfrm>
            <a:off x="5787190" y="2060789"/>
            <a:ext cx="2743199"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FF0000"/>
                </a:solidFill>
                <a:latin typeface="Arial"/>
                <a:ea typeface="Arial"/>
                <a:cs typeface="Arial"/>
                <a:sym typeface="Arial"/>
              </a:rPr>
              <a:t>Spread operator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18</a:t>
            </a:fld>
            <a:endParaRPr/>
          </a:p>
        </p:txBody>
      </p:sp>
      <p:sp>
        <p:nvSpPr>
          <p:cNvPr id="3" name="CasellaDiTesto 2">
            <a:extLst>
              <a:ext uri="{FF2B5EF4-FFF2-40B4-BE49-F238E27FC236}">
                <a16:creationId xmlns:a16="http://schemas.microsoft.com/office/drawing/2014/main" id="{1521A94C-1D3B-470D-8EC9-A39304C0A4FF}"/>
              </a:ext>
            </a:extLst>
          </p:cNvPr>
          <p:cNvSpPr txBox="1"/>
          <p:nvPr/>
        </p:nvSpPr>
        <p:spPr>
          <a:xfrm>
            <a:off x="230210" y="596453"/>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800" b="1"/>
              <a:t>Typescript</a:t>
            </a:r>
            <a:endParaRPr lang="it-IT" sz="1800" b="1" dirty="0"/>
          </a:p>
          <a:p>
            <a:endParaRPr lang="it-IT" dirty="0"/>
          </a:p>
        </p:txBody>
      </p:sp>
      <p:sp>
        <p:nvSpPr>
          <p:cNvPr id="5" name="CasellaDiTesto 4">
            <a:extLst>
              <a:ext uri="{FF2B5EF4-FFF2-40B4-BE49-F238E27FC236}">
                <a16:creationId xmlns:a16="http://schemas.microsoft.com/office/drawing/2014/main" id="{0BD843A5-F1E9-467C-B2F4-D5EF6F9E3B04}"/>
              </a:ext>
            </a:extLst>
          </p:cNvPr>
          <p:cNvSpPr txBox="1"/>
          <p:nvPr/>
        </p:nvSpPr>
        <p:spPr>
          <a:xfrm>
            <a:off x="258383" y="946598"/>
            <a:ext cx="26707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600" b="1"/>
              <a:t>Ecmascript</a:t>
            </a:r>
            <a:endParaRPr lang="it-IT" sz="1600" b="1" dirty="0"/>
          </a:p>
        </p:txBody>
      </p:sp>
      <p:pic>
        <p:nvPicPr>
          <p:cNvPr id="4" name="Immagine 5" descr="Immagine che contiene testo&#10;&#10;Descrizione generata automaticamente">
            <a:extLst>
              <a:ext uri="{FF2B5EF4-FFF2-40B4-BE49-F238E27FC236}">
                <a16:creationId xmlns:a16="http://schemas.microsoft.com/office/drawing/2014/main" id="{DF26BBE8-E7DA-4E6A-94E6-8BAF688BEBF7}"/>
              </a:ext>
            </a:extLst>
          </p:cNvPr>
          <p:cNvPicPr>
            <a:picLocks noChangeAspect="1"/>
          </p:cNvPicPr>
          <p:nvPr/>
        </p:nvPicPr>
        <p:blipFill>
          <a:blip r:embed="rId3"/>
          <a:stretch>
            <a:fillRect/>
          </a:stretch>
        </p:blipFill>
        <p:spPr>
          <a:xfrm>
            <a:off x="358999" y="1325223"/>
            <a:ext cx="5919238" cy="3370074"/>
          </a:xfrm>
          <a:prstGeom prst="rect">
            <a:avLst/>
          </a:prstGeom>
        </p:spPr>
      </p:pic>
    </p:spTree>
    <p:extLst>
      <p:ext uri="{BB962C8B-B14F-4D97-AF65-F5344CB8AC3E}">
        <p14:creationId xmlns:p14="http://schemas.microsoft.com/office/powerpoint/2010/main" val="2996260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101" name="Google Shape;101;p3"/>
          <p:cNvSpPr txBox="1"/>
          <p:nvPr/>
        </p:nvSpPr>
        <p:spPr>
          <a:xfrm>
            <a:off x="325472" y="645783"/>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102" name="Google Shape;102;p3"/>
          <p:cNvSpPr txBox="1"/>
          <p:nvPr/>
        </p:nvSpPr>
        <p:spPr>
          <a:xfrm>
            <a:off x="324961" y="1200510"/>
            <a:ext cx="4226695" cy="31255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dirty="0">
                <a:solidFill>
                  <a:schemeClr val="dk1"/>
                </a:solidFill>
                <a:ea typeface="Consolas"/>
                <a:cs typeface="Consolas"/>
                <a:sym typeface="Consolas"/>
              </a:rPr>
              <a:t> </a:t>
            </a:r>
            <a:r>
              <a:rPr lang="it-IT" sz="1600" b="1" i="0" u="none" strike="noStrike" cap="none" err="1">
                <a:solidFill>
                  <a:schemeClr val="dk1"/>
                </a:solidFill>
                <a:ea typeface="Consolas"/>
                <a:cs typeface="Consolas"/>
                <a:sym typeface="Consolas"/>
              </a:rPr>
              <a:t>Intersection</a:t>
            </a:r>
            <a:r>
              <a:rPr lang="it-IT" sz="1600" b="1" i="0" u="none" strike="noStrike" cap="none" dirty="0">
                <a:solidFill>
                  <a:schemeClr val="dk1"/>
                </a:solidFill>
                <a:ea typeface="Consolas"/>
                <a:cs typeface="Consolas"/>
                <a:sym typeface="Consolas"/>
              </a:rPr>
              <a:t> </a:t>
            </a:r>
            <a:r>
              <a:rPr lang="it-IT" sz="1600" b="1" i="0" u="none" strike="noStrike" cap="none" err="1">
                <a:solidFill>
                  <a:schemeClr val="dk1"/>
                </a:solidFill>
                <a:ea typeface="Consolas"/>
                <a:cs typeface="Consolas"/>
                <a:sym typeface="Consolas"/>
              </a:rPr>
              <a:t>type</a:t>
            </a:r>
            <a:r>
              <a:rPr lang="it-IT" sz="1600" b="1" i="0" u="none" strike="noStrike" cap="none" dirty="0">
                <a:solidFill>
                  <a:schemeClr val="dk1"/>
                </a:solidFill>
                <a:latin typeface="Consolas"/>
                <a:ea typeface="Consolas"/>
                <a:cs typeface="Consolas"/>
                <a:sym typeface="Consolas"/>
              </a:rPr>
              <a:t> </a:t>
            </a:r>
            <a:r>
              <a:rPr lang="it-IT" b="0" i="0" u="none" strike="noStrike" cap="none" dirty="0">
                <a:solidFill>
                  <a:srgbClr val="FF0000"/>
                </a:solidFill>
                <a:latin typeface="Open Sans"/>
                <a:ea typeface="Open Sans"/>
                <a:cs typeface="Open San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03" name="Google Shape;10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19</a:t>
            </a:fld>
            <a:endParaRPr/>
          </a:p>
        </p:txBody>
      </p:sp>
      <p:sp>
        <p:nvSpPr>
          <p:cNvPr id="104" name="Google Shape;104;p3"/>
          <p:cNvSpPr txBox="1"/>
          <p:nvPr/>
        </p:nvSpPr>
        <p:spPr>
          <a:xfrm>
            <a:off x="278990" y="2004219"/>
            <a:ext cx="2589967" cy="3139281"/>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dirty="0">
                <a:solidFill>
                  <a:srgbClr val="000000"/>
                </a:solidFill>
                <a:latin typeface="Arial"/>
                <a:ea typeface="Arial"/>
                <a:cs typeface="Arial"/>
                <a:sym typeface="Arial"/>
              </a:rPr>
              <a:t>I tipi di intersezione sono strettamente correlati ai tipi di unione, ma vengono utilizzati in modo molto diverso. Un tipo di intersezione combina più tipi in uno. Ciò consente di aggiungere tipi esistenti per ottenere un singolo tipo con tutte le funzionalità necessarie.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dirty="0">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dirty="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645AD"/>
              </a:solidFill>
              <a:latin typeface="Arial"/>
              <a:ea typeface="Arial"/>
              <a:cs typeface="Arial"/>
              <a:sym typeface="Arial"/>
            </a:endParaRPr>
          </a:p>
        </p:txBody>
      </p:sp>
      <p:sp>
        <p:nvSpPr>
          <p:cNvPr id="105" name="Google Shape;105;p3"/>
          <p:cNvSpPr txBox="1"/>
          <p:nvPr/>
        </p:nvSpPr>
        <p:spPr>
          <a:xfrm>
            <a:off x="2962865" y="1628776"/>
            <a:ext cx="2743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Esempio:</a:t>
            </a:r>
            <a:endParaRPr sz="1400" b="0" i="0" u="none" strike="noStrike" cap="none">
              <a:solidFill>
                <a:srgbClr val="000000"/>
              </a:solidFill>
              <a:latin typeface="Arial"/>
              <a:ea typeface="Arial"/>
              <a:cs typeface="Arial"/>
              <a:sym typeface="Arial"/>
            </a:endParaRPr>
          </a:p>
        </p:txBody>
      </p:sp>
      <p:sp>
        <p:nvSpPr>
          <p:cNvPr id="107" name="Google Shape;107;p3"/>
          <p:cNvSpPr txBox="1"/>
          <p:nvPr/>
        </p:nvSpPr>
        <p:spPr>
          <a:xfrm>
            <a:off x="272469" y="1561097"/>
            <a:ext cx="274319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Arial"/>
                <a:ea typeface="Arial"/>
                <a:cs typeface="Arial"/>
                <a:sym typeface="Arial"/>
              </a:rPr>
              <a:t>Intersection type</a:t>
            </a:r>
            <a:endParaRPr sz="1400" b="0" i="0" u="none" strike="noStrike" cap="none">
              <a:solidFill>
                <a:srgbClr val="000000"/>
              </a:solidFill>
              <a:latin typeface="Arial"/>
              <a:ea typeface="Arial"/>
              <a:cs typeface="Arial"/>
              <a:sym typeface="Arial"/>
            </a:endParaRPr>
          </a:p>
        </p:txBody>
      </p:sp>
      <p:sp>
        <p:nvSpPr>
          <p:cNvPr id="108" name="Google Shape;108;p3"/>
          <p:cNvSpPr txBox="1"/>
          <p:nvPr/>
        </p:nvSpPr>
        <p:spPr>
          <a:xfrm>
            <a:off x="2962423" y="1939738"/>
            <a:ext cx="5533020" cy="36932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type Admin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name: string;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privileges: string[];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type Employee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names: number;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startDate: Date;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type ElevatedEmployee = Admin &amp; Employee;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const e1: ElevatedEmployee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name: 'Max',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names: 12,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privileges: ['create-server'],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startDate: new Date()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type Universal = Combinable &amp; Numeric;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it-IT"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101" name="Google Shape;101;p3"/>
          <p:cNvSpPr txBox="1"/>
          <p:nvPr/>
        </p:nvSpPr>
        <p:spPr>
          <a:xfrm>
            <a:off x="325472" y="645783"/>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102" name="Google Shape;102;p3"/>
          <p:cNvSpPr txBox="1"/>
          <p:nvPr/>
        </p:nvSpPr>
        <p:spPr>
          <a:xfrm>
            <a:off x="242244" y="1200510"/>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dirty="0">
                <a:solidFill>
                  <a:schemeClr val="dk1"/>
                </a:solidFill>
                <a:latin typeface="Consolas"/>
                <a:ea typeface="Consolas"/>
                <a:cs typeface="Consolas"/>
                <a:sym typeface="Consolas"/>
              </a:rPr>
              <a:t> </a:t>
            </a:r>
            <a:r>
              <a:rPr lang="it-IT" b="1">
                <a:solidFill>
                  <a:schemeClr val="dk1"/>
                </a:solidFill>
                <a:ea typeface="Consolas"/>
                <a:cs typeface="Consolas"/>
                <a:sym typeface="Consolas"/>
              </a:rPr>
              <a:t>Function</a:t>
            </a:r>
            <a:r>
              <a:rPr lang="it-IT" b="1" i="0" u="none" strike="noStrike" cap="none">
                <a:solidFill>
                  <a:schemeClr val="dk1"/>
                </a:solidFill>
                <a:ea typeface="Consolas"/>
                <a:cs typeface="Consolas"/>
                <a:sym typeface="Consolas"/>
              </a:rPr>
              <a:t> overload </a:t>
            </a:r>
            <a:r>
              <a:rPr lang="it-IT" b="0" i="0" u="none" strike="noStrike" cap="none" dirty="0">
                <a:solidFill>
                  <a:srgbClr val="FF0000"/>
                </a:solidFill>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03" name="Google Shape;10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20</a:t>
            </a:fld>
            <a:endParaRPr/>
          </a:p>
        </p:txBody>
      </p:sp>
      <p:sp>
        <p:nvSpPr>
          <p:cNvPr id="106" name="Google Shape;106;p3"/>
          <p:cNvSpPr txBox="1"/>
          <p:nvPr/>
        </p:nvSpPr>
        <p:spPr>
          <a:xfrm>
            <a:off x="273342" y="1748037"/>
            <a:ext cx="2743200" cy="14157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Function overload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TypeScript fornisce il concetto di sovraccarico di funzioni. È possibile avere più funzioni con lo stesso nome ma tipi di parametri e tipo restituito diversi. </a:t>
            </a:r>
            <a:endParaRPr sz="1400" b="0" i="0" u="none" strike="noStrike" cap="none">
              <a:solidFill>
                <a:srgbClr val="000000"/>
              </a:solidFill>
              <a:latin typeface="Arial"/>
              <a:ea typeface="Arial"/>
              <a:cs typeface="Arial"/>
              <a:sym typeface="Arial"/>
            </a:endParaRPr>
          </a:p>
        </p:txBody>
      </p:sp>
      <p:sp>
        <p:nvSpPr>
          <p:cNvPr id="109" name="Google Shape;109;p3"/>
          <p:cNvSpPr txBox="1"/>
          <p:nvPr/>
        </p:nvSpPr>
        <p:spPr>
          <a:xfrm>
            <a:off x="3353448" y="1794208"/>
            <a:ext cx="2743200" cy="2600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Arial"/>
                <a:ea typeface="Arial"/>
                <a:cs typeface="Arial"/>
                <a:sym typeface="Arial"/>
              </a:rPr>
              <a:t>Esempio: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function add(a:string, b:string):string;</a:t>
            </a:r>
            <a:br>
              <a:rPr lang="it-IT" sz="1100" b="0" i="0" u="none" strike="noStrike" cap="none">
                <a:solidFill>
                  <a:srgbClr val="000000"/>
                </a:solidFill>
                <a:latin typeface="Arial"/>
                <a:ea typeface="Arial"/>
                <a:cs typeface="Arial"/>
                <a:sym typeface="Arial"/>
              </a:rPr>
            </a:br>
            <a:br>
              <a:rPr lang="it-IT" sz="1100" b="0" i="0" u="none" strike="noStrike" cap="none">
                <a:solidFill>
                  <a:srgbClr val="000000"/>
                </a:solidFill>
                <a:latin typeface="Arial"/>
                <a:ea typeface="Arial"/>
                <a:cs typeface="Arial"/>
                <a:sym typeface="Arial"/>
              </a:rPr>
            </a:br>
            <a:r>
              <a:rPr lang="it-IT" sz="1100" b="0" i="0" u="none" strike="noStrike" cap="none">
                <a:solidFill>
                  <a:srgbClr val="000000"/>
                </a:solidFill>
                <a:latin typeface="Arial"/>
                <a:ea typeface="Arial"/>
                <a:cs typeface="Arial"/>
                <a:sym typeface="Arial"/>
              </a:rPr>
              <a:t>function add(a:number, b:number): number;</a:t>
            </a:r>
            <a:br>
              <a:rPr lang="it-IT" sz="1100" b="0" i="0" u="none" strike="noStrike" cap="none">
                <a:solidFill>
                  <a:srgbClr val="000000"/>
                </a:solidFill>
                <a:latin typeface="Arial"/>
                <a:ea typeface="Arial"/>
                <a:cs typeface="Arial"/>
                <a:sym typeface="Arial"/>
              </a:rPr>
            </a:br>
            <a:br>
              <a:rPr lang="it-IT" sz="1100" b="0" i="0" u="none" strike="noStrike" cap="none">
                <a:solidFill>
                  <a:srgbClr val="000000"/>
                </a:solidFill>
                <a:latin typeface="Arial"/>
                <a:ea typeface="Arial"/>
                <a:cs typeface="Arial"/>
                <a:sym typeface="Arial"/>
              </a:rPr>
            </a:br>
            <a:r>
              <a:rPr lang="it-IT" sz="1100" b="0" i="0" u="none" strike="noStrike" cap="none">
                <a:solidFill>
                  <a:srgbClr val="000000"/>
                </a:solidFill>
                <a:latin typeface="Arial"/>
                <a:ea typeface="Arial"/>
                <a:cs typeface="Arial"/>
                <a:sym typeface="Arial"/>
              </a:rPr>
              <a:t>function add(a: any, b:any): any {</a:t>
            </a:r>
            <a:br>
              <a:rPr lang="it-IT" sz="1100" b="0" i="0" u="none" strike="noStrike" cap="none">
                <a:solidFill>
                  <a:srgbClr val="000000"/>
                </a:solidFill>
                <a:latin typeface="Arial"/>
                <a:ea typeface="Arial"/>
                <a:cs typeface="Arial"/>
                <a:sym typeface="Arial"/>
              </a:rPr>
            </a:br>
            <a:r>
              <a:rPr lang="it-IT" sz="1100" b="0" i="0" u="none" strike="noStrike" cap="none">
                <a:solidFill>
                  <a:srgbClr val="000000"/>
                </a:solidFill>
                <a:latin typeface="Arial"/>
                <a:ea typeface="Arial"/>
                <a:cs typeface="Arial"/>
                <a:sym typeface="Arial"/>
              </a:rPr>
              <a:t>    return a + b;</a:t>
            </a:r>
            <a:br>
              <a:rPr lang="it-IT" sz="1100" b="0" i="0" u="none" strike="noStrike" cap="none">
                <a:solidFill>
                  <a:srgbClr val="000000"/>
                </a:solidFill>
                <a:latin typeface="Arial"/>
                <a:ea typeface="Arial"/>
                <a:cs typeface="Arial"/>
                <a:sym typeface="Arial"/>
              </a:rPr>
            </a:br>
            <a:r>
              <a:rPr lang="it-IT" sz="1100" b="0" i="0" u="none" strike="noStrike" cap="none">
                <a:solidFill>
                  <a:srgbClr val="000000"/>
                </a:solidFill>
                <a:latin typeface="Arial"/>
                <a:ea typeface="Arial"/>
                <a:cs typeface="Arial"/>
                <a:sym typeface="Arial"/>
              </a:rPr>
              <a:t>}</a:t>
            </a:r>
            <a:br>
              <a:rPr lang="it-IT" sz="1100" b="0" i="0" u="none" strike="noStrike" cap="none">
                <a:solidFill>
                  <a:srgbClr val="000000"/>
                </a:solidFill>
                <a:latin typeface="Arial"/>
                <a:ea typeface="Arial"/>
                <a:cs typeface="Arial"/>
                <a:sym typeface="Arial"/>
              </a:rPr>
            </a:br>
            <a:r>
              <a:rPr lang="it-IT" sz="1100" b="0" i="0" u="none" strike="noStrike" cap="none">
                <a:solidFill>
                  <a:srgbClr val="000000"/>
                </a:solidFill>
                <a:latin typeface="Arial"/>
                <a:ea typeface="Arial"/>
                <a:cs typeface="Arial"/>
                <a:sym typeface="Arial"/>
              </a:rPr>
              <a:t>add("Hello ", "Steve"); // return "Hello Steve" </a:t>
            </a:r>
            <a:br>
              <a:rPr lang="it-IT" sz="1100" b="0" i="0" u="none" strike="noStrike" cap="none">
                <a:solidFill>
                  <a:srgbClr val="000000"/>
                </a:solidFill>
                <a:latin typeface="Arial"/>
                <a:ea typeface="Arial"/>
                <a:cs typeface="Arial"/>
                <a:sym typeface="Arial"/>
              </a:rPr>
            </a:br>
            <a:r>
              <a:rPr lang="it-IT" sz="1100" b="0" i="0" u="none" strike="noStrike" cap="none">
                <a:solidFill>
                  <a:srgbClr val="000000"/>
                </a:solidFill>
                <a:latin typeface="Arial"/>
                <a:ea typeface="Arial"/>
                <a:cs typeface="Arial"/>
                <a:sym typeface="Arial"/>
              </a:rPr>
              <a:t>add(10, 20);  // return 30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Tree>
    <p:extLst>
      <p:ext uri="{BB962C8B-B14F-4D97-AF65-F5344CB8AC3E}">
        <p14:creationId xmlns:p14="http://schemas.microsoft.com/office/powerpoint/2010/main" val="1591297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21</a:t>
            </a:fld>
            <a:endParaRPr/>
          </a:p>
        </p:txBody>
      </p:sp>
      <p:sp>
        <p:nvSpPr>
          <p:cNvPr id="3" name="CasellaDiTesto 2">
            <a:extLst>
              <a:ext uri="{FF2B5EF4-FFF2-40B4-BE49-F238E27FC236}">
                <a16:creationId xmlns:a16="http://schemas.microsoft.com/office/drawing/2014/main" id="{1521A94C-1D3B-470D-8EC9-A39304C0A4FF}"/>
              </a:ext>
            </a:extLst>
          </p:cNvPr>
          <p:cNvSpPr txBox="1"/>
          <p:nvPr/>
        </p:nvSpPr>
        <p:spPr>
          <a:xfrm>
            <a:off x="222161" y="188155"/>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800" b="1" dirty="0" err="1"/>
              <a:t>Typescript</a:t>
            </a:r>
            <a:endParaRPr lang="it-IT" sz="1800" b="1" dirty="0"/>
          </a:p>
          <a:p>
            <a:endParaRPr lang="it-IT" dirty="0"/>
          </a:p>
        </p:txBody>
      </p:sp>
      <p:sp>
        <p:nvSpPr>
          <p:cNvPr id="5" name="CasellaDiTesto 4">
            <a:extLst>
              <a:ext uri="{FF2B5EF4-FFF2-40B4-BE49-F238E27FC236}">
                <a16:creationId xmlns:a16="http://schemas.microsoft.com/office/drawing/2014/main" id="{0BD843A5-F1E9-467C-B2F4-D5EF6F9E3B04}"/>
              </a:ext>
            </a:extLst>
          </p:cNvPr>
          <p:cNvSpPr txBox="1"/>
          <p:nvPr/>
        </p:nvSpPr>
        <p:spPr>
          <a:xfrm>
            <a:off x="222161" y="690469"/>
            <a:ext cx="26707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600" b="1" dirty="0" err="1"/>
              <a:t>Intersection</a:t>
            </a:r>
            <a:r>
              <a:rPr lang="it-IT" sz="1600" b="1" dirty="0"/>
              <a:t> </a:t>
            </a:r>
            <a:r>
              <a:rPr lang="it-IT" sz="1600" b="1" dirty="0" err="1"/>
              <a:t>type</a:t>
            </a:r>
            <a:endParaRPr lang="it-IT" sz="1600" b="1" dirty="0"/>
          </a:p>
        </p:txBody>
      </p:sp>
      <p:pic>
        <p:nvPicPr>
          <p:cNvPr id="6" name="Immagine 6" descr="Immagine che contiene testo&#10;&#10;Descrizione generata automaticamente">
            <a:extLst>
              <a:ext uri="{FF2B5EF4-FFF2-40B4-BE49-F238E27FC236}">
                <a16:creationId xmlns:a16="http://schemas.microsoft.com/office/drawing/2014/main" id="{74CE4E51-0FEA-4686-B50A-AC34C7333374}"/>
              </a:ext>
            </a:extLst>
          </p:cNvPr>
          <p:cNvPicPr>
            <a:picLocks noChangeAspect="1"/>
          </p:cNvPicPr>
          <p:nvPr/>
        </p:nvPicPr>
        <p:blipFill>
          <a:blip r:embed="rId3"/>
          <a:stretch>
            <a:fillRect/>
          </a:stretch>
        </p:blipFill>
        <p:spPr>
          <a:xfrm>
            <a:off x="358999" y="1285117"/>
            <a:ext cx="5976295" cy="3377840"/>
          </a:xfrm>
          <a:prstGeom prst="rect">
            <a:avLst/>
          </a:prstGeom>
        </p:spPr>
      </p:pic>
    </p:spTree>
    <p:extLst>
      <p:ext uri="{BB962C8B-B14F-4D97-AF65-F5344CB8AC3E}">
        <p14:creationId xmlns:p14="http://schemas.microsoft.com/office/powerpoint/2010/main" val="869768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3" name="Google Shape;163;p25"/>
          <p:cNvSpPr txBox="1"/>
          <p:nvPr/>
        </p:nvSpPr>
        <p:spPr>
          <a:xfrm>
            <a:off x="218203" y="85874"/>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dirty="0" err="1">
                <a:solidFill>
                  <a:schemeClr val="dk1"/>
                </a:solidFill>
                <a:latin typeface="Open Sans"/>
                <a:ea typeface="Open Sans"/>
                <a:cs typeface="Open Sans"/>
                <a:sym typeface="Open Sans"/>
              </a:rPr>
              <a:t>Typescript</a:t>
            </a:r>
            <a:endParaRPr sz="2400" b="1" i="0" u="none" strike="noStrike" cap="none" dirty="0">
              <a:solidFill>
                <a:schemeClr val="dk1"/>
              </a:solidFill>
              <a:latin typeface="Open Sans"/>
              <a:ea typeface="Open Sans"/>
              <a:cs typeface="Open Sans"/>
              <a:sym typeface="Open Sans"/>
            </a:endParaRPr>
          </a:p>
        </p:txBody>
      </p:sp>
      <p:sp>
        <p:nvSpPr>
          <p:cNvPr id="164" name="Google Shape;164;p25"/>
          <p:cNvSpPr txBox="1"/>
          <p:nvPr/>
        </p:nvSpPr>
        <p:spPr>
          <a:xfrm>
            <a:off x="263641" y="670899"/>
            <a:ext cx="6219426" cy="7151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dirty="0">
                <a:solidFill>
                  <a:schemeClr val="dk1"/>
                </a:solidFill>
                <a:ea typeface="Consolas"/>
                <a:cs typeface="Consolas"/>
                <a:sym typeface="Consolas"/>
              </a:rPr>
              <a:t>Introduzione ai decoratori</a:t>
            </a:r>
            <a:endParaRPr sz="1600" b="1" i="0" u="none" strike="noStrike" cap="none" dirty="0">
              <a:solidFill>
                <a:schemeClr val="dk1"/>
              </a:solidFill>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65" name="Google Shape;165;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22</a:t>
            </a:fld>
            <a:endParaRPr/>
          </a:p>
        </p:txBody>
      </p:sp>
      <p:sp>
        <p:nvSpPr>
          <p:cNvPr id="166" name="Google Shape;166;p25"/>
          <p:cNvSpPr txBox="1"/>
          <p:nvPr/>
        </p:nvSpPr>
        <p:spPr>
          <a:xfrm>
            <a:off x="192344" y="1247635"/>
            <a:ext cx="2589967" cy="35086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dirty="0">
                <a:solidFill>
                  <a:schemeClr val="dk1"/>
                </a:solidFill>
                <a:latin typeface="Arial"/>
                <a:ea typeface="Arial"/>
                <a:cs typeface="Arial"/>
                <a:sym typeface="Arial"/>
              </a:rPr>
              <a:t>Un </a:t>
            </a:r>
            <a:r>
              <a:rPr lang="it-IT" sz="1800" b="0" i="1" u="none" strike="noStrike" cap="none" baseline="30000" dirty="0">
                <a:solidFill>
                  <a:schemeClr val="dk1"/>
                </a:solidFill>
                <a:latin typeface="Arial"/>
                <a:ea typeface="Arial"/>
                <a:cs typeface="Arial"/>
                <a:sym typeface="Arial"/>
              </a:rPr>
              <a:t>Decorator</a:t>
            </a:r>
            <a:r>
              <a:rPr lang="it-IT" sz="1800" b="0" i="0" u="none" strike="noStrike" cap="none" baseline="30000" dirty="0">
                <a:solidFill>
                  <a:schemeClr val="dk1"/>
                </a:solidFill>
                <a:latin typeface="Arial"/>
                <a:ea typeface="Arial"/>
                <a:cs typeface="Arial"/>
                <a:sym typeface="Arial"/>
              </a:rPr>
              <a:t> è un tipo speciale di dichiarazione che può essere allegata a una dichiarazione di classe , metodo ,funzione di accesso , proprietà o parametro . I decoratori usano il modulo @</a:t>
            </a:r>
            <a:r>
              <a:rPr lang="it-IT" sz="1800" b="0" i="0" u="none" strike="noStrike" cap="none" baseline="30000" dirty="0" err="1">
                <a:solidFill>
                  <a:schemeClr val="dk1"/>
                </a:solidFill>
                <a:latin typeface="Arial"/>
                <a:ea typeface="Arial"/>
                <a:cs typeface="Arial"/>
                <a:sym typeface="Arial"/>
              </a:rPr>
              <a:t>expression</a:t>
            </a:r>
            <a:r>
              <a:rPr lang="it-IT" sz="1800" b="0" i="0" u="none" strike="noStrike" cap="none" baseline="30000" dirty="0">
                <a:solidFill>
                  <a:schemeClr val="dk1"/>
                </a:solidFill>
                <a:latin typeface="Arial"/>
                <a:ea typeface="Arial"/>
                <a:cs typeface="Arial"/>
                <a:sym typeface="Arial"/>
              </a:rPr>
              <a:t>, dove </a:t>
            </a:r>
            <a:r>
              <a:rPr lang="it-IT" sz="1800" b="0" i="0" u="none" strike="noStrike" cap="none" baseline="30000" dirty="0" err="1">
                <a:solidFill>
                  <a:schemeClr val="dk1"/>
                </a:solidFill>
                <a:latin typeface="Arial"/>
                <a:ea typeface="Arial"/>
                <a:cs typeface="Arial"/>
                <a:sym typeface="Arial"/>
              </a:rPr>
              <a:t>expression</a:t>
            </a:r>
            <a:r>
              <a:rPr lang="it-IT" sz="1800" b="0" i="0" u="none" strike="noStrike" cap="none" baseline="30000" dirty="0">
                <a:solidFill>
                  <a:schemeClr val="dk1"/>
                </a:solidFill>
                <a:latin typeface="Arial"/>
                <a:ea typeface="Arial"/>
                <a:cs typeface="Arial"/>
                <a:sym typeface="Arial"/>
              </a:rPr>
              <a:t> restituisce una funzione che verrà chiamata in fase di esecuzione con informazioni sulla dichiarazione decorata.</a:t>
            </a: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dirty="0">
              <a:solidFill>
                <a:schemeClr val="dk1"/>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1800"/>
              <a:buFont typeface="Arial"/>
              <a:buNone/>
            </a:pPr>
            <a:endParaRPr sz="1800" b="0" i="0" u="none" strike="noStrike" cap="none" baseline="30000" dirty="0">
              <a:solidFill>
                <a:srgbClr val="000000"/>
              </a:solidFill>
              <a:latin typeface="Arial"/>
              <a:ea typeface="Arial"/>
              <a:cs typeface="Arial"/>
              <a:sym typeface="Arial"/>
            </a:endParaRPr>
          </a:p>
          <a:p>
            <a:pPr marL="495300" marR="0" lvl="0" indent="-215900" algn="l" rtl="0">
              <a:lnSpc>
                <a:spcPct val="100000"/>
              </a:lnSpc>
              <a:spcBef>
                <a:spcPts val="0"/>
              </a:spcBef>
              <a:spcAft>
                <a:spcPts val="0"/>
              </a:spcAft>
              <a:buClr>
                <a:srgbClr val="000000"/>
              </a:buClr>
              <a:buSzPts val="2000"/>
              <a:buFont typeface="Arial"/>
              <a:buNone/>
            </a:pPr>
            <a:endParaRPr sz="2000" b="0" i="0" u="none" strike="noStrike" cap="none" baseline="30000" dirty="0">
              <a:solidFill>
                <a:srgbClr val="000000"/>
              </a:solidFill>
              <a:latin typeface="Arial"/>
              <a:ea typeface="Arial"/>
              <a:cs typeface="Arial"/>
              <a:sym typeface="Arial"/>
            </a:endParaRPr>
          </a:p>
          <a:p>
            <a:pPr marL="152400" marR="0" lvl="0" indent="0" algn="l" rtl="0">
              <a:lnSpc>
                <a:spcPct val="100000"/>
              </a:lnSpc>
              <a:spcBef>
                <a:spcPts val="0"/>
              </a:spcBef>
              <a:spcAft>
                <a:spcPts val="0"/>
              </a:spcAft>
              <a:buClr>
                <a:srgbClr val="000000"/>
              </a:buClr>
              <a:buSzPts val="2000"/>
              <a:buFont typeface="Arial"/>
              <a:buNone/>
            </a:pPr>
            <a:endParaRPr sz="20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645AD"/>
              </a:solidFill>
              <a:latin typeface="Arial"/>
              <a:ea typeface="Arial"/>
              <a:cs typeface="Arial"/>
              <a:sym typeface="Arial"/>
            </a:endParaRPr>
          </a:p>
        </p:txBody>
      </p:sp>
      <p:sp>
        <p:nvSpPr>
          <p:cNvPr id="167" name="Google Shape;167;p25"/>
          <p:cNvSpPr txBox="1"/>
          <p:nvPr/>
        </p:nvSpPr>
        <p:spPr>
          <a:xfrm>
            <a:off x="6252636" y="1551474"/>
            <a:ext cx="2765700" cy="529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Esempio:</a:t>
            </a:r>
            <a:endParaRPr sz="12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function Logger(constructor: Function)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console.log('Logging...');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console.log(constructor);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@Logger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class Person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name = 'Max';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constructor()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console.log('Creating person);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const pers = new Person();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  console.log(pers);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it-IT" sz="1400" b="0" i="0" u="none" strike="noStrike" cap="none" dirty="0">
                <a:latin typeface="Arial"/>
                <a:ea typeface="Arial"/>
                <a:cs typeface="Arial"/>
              </a:rPr>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Consolas"/>
              <a:ea typeface="Consolas"/>
              <a:cs typeface="Consolas"/>
              <a:sym typeface="Consolas"/>
            </a:endParaRPr>
          </a:p>
        </p:txBody>
      </p:sp>
      <p:sp>
        <p:nvSpPr>
          <p:cNvPr id="168" name="Google Shape;168;p25"/>
          <p:cNvSpPr txBox="1"/>
          <p:nvPr/>
        </p:nvSpPr>
        <p:spPr>
          <a:xfrm>
            <a:off x="3252614" y="1946933"/>
            <a:ext cx="2743200"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chemeClr val="dk1"/>
                </a:solidFill>
                <a:latin typeface="Arial"/>
                <a:ea typeface="Arial"/>
                <a:cs typeface="Arial"/>
                <a:sym typeface="Arial"/>
              </a:rPr>
              <a:t>"compilerOptions":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chemeClr val="dk1"/>
                </a:solidFill>
                <a:latin typeface="Arial"/>
                <a:ea typeface="Arial"/>
                <a:cs typeface="Arial"/>
                <a:sym typeface="Arial"/>
              </a:rPr>
              <a:t>"target": "Es6",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chemeClr val="dk1"/>
                </a:solidFill>
                <a:latin typeface="Arial"/>
                <a:ea typeface="Arial"/>
                <a:cs typeface="Arial"/>
                <a:sym typeface="Arial"/>
              </a:rPr>
              <a:t>"experimentalDecorators": true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69" name="Google Shape;169;p25"/>
          <p:cNvSpPr txBox="1"/>
          <p:nvPr/>
        </p:nvSpPr>
        <p:spPr>
          <a:xfrm>
            <a:off x="3087181" y="1497136"/>
            <a:ext cx="2743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a:solidFill>
                  <a:srgbClr val="FF0000"/>
                </a:solidFill>
                <a:latin typeface="Consolas"/>
                <a:ea typeface="Consolas"/>
                <a:cs typeface="Consolas"/>
                <a:sym typeface="Consolas"/>
              </a:rPr>
              <a:t> </a:t>
            </a:r>
            <a:r>
              <a:rPr lang="it-IT" sz="1400" b="0" i="0" u="none" strike="noStrike" cap="none">
                <a:solidFill>
                  <a:srgbClr val="FF0000"/>
                </a:solidFill>
                <a:latin typeface="Open Sans"/>
                <a:ea typeface="Open Sans"/>
                <a:cs typeface="Open Sans"/>
                <a:sym typeface="Open Sans"/>
              </a:rPr>
              <a:t> Configurazione</a:t>
            </a:r>
            <a:endParaRPr sz="1200" b="0" i="0" u="none" strike="noStrike" cap="none">
              <a:solidFill>
                <a:srgbClr val="000000"/>
              </a:solidFill>
              <a:latin typeface="Open Sans"/>
              <a:ea typeface="Open Sans"/>
              <a:cs typeface="Open Sans"/>
              <a:sym typeface="Open Sans"/>
            </a:endParaRPr>
          </a:p>
        </p:txBody>
      </p:sp>
      <p:sp>
        <p:nvSpPr>
          <p:cNvPr id="170" name="Google Shape;170;p25"/>
          <p:cNvSpPr txBox="1"/>
          <p:nvPr/>
        </p:nvSpPr>
        <p:spPr>
          <a:xfrm flipH="1">
            <a:off x="3373354" y="3147229"/>
            <a:ext cx="274319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23</a:t>
            </a:fld>
            <a:endParaRPr/>
          </a:p>
        </p:txBody>
      </p:sp>
      <p:sp>
        <p:nvSpPr>
          <p:cNvPr id="3" name="CasellaDiTesto 2">
            <a:extLst>
              <a:ext uri="{FF2B5EF4-FFF2-40B4-BE49-F238E27FC236}">
                <a16:creationId xmlns:a16="http://schemas.microsoft.com/office/drawing/2014/main" id="{1521A94C-1D3B-470D-8EC9-A39304C0A4FF}"/>
              </a:ext>
            </a:extLst>
          </p:cNvPr>
          <p:cNvSpPr txBox="1"/>
          <p:nvPr/>
        </p:nvSpPr>
        <p:spPr>
          <a:xfrm>
            <a:off x="222161" y="156807"/>
            <a:ext cx="2743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800" b="1" dirty="0" err="1"/>
              <a:t>Typescript</a:t>
            </a:r>
            <a:endParaRPr lang="it-IT" sz="1800" b="1" dirty="0"/>
          </a:p>
          <a:p>
            <a:endParaRPr lang="it-IT" dirty="0"/>
          </a:p>
        </p:txBody>
      </p:sp>
      <p:sp>
        <p:nvSpPr>
          <p:cNvPr id="5" name="CasellaDiTesto 4">
            <a:extLst>
              <a:ext uri="{FF2B5EF4-FFF2-40B4-BE49-F238E27FC236}">
                <a16:creationId xmlns:a16="http://schemas.microsoft.com/office/drawing/2014/main" id="{0BD843A5-F1E9-467C-B2F4-D5EF6F9E3B04}"/>
              </a:ext>
            </a:extLst>
          </p:cNvPr>
          <p:cNvSpPr txBox="1"/>
          <p:nvPr/>
        </p:nvSpPr>
        <p:spPr>
          <a:xfrm>
            <a:off x="258382" y="741582"/>
            <a:ext cx="26707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it-IT" sz="1600" b="1" dirty="0"/>
              <a:t>Decoratori</a:t>
            </a:r>
          </a:p>
        </p:txBody>
      </p:sp>
      <p:pic>
        <p:nvPicPr>
          <p:cNvPr id="4" name="Immagine 5" descr="Immagine che contiene testo, screenshot, monitor, schermo&#10;&#10;Descrizione generata automaticamente">
            <a:extLst>
              <a:ext uri="{FF2B5EF4-FFF2-40B4-BE49-F238E27FC236}">
                <a16:creationId xmlns:a16="http://schemas.microsoft.com/office/drawing/2014/main" id="{AD7BB7F7-75C6-4EEE-B490-AE0787283533}"/>
              </a:ext>
            </a:extLst>
          </p:cNvPr>
          <p:cNvPicPr>
            <a:picLocks noChangeAspect="1"/>
          </p:cNvPicPr>
          <p:nvPr/>
        </p:nvPicPr>
        <p:blipFill>
          <a:blip r:embed="rId3"/>
          <a:stretch>
            <a:fillRect/>
          </a:stretch>
        </p:blipFill>
        <p:spPr>
          <a:xfrm>
            <a:off x="358999" y="1285965"/>
            <a:ext cx="5916754" cy="3408340"/>
          </a:xfrm>
          <a:prstGeom prst="rect">
            <a:avLst/>
          </a:prstGeom>
        </p:spPr>
      </p:pic>
    </p:spTree>
    <p:extLst>
      <p:ext uri="{BB962C8B-B14F-4D97-AF65-F5344CB8AC3E}">
        <p14:creationId xmlns:p14="http://schemas.microsoft.com/office/powerpoint/2010/main" val="2879877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6" name="Google Shape;1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24</a:t>
            </a:fld>
            <a:endParaRPr/>
          </a:p>
        </p:txBody>
      </p:sp>
      <p:sp>
        <p:nvSpPr>
          <p:cNvPr id="2" name="CasellaDiTesto 1">
            <a:extLst>
              <a:ext uri="{FF2B5EF4-FFF2-40B4-BE49-F238E27FC236}">
                <a16:creationId xmlns:a16="http://schemas.microsoft.com/office/drawing/2014/main" id="{FAD29A0A-63C1-4C70-AD17-804276066539}"/>
              </a:ext>
            </a:extLst>
          </p:cNvPr>
          <p:cNvSpPr txBox="1"/>
          <p:nvPr/>
        </p:nvSpPr>
        <p:spPr>
          <a:xfrm>
            <a:off x="2578476" y="2267510"/>
            <a:ext cx="671848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800" dirty="0" err="1"/>
              <a:t>Typescript</a:t>
            </a:r>
            <a:r>
              <a:rPr lang="it-IT" sz="2800" dirty="0"/>
              <a:t> lato server</a:t>
            </a:r>
          </a:p>
        </p:txBody>
      </p:sp>
    </p:spTree>
    <p:extLst>
      <p:ext uri="{BB962C8B-B14F-4D97-AF65-F5344CB8AC3E}">
        <p14:creationId xmlns:p14="http://schemas.microsoft.com/office/powerpoint/2010/main" val="29099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7" name="Google Shape;177;p26"/>
          <p:cNvSpPr txBox="1"/>
          <p:nvPr/>
        </p:nvSpPr>
        <p:spPr>
          <a:xfrm>
            <a:off x="309373" y="565290"/>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a:solidFill>
                  <a:schemeClr val="dk1"/>
                </a:solidFill>
                <a:latin typeface="Open Sans"/>
                <a:ea typeface="Open Sans"/>
                <a:cs typeface="Open Sans"/>
                <a:sym typeface="Open Sans"/>
              </a:rPr>
              <a:t>Typescript</a:t>
            </a:r>
            <a:endParaRPr sz="2400" b="1" i="0" u="none" strike="noStrike" cap="none">
              <a:solidFill>
                <a:schemeClr val="dk1"/>
              </a:solidFill>
              <a:latin typeface="Open Sans"/>
              <a:ea typeface="Open Sans"/>
              <a:cs typeface="Open Sans"/>
              <a:sym typeface="Open Sans"/>
            </a:endParaRPr>
          </a:p>
        </p:txBody>
      </p:sp>
      <p:sp>
        <p:nvSpPr>
          <p:cNvPr id="178" name="Google Shape;178;p26"/>
          <p:cNvSpPr txBox="1"/>
          <p:nvPr/>
        </p:nvSpPr>
        <p:spPr>
          <a:xfrm>
            <a:off x="354934" y="1136115"/>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a:solidFill>
                  <a:schemeClr val="dk1"/>
                </a:solidFill>
                <a:ea typeface="Consolas"/>
                <a:cs typeface="Consolas"/>
                <a:sym typeface="Consolas"/>
              </a:rPr>
              <a:t>Introduzione al Json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79" name="Google Shape;179;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25</a:t>
            </a:fld>
            <a:endParaRPr/>
          </a:p>
        </p:txBody>
      </p:sp>
      <p:sp>
        <p:nvSpPr>
          <p:cNvPr id="180" name="Google Shape;180;p26"/>
          <p:cNvSpPr txBox="1"/>
          <p:nvPr/>
        </p:nvSpPr>
        <p:spPr>
          <a:xfrm>
            <a:off x="238169" y="1561926"/>
            <a:ext cx="2582400" cy="343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it-IT" sz="2200" b="0" i="0" u="none" strike="noStrike" cap="none" baseline="30000" dirty="0" err="1">
                <a:solidFill>
                  <a:srgbClr val="FF0000"/>
                </a:solidFill>
                <a:latin typeface="Arial"/>
                <a:ea typeface="Arial"/>
                <a:cs typeface="Arial"/>
                <a:sym typeface="Arial"/>
              </a:rPr>
              <a:t>Json</a:t>
            </a:r>
            <a:endParaRPr sz="20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it-IT" sz="1900" b="0" i="0" u="none" strike="noStrike" cap="none" baseline="30000" dirty="0">
                <a:solidFill>
                  <a:srgbClr val="000000"/>
                </a:solidFill>
                <a:latin typeface="Arial"/>
                <a:ea typeface="Arial"/>
                <a:cs typeface="Arial"/>
                <a:sym typeface="Arial"/>
              </a:rPr>
              <a:t>I </a:t>
            </a:r>
            <a:r>
              <a:rPr lang="it-IT" sz="1900" b="0" i="0" u="none" strike="noStrike" cap="none" baseline="30000" dirty="0" err="1">
                <a:solidFill>
                  <a:srgbClr val="000000"/>
                </a:solidFill>
                <a:latin typeface="Arial"/>
                <a:ea typeface="Arial"/>
                <a:cs typeface="Arial"/>
                <a:sym typeface="Arial"/>
              </a:rPr>
              <a:t>json</a:t>
            </a:r>
            <a:r>
              <a:rPr lang="it-IT" sz="1900" b="0" i="0" u="none" strike="noStrike" cap="none" baseline="30000" dirty="0">
                <a:solidFill>
                  <a:srgbClr val="000000"/>
                </a:solidFill>
                <a:latin typeface="Arial"/>
                <a:ea typeface="Arial"/>
                <a:cs typeface="Arial"/>
                <a:sym typeface="Arial"/>
              </a:rPr>
              <a:t> sono oggetti definiti da chiave e valore racchiusi tra parentesi graffe utilizzati per l'archiviazione e lo scambio di dati.</a:t>
            </a:r>
            <a:endParaRPr sz="17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it-IT" sz="1900" b="0" i="0" u="none" strike="noStrike" cap="none" baseline="30000" dirty="0">
                <a:solidFill>
                  <a:srgbClr val="000000"/>
                </a:solidFill>
                <a:latin typeface="Arial"/>
                <a:ea typeface="Arial"/>
                <a:cs typeface="Arial"/>
                <a:sym typeface="Arial"/>
              </a:rPr>
              <a:t>Esempio di dati </a:t>
            </a:r>
            <a:r>
              <a:rPr lang="it-IT" sz="1900" b="0" i="0" u="none" strike="noStrike" cap="none" baseline="30000" dirty="0" err="1">
                <a:solidFill>
                  <a:srgbClr val="000000"/>
                </a:solidFill>
                <a:latin typeface="Arial"/>
                <a:ea typeface="Arial"/>
                <a:cs typeface="Arial"/>
                <a:sym typeface="Arial"/>
              </a:rPr>
              <a:t>json</a:t>
            </a:r>
            <a:r>
              <a:rPr lang="it-IT" sz="1900" b="0" i="0" u="none" strike="noStrike" cap="none" baseline="30000" dirty="0">
                <a:solidFill>
                  <a:srgbClr val="000000"/>
                </a:solidFill>
                <a:latin typeface="Arial"/>
                <a:ea typeface="Arial"/>
                <a:cs typeface="Arial"/>
                <a:sym typeface="Arial"/>
              </a:rPr>
              <a:t>: '{"</a:t>
            </a:r>
            <a:r>
              <a:rPr lang="it-IT" sz="1900" b="0" i="0" u="none" strike="noStrike" cap="none" baseline="30000" dirty="0" err="1">
                <a:solidFill>
                  <a:srgbClr val="000000"/>
                </a:solidFill>
                <a:latin typeface="Arial"/>
                <a:ea typeface="Arial"/>
                <a:cs typeface="Arial"/>
                <a:sym typeface="Arial"/>
              </a:rPr>
              <a:t>name":"John</a:t>
            </a:r>
            <a:r>
              <a:rPr lang="it-IT" sz="1900" b="0" i="0" u="none" strike="noStrike" cap="none" baseline="30000" dirty="0">
                <a:solidFill>
                  <a:srgbClr val="000000"/>
                </a:solidFill>
                <a:latin typeface="Arial"/>
                <a:ea typeface="Arial"/>
                <a:cs typeface="Arial"/>
                <a:sym typeface="Arial"/>
              </a:rPr>
              <a:t>", "age":31, "</a:t>
            </a:r>
            <a:r>
              <a:rPr lang="it-IT" sz="1900" b="0" i="0" u="none" strike="noStrike" cap="none" baseline="30000" dirty="0" err="1">
                <a:solidFill>
                  <a:srgbClr val="000000"/>
                </a:solidFill>
                <a:latin typeface="Arial"/>
                <a:ea typeface="Arial"/>
                <a:cs typeface="Arial"/>
                <a:sym typeface="Arial"/>
              </a:rPr>
              <a:t>city":"New</a:t>
            </a:r>
            <a:r>
              <a:rPr lang="it-IT" sz="1900" b="0" i="0" u="none" strike="noStrike" cap="none" baseline="30000" dirty="0">
                <a:solidFill>
                  <a:srgbClr val="000000"/>
                </a:solidFill>
                <a:latin typeface="Arial"/>
                <a:ea typeface="Arial"/>
                <a:cs typeface="Arial"/>
                <a:sym typeface="Arial"/>
              </a:rPr>
              <a:t> York"}'.</a:t>
            </a:r>
            <a:endParaRPr sz="19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645AD"/>
              </a:solidFill>
              <a:latin typeface="Arial"/>
              <a:ea typeface="Arial"/>
              <a:cs typeface="Arial"/>
              <a:sym typeface="Arial"/>
            </a:endParaRPr>
          </a:p>
        </p:txBody>
      </p:sp>
      <p:sp>
        <p:nvSpPr>
          <p:cNvPr id="181" name="Google Shape;181;p26"/>
          <p:cNvSpPr txBox="1"/>
          <p:nvPr/>
        </p:nvSpPr>
        <p:spPr>
          <a:xfrm>
            <a:off x="3393261" y="1561926"/>
            <a:ext cx="2743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0" i="0" u="none" strike="noStrike" cap="none">
                <a:solidFill>
                  <a:srgbClr val="FF0000"/>
                </a:solidFill>
                <a:latin typeface="Open Sans"/>
                <a:ea typeface="Open Sans"/>
                <a:cs typeface="Open Sans"/>
                <a:sym typeface="Open Sans"/>
              </a:rPr>
              <a:t>Regole di sintassi</a:t>
            </a:r>
            <a:endParaRPr sz="1200" b="0" i="0" u="none" strike="noStrike" cap="none">
              <a:solidFill>
                <a:srgbClr val="000000"/>
              </a:solidFill>
              <a:latin typeface="Open Sans"/>
              <a:ea typeface="Open Sans"/>
              <a:cs typeface="Open Sans"/>
              <a:sym typeface="Open Sans"/>
            </a:endParaRPr>
          </a:p>
        </p:txBody>
      </p:sp>
      <p:sp>
        <p:nvSpPr>
          <p:cNvPr id="182" name="Google Shape;182;p26"/>
          <p:cNvSpPr txBox="1"/>
          <p:nvPr/>
        </p:nvSpPr>
        <p:spPr>
          <a:xfrm>
            <a:off x="3391146" y="1915054"/>
            <a:ext cx="2743199" cy="38625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a:solidFill>
                  <a:srgbClr val="000000"/>
                </a:solidFill>
                <a:latin typeface="Arial"/>
                <a:ea typeface="Arial"/>
                <a:cs typeface="Arial"/>
                <a:sym typeface="Arial"/>
              </a:rPr>
              <a:t>La sintassi JSON deriva dalla sintassi della notazione degli oggetti JavaScript: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Arial"/>
              <a:buChar char="•"/>
            </a:pPr>
            <a:r>
              <a:rPr lang="it-IT" sz="1200" b="0" i="0" u="none" strike="noStrike" cap="none">
                <a:solidFill>
                  <a:srgbClr val="000000"/>
                </a:solidFill>
                <a:latin typeface="Arial"/>
                <a:ea typeface="Arial"/>
                <a:cs typeface="Arial"/>
                <a:sym typeface="Arial"/>
              </a:rPr>
              <a:t> I dati sono in coppie nome / valore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Arial"/>
              <a:buChar char="•"/>
            </a:pPr>
            <a:r>
              <a:rPr lang="it-IT" sz="1200" b="0" i="0" u="none" strike="noStrike" cap="none">
                <a:solidFill>
                  <a:srgbClr val="000000"/>
                </a:solidFill>
                <a:latin typeface="Arial"/>
                <a:ea typeface="Arial"/>
                <a:cs typeface="Arial"/>
                <a:sym typeface="Arial"/>
              </a:rPr>
              <a:t> I dati sono separati da virgole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Arial"/>
              <a:buChar char="•"/>
            </a:pPr>
            <a:r>
              <a:rPr lang="it-IT" sz="1200" b="0" i="0" u="none" strike="noStrike" cap="none">
                <a:solidFill>
                  <a:srgbClr val="000000"/>
                </a:solidFill>
                <a:latin typeface="Arial"/>
                <a:ea typeface="Arial"/>
                <a:cs typeface="Arial"/>
                <a:sym typeface="Arial"/>
              </a:rPr>
              <a:t> Le parentesi graffe ricci tengono gli oggetti.</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Arial"/>
              <a:buChar char="•"/>
            </a:pPr>
            <a:r>
              <a:rPr lang="it-IT" sz="1200" b="0" i="0" u="none" strike="noStrike" cap="none">
                <a:solidFill>
                  <a:srgbClr val="000000"/>
                </a:solidFill>
                <a:latin typeface="Arial"/>
                <a:ea typeface="Arial"/>
                <a:cs typeface="Arial"/>
                <a:sym typeface="Arial"/>
              </a:rPr>
              <a:t> Le parentesi quadre contengono gli array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it-IT" sz="1400" b="0" i="0" u="none" strike="noStrike" cap="none">
                <a:solidFill>
                  <a:srgbClr val="000000"/>
                </a:solidFill>
                <a:latin typeface="Arial"/>
                <a:ea typeface="Arial"/>
                <a:cs typeface="Arial"/>
                <a:sym typeface="Arial"/>
              </a:rPr>
            </a:br>
            <a:br>
              <a:rPr lang="it-IT"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3" name="Google Shape;183;p26"/>
          <p:cNvSpPr txBox="1"/>
          <p:nvPr/>
        </p:nvSpPr>
        <p:spPr>
          <a:xfrm>
            <a:off x="6403808" y="1839327"/>
            <a:ext cx="2743199" cy="17851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it-IT" sz="1100" b="0" i="0" u="none" strike="noStrike" cap="none">
                <a:solidFill>
                  <a:srgbClr val="000000"/>
                </a:solidFill>
                <a:latin typeface="Arial"/>
                <a:ea typeface="Arial"/>
                <a:cs typeface="Arial"/>
                <a:sym typeface="Arial"/>
              </a:rPr>
              <a:t>In JSON , i valori devono essere uno dei seguenti tipi di dati: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1100"/>
              <a:buFont typeface="Arial"/>
              <a:buChar char="•"/>
            </a:pPr>
            <a:r>
              <a:rPr lang="it-IT" sz="1100" b="0" i="0" u="none" strike="noStrike" cap="none">
                <a:solidFill>
                  <a:srgbClr val="000000"/>
                </a:solidFill>
                <a:latin typeface="Arial"/>
                <a:ea typeface="Arial"/>
                <a:cs typeface="Arial"/>
                <a:sym typeface="Arial"/>
              </a:rPr>
              <a:t> una stringa</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1100"/>
              <a:buFont typeface="Arial"/>
              <a:buChar char="•"/>
            </a:pPr>
            <a:r>
              <a:rPr lang="it-IT" sz="1100" b="0" i="0" u="none" strike="noStrike" cap="none">
                <a:solidFill>
                  <a:srgbClr val="000000"/>
                </a:solidFill>
                <a:latin typeface="Arial"/>
                <a:ea typeface="Arial"/>
                <a:cs typeface="Arial"/>
                <a:sym typeface="Arial"/>
              </a:rPr>
              <a:t> un numero</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1100"/>
              <a:buFont typeface="Arial"/>
              <a:buChar char="•"/>
            </a:pPr>
            <a:r>
              <a:rPr lang="it-IT" sz="1100" b="0" i="0" u="none" strike="noStrike" cap="none">
                <a:solidFill>
                  <a:srgbClr val="000000"/>
                </a:solidFill>
                <a:latin typeface="Arial"/>
                <a:ea typeface="Arial"/>
                <a:cs typeface="Arial"/>
                <a:sym typeface="Arial"/>
              </a:rPr>
              <a:t> un oggetto (oggetto JSON)</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1100"/>
              <a:buFont typeface="Arial"/>
              <a:buChar char="•"/>
            </a:pPr>
            <a:r>
              <a:rPr lang="it-IT" sz="1100" b="0" i="0" u="none" strike="noStrike" cap="none">
                <a:solidFill>
                  <a:srgbClr val="000000"/>
                </a:solidFill>
                <a:latin typeface="Arial"/>
                <a:ea typeface="Arial"/>
                <a:cs typeface="Arial"/>
                <a:sym typeface="Arial"/>
              </a:rPr>
              <a:t> un array</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1100"/>
              <a:buFont typeface="Arial"/>
              <a:buChar char="•"/>
            </a:pPr>
            <a:r>
              <a:rPr lang="it-IT" sz="1100" b="0" i="0" u="none" strike="noStrike" cap="none">
                <a:solidFill>
                  <a:srgbClr val="000000"/>
                </a:solidFill>
                <a:latin typeface="Arial"/>
                <a:ea typeface="Arial"/>
                <a:cs typeface="Arial"/>
                <a:sym typeface="Arial"/>
              </a:rPr>
              <a:t> un booleano</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0"/>
              </a:spcBef>
              <a:spcAft>
                <a:spcPts val="0"/>
              </a:spcAft>
              <a:buClr>
                <a:srgbClr val="000000"/>
              </a:buClr>
              <a:buSzPts val="1100"/>
              <a:buFont typeface="Arial"/>
              <a:buChar char="•"/>
            </a:pPr>
            <a:r>
              <a:rPr lang="it-IT" sz="1100" b="0" i="0" u="none" strike="noStrike" cap="none">
                <a:solidFill>
                  <a:srgbClr val="000000"/>
                </a:solidFill>
                <a:latin typeface="Arial"/>
                <a:ea typeface="Arial"/>
                <a:cs typeface="Arial"/>
                <a:sym typeface="Arial"/>
              </a:rPr>
              <a:t> nullo</a:t>
            </a:r>
            <a:endParaRPr sz="1400" b="0" i="0" u="none" strike="noStrike" cap="none">
              <a:solidFill>
                <a:srgbClr val="000000"/>
              </a:solidFill>
              <a:latin typeface="Arial"/>
              <a:ea typeface="Arial"/>
              <a:cs typeface="Arial"/>
              <a:sym typeface="Arial"/>
            </a:endParaRPr>
          </a:p>
        </p:txBody>
      </p:sp>
      <p:sp>
        <p:nvSpPr>
          <p:cNvPr id="184" name="Google Shape;184;p26"/>
          <p:cNvSpPr txBox="1"/>
          <p:nvPr/>
        </p:nvSpPr>
        <p:spPr>
          <a:xfrm>
            <a:off x="6360807" y="1562050"/>
            <a:ext cx="274319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1" i="0" u="none" strike="noStrike" cap="none">
                <a:solidFill>
                  <a:srgbClr val="FF0000"/>
                </a:solidFill>
                <a:latin typeface="Arial"/>
                <a:ea typeface="Arial"/>
                <a:cs typeface="Arial"/>
                <a:sym typeface="Arial"/>
              </a:rPr>
              <a:t> </a:t>
            </a:r>
            <a:r>
              <a:rPr lang="it-IT" sz="1400" b="0" i="0" u="none" strike="noStrike" cap="none">
                <a:solidFill>
                  <a:srgbClr val="FF0000"/>
                </a:solidFill>
                <a:latin typeface="Open Sans"/>
                <a:ea typeface="Open Sans"/>
                <a:cs typeface="Open Sans"/>
                <a:sym typeface="Open Sans"/>
              </a:rPr>
              <a:t>Valori Json</a:t>
            </a:r>
            <a:endParaRPr sz="1400" b="0" i="0" u="none" strike="noStrike" cap="none">
              <a:solidFill>
                <a:srgbClr val="FF0000"/>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1" name="Google Shape;191;p27"/>
          <p:cNvSpPr txBox="1"/>
          <p:nvPr/>
        </p:nvSpPr>
        <p:spPr>
          <a:xfrm>
            <a:off x="272960" y="118383"/>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dirty="0" err="1">
                <a:solidFill>
                  <a:schemeClr val="dk1"/>
                </a:solidFill>
                <a:latin typeface="Open Sans"/>
                <a:ea typeface="Open Sans"/>
                <a:cs typeface="Open Sans"/>
                <a:sym typeface="Open Sans"/>
              </a:rPr>
              <a:t>Typescript</a:t>
            </a:r>
            <a:endParaRPr sz="2400" b="1" i="0" u="none" strike="noStrike" cap="none" dirty="0">
              <a:solidFill>
                <a:schemeClr val="dk1"/>
              </a:solidFill>
              <a:latin typeface="Open Sans"/>
              <a:ea typeface="Open Sans"/>
              <a:cs typeface="Open Sans"/>
              <a:sym typeface="Open Sans"/>
            </a:endParaRPr>
          </a:p>
        </p:txBody>
      </p:sp>
      <p:sp>
        <p:nvSpPr>
          <p:cNvPr id="192" name="Google Shape;192;p27"/>
          <p:cNvSpPr txBox="1"/>
          <p:nvPr/>
        </p:nvSpPr>
        <p:spPr>
          <a:xfrm>
            <a:off x="272960" y="699824"/>
            <a:ext cx="6219426" cy="17720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dirty="0" err="1">
                <a:solidFill>
                  <a:schemeClr val="dk1"/>
                </a:solidFill>
                <a:ea typeface="Consolas"/>
                <a:cs typeface="Consolas"/>
                <a:sym typeface="Consolas"/>
              </a:rPr>
              <a:t>Ecmascript</a:t>
            </a:r>
            <a:r>
              <a:rPr lang="it-IT" sz="1600" b="1" i="0" u="none" strike="noStrike" cap="none" dirty="0">
                <a:solidFill>
                  <a:schemeClr val="dk1"/>
                </a:solidFill>
                <a:ea typeface="Consolas"/>
                <a:cs typeface="Consolas"/>
                <a:sym typeface="Consolas"/>
              </a:rPr>
              <a:t> lato server </a:t>
            </a:r>
            <a:r>
              <a:rPr lang="it-IT" sz="1600" b="0" i="0" u="none" strike="noStrike" cap="none" dirty="0">
                <a:solidFill>
                  <a:schemeClr val="dk1"/>
                </a:solidFill>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193" name="Google Shape;193;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26</a:t>
            </a:fld>
            <a:endParaRPr/>
          </a:p>
        </p:txBody>
      </p:sp>
      <p:sp>
        <p:nvSpPr>
          <p:cNvPr id="194" name="Google Shape;194;p27"/>
          <p:cNvSpPr txBox="1"/>
          <p:nvPr/>
        </p:nvSpPr>
        <p:spPr>
          <a:xfrm>
            <a:off x="126419" y="1094962"/>
            <a:ext cx="5733169" cy="20312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it-IT" sz="2100" b="0" i="0" u="none" strike="noStrike" cap="none" baseline="30000" dirty="0" err="1">
                <a:solidFill>
                  <a:srgbClr val="FF0000"/>
                </a:solidFill>
                <a:latin typeface="Arial"/>
                <a:ea typeface="Arial"/>
                <a:cs typeface="Arial"/>
                <a:sym typeface="Arial"/>
              </a:rPr>
              <a:t>Async</a:t>
            </a:r>
            <a:r>
              <a:rPr lang="it-IT" sz="2100" b="0" i="0" u="none" strike="noStrike" cap="none" baseline="30000" dirty="0">
                <a:solidFill>
                  <a:srgbClr val="FF0000"/>
                </a:solidFill>
                <a:latin typeface="Arial"/>
                <a:ea typeface="Arial"/>
                <a:cs typeface="Arial"/>
                <a:sym typeface="Arial"/>
              </a:rPr>
              <a:t> </a:t>
            </a:r>
            <a:r>
              <a:rPr lang="it-IT" sz="2100" b="0" i="0" u="none" strike="noStrike" cap="none" baseline="30000" dirty="0" err="1">
                <a:solidFill>
                  <a:srgbClr val="FF0000"/>
                </a:solidFill>
                <a:latin typeface="Arial"/>
                <a:ea typeface="Arial"/>
                <a:cs typeface="Arial"/>
                <a:sym typeface="Arial"/>
              </a:rPr>
              <a:t>await</a:t>
            </a:r>
            <a:r>
              <a:rPr lang="it-IT" sz="2100" b="0" i="0" u="none" strike="noStrike" cap="none" baseline="30000" dirty="0">
                <a:solidFill>
                  <a:srgbClr val="FF0000"/>
                </a:solidFill>
                <a:latin typeface="Arial"/>
                <a:ea typeface="Arial"/>
                <a:cs typeface="Arial"/>
                <a:sym typeface="Arial"/>
              </a:rPr>
              <a:t>-promise-fetch</a:t>
            </a:r>
            <a:endParaRPr sz="2100" b="0" i="0" u="none" strike="noStrike" cap="none" baseline="30000" dirty="0">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t-IT" sz="1800" b="0" i="0" u="none" strike="noStrike" cap="none" baseline="30000" dirty="0">
                <a:solidFill>
                  <a:srgbClr val="000000"/>
                </a:solidFill>
                <a:latin typeface="Arial"/>
                <a:ea typeface="Arial"/>
                <a:cs typeface="Arial"/>
                <a:sym typeface="Arial"/>
              </a:rPr>
              <a:t>Un altre funzionalità introdotta da ES6</a:t>
            </a:r>
            <a:br>
              <a:rPr lang="it-IT" sz="1800" b="0" i="0" u="none" strike="noStrike" cap="none" baseline="30000" dirty="0">
                <a:solidFill>
                  <a:srgbClr val="000000"/>
                </a:solidFill>
                <a:latin typeface="Arial"/>
                <a:ea typeface="Arial"/>
                <a:cs typeface="Arial"/>
                <a:sym typeface="Arial"/>
              </a:rPr>
            </a:br>
            <a:r>
              <a:rPr lang="it-IT" sz="1800" b="0" i="0" u="none" strike="noStrike" cap="none" baseline="30000" dirty="0">
                <a:solidFill>
                  <a:srgbClr val="000000"/>
                </a:solidFill>
                <a:latin typeface="Arial"/>
                <a:ea typeface="Arial"/>
                <a:cs typeface="Arial"/>
                <a:sym typeface="Arial"/>
              </a:rPr>
              <a:t>è stata sulle funzioni asincrone </a:t>
            </a:r>
            <a:r>
              <a:rPr lang="it-IT" sz="1800" b="0" i="0" u="none" strike="noStrike" cap="none" baseline="30000" dirty="0" err="1">
                <a:solidFill>
                  <a:srgbClr val="C944A4"/>
                </a:solidFill>
                <a:latin typeface="Arial"/>
                <a:ea typeface="Arial"/>
                <a:cs typeface="Arial"/>
                <a:sym typeface="Arial"/>
              </a:rPr>
              <a:t>async</a:t>
            </a:r>
            <a:r>
              <a:rPr lang="it-IT" sz="1800" b="0" i="0" u="none" strike="noStrike" cap="none" baseline="30000" dirty="0">
                <a:solidFill>
                  <a:srgbClr val="000000"/>
                </a:solidFill>
                <a:latin typeface="Arial"/>
                <a:ea typeface="Arial"/>
                <a:cs typeface="Arial"/>
                <a:sym typeface="Arial"/>
              </a:rPr>
              <a:t> </a:t>
            </a:r>
            <a:r>
              <a:rPr lang="it-IT" sz="1800" b="0" i="0" u="none" strike="noStrike" cap="none" baseline="30000" dirty="0" err="1">
                <a:solidFill>
                  <a:srgbClr val="C944A4"/>
                </a:solidFill>
                <a:latin typeface="Arial"/>
                <a:ea typeface="Arial"/>
                <a:cs typeface="Arial"/>
                <a:sym typeface="Arial"/>
              </a:rPr>
              <a:t>await</a:t>
            </a:r>
            <a:r>
              <a:rPr lang="it-IT" sz="1800" b="0" i="0" u="none" strike="noStrike" cap="none" baseline="30000" dirty="0">
                <a:solidFill>
                  <a:srgbClr val="000000"/>
                </a:solidFill>
                <a:latin typeface="Arial"/>
                <a:ea typeface="Arial"/>
                <a:cs typeface="Arial"/>
                <a:sym typeface="Arial"/>
              </a:rPr>
              <a:t>(attesa di una </a:t>
            </a:r>
            <a:r>
              <a:rPr lang="it-IT" sz="1800" b="0" i="0" u="none" strike="noStrike" cap="none" baseline="30000" dirty="0" err="1">
                <a:solidFill>
                  <a:srgbClr val="000000"/>
                </a:solidFill>
                <a:latin typeface="Arial"/>
                <a:ea typeface="Arial"/>
                <a:cs typeface="Arial"/>
                <a:sym typeface="Arial"/>
              </a:rPr>
              <a:t>response</a:t>
            </a:r>
            <a:r>
              <a:rPr lang="it-IT" sz="1800" b="0" i="0" u="none" strike="noStrike" cap="none" baseline="30000" dirty="0">
                <a:solidFill>
                  <a:srgbClr val="000000"/>
                </a:solidFill>
                <a:latin typeface="Arial"/>
                <a:ea typeface="Arial"/>
                <a:cs typeface="Arial"/>
                <a:sym typeface="Arial"/>
              </a:rPr>
              <a:t>), le </a:t>
            </a:r>
            <a:r>
              <a:rPr lang="it-IT" sz="1800" b="0" i="0" u="none" strike="noStrike" cap="none" baseline="30000" dirty="0" err="1">
                <a:solidFill>
                  <a:srgbClr val="FF0000"/>
                </a:solidFill>
                <a:latin typeface="Arial"/>
                <a:ea typeface="Arial"/>
                <a:cs typeface="Arial"/>
                <a:sym typeface="Arial"/>
              </a:rPr>
              <a:t>promises</a:t>
            </a:r>
            <a:r>
              <a:rPr lang="it-IT" sz="1800" b="0" i="0" u="none" strike="noStrike" cap="none" baseline="30000" dirty="0">
                <a:solidFill>
                  <a:srgbClr val="FF0000"/>
                </a:solidFill>
                <a:latin typeface="Arial"/>
                <a:ea typeface="Arial"/>
                <a:cs typeface="Arial"/>
                <a:sym typeface="Arial"/>
              </a:rPr>
              <a:t> </a:t>
            </a:r>
            <a:r>
              <a:rPr lang="it-IT" sz="1800" b="0" i="0" u="none" strike="noStrike" cap="none" baseline="30000" dirty="0">
                <a:solidFill>
                  <a:schemeClr val="dk1"/>
                </a:solidFill>
                <a:latin typeface="Arial"/>
                <a:ea typeface="Arial"/>
                <a:cs typeface="Arial"/>
                <a:sym typeface="Arial"/>
              </a:rPr>
              <a:t>gestiscono il processo di un servizio web oppure di un processo asincrono, il metodo fetch permette da una chiamata ad un </a:t>
            </a:r>
            <a:r>
              <a:rPr lang="it-IT" sz="1800" b="0" i="0" u="none" strike="noStrike" cap="none" baseline="30000" dirty="0" err="1">
                <a:solidFill>
                  <a:schemeClr val="dk1"/>
                </a:solidFill>
                <a:latin typeface="Arial"/>
                <a:ea typeface="Arial"/>
                <a:cs typeface="Arial"/>
                <a:sym typeface="Arial"/>
              </a:rPr>
              <a:t>url</a:t>
            </a:r>
            <a:r>
              <a:rPr lang="it-IT" sz="1800" b="0" i="0" u="none" strike="noStrike" cap="none" baseline="30000" dirty="0">
                <a:solidFill>
                  <a:schemeClr val="dk1"/>
                </a:solidFill>
                <a:latin typeface="Arial"/>
                <a:ea typeface="Arial"/>
                <a:cs typeface="Arial"/>
                <a:sym typeface="Arial"/>
              </a:rPr>
              <a:t> di ottenere informazioni ad esempio i dati di un API.</a:t>
            </a:r>
            <a:br>
              <a:rPr lang="it-IT" sz="1600" b="0" i="0" u="none" strike="noStrike" cap="none" baseline="30000" dirty="0">
                <a:solidFill>
                  <a:srgbClr val="000000"/>
                </a:solidFill>
                <a:latin typeface="Arial"/>
                <a:ea typeface="Arial"/>
                <a:cs typeface="Arial"/>
                <a:sym typeface="Arial"/>
              </a:rPr>
            </a:br>
            <a:endParaRPr sz="1600" b="0" i="0" u="none" strike="noStrike" cap="none" baseline="30000"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645AD"/>
              </a:solidFill>
              <a:latin typeface="Arial"/>
              <a:ea typeface="Arial"/>
              <a:cs typeface="Arial"/>
              <a:sym typeface="Arial"/>
            </a:endParaRPr>
          </a:p>
        </p:txBody>
      </p:sp>
      <p:sp>
        <p:nvSpPr>
          <p:cNvPr id="195" name="Google Shape;195;p27"/>
          <p:cNvSpPr txBox="1"/>
          <p:nvPr/>
        </p:nvSpPr>
        <p:spPr>
          <a:xfrm>
            <a:off x="6274381" y="1447491"/>
            <a:ext cx="27432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it-IT" i="0" u="none" strike="noStrike" cap="none">
                <a:solidFill>
                  <a:srgbClr val="FF0000"/>
                </a:solidFill>
                <a:ea typeface="Consolas"/>
                <a:cs typeface="Consolas"/>
                <a:sym typeface="Consolas"/>
              </a:rPr>
              <a:t>Esempio</a:t>
            </a:r>
            <a:r>
              <a:rPr lang="it-IT">
                <a:solidFill>
                  <a:srgbClr val="FF0000"/>
                </a:solidFill>
                <a:ea typeface="Consolas"/>
                <a:cs typeface="Consolas"/>
                <a:sym typeface="Consolas"/>
              </a:rPr>
              <a:t>:</a:t>
            </a:r>
            <a:endParaRPr i="0" u="none" strike="noStrike" cap="none">
              <a:solidFill>
                <a:srgbClr val="FF0000"/>
              </a:solidFill>
              <a:ea typeface="Consolas"/>
              <a:cs typeface="Consolas"/>
              <a:sym typeface="Consolas"/>
            </a:endParaRPr>
          </a:p>
        </p:txBody>
      </p:sp>
      <p:sp>
        <p:nvSpPr>
          <p:cNvPr id="196" name="Google Shape;196;p27"/>
          <p:cNvSpPr txBox="1"/>
          <p:nvPr/>
        </p:nvSpPr>
        <p:spPr>
          <a:xfrm>
            <a:off x="6271685" y="1727965"/>
            <a:ext cx="2743200" cy="250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it-IT" sz="1300" b="0" i="0" u="none" strike="noStrike" cap="none">
                <a:solidFill>
                  <a:srgbClr val="000000"/>
                </a:solidFill>
                <a:latin typeface="Arial"/>
                <a:ea typeface="Arial"/>
                <a:cs typeface="Arial"/>
                <a:sym typeface="Arial"/>
              </a:rPr>
              <a:t>async function myDisplay() {</a:t>
            </a: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a:solidFill>
                  <a:srgbClr val="000000"/>
                </a:solidFill>
                <a:latin typeface="Arial"/>
                <a:ea typeface="Arial"/>
                <a:cs typeface="Arial"/>
                <a:sym typeface="Arial"/>
              </a:rPr>
              <a:t>let myPromise = new Promise(function(myResolve, myReject) {</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a:solidFill>
                  <a:srgbClr val="000000"/>
                </a:solidFill>
                <a:latin typeface="Arial"/>
                <a:ea typeface="Arial"/>
                <a:cs typeface="Arial"/>
                <a:sym typeface="Arial"/>
              </a:rPr>
              <a:t>setTimeout(function() { myResolve("Success"); }, 6000);</a:t>
            </a: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a:solidFill>
                  <a:srgbClr val="000000"/>
                </a:solidFill>
                <a:latin typeface="Arial"/>
                <a:ea typeface="Arial"/>
                <a:cs typeface="Arial"/>
                <a:sym typeface="Arial"/>
              </a:rPr>
              <a:t> await myPromise;</a:t>
            </a: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a:solidFill>
                  <a:srgbClr val="000000"/>
                </a:solidFill>
                <a:latin typeface="Arial"/>
                <a:ea typeface="Arial"/>
                <a:cs typeface="Arial"/>
                <a:sym typeface="Arial"/>
              </a:rPr>
              <a:t>}</a:t>
            </a: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a:solidFill>
                  <a:srgbClr val="000000"/>
                </a:solidFill>
                <a:latin typeface="Arial"/>
                <a:ea typeface="Arial"/>
                <a:cs typeface="Arial"/>
                <a:sym typeface="Arial"/>
              </a:rPr>
              <a:t>myDisplay();</a:t>
            </a: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3" name="Google Shape;203;p28"/>
          <p:cNvSpPr txBox="1"/>
          <p:nvPr/>
        </p:nvSpPr>
        <p:spPr>
          <a:xfrm>
            <a:off x="273024" y="107170"/>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dirty="0" err="1">
                <a:solidFill>
                  <a:schemeClr val="dk1"/>
                </a:solidFill>
                <a:latin typeface="Open Sans"/>
                <a:ea typeface="Open Sans"/>
                <a:cs typeface="Open Sans"/>
                <a:sym typeface="Open Sans"/>
              </a:rPr>
              <a:t>Typescript</a:t>
            </a:r>
            <a:endParaRPr sz="2400" b="1" i="0" u="none" strike="noStrike" cap="none" dirty="0">
              <a:solidFill>
                <a:schemeClr val="dk1"/>
              </a:solidFill>
              <a:latin typeface="Open Sans"/>
              <a:ea typeface="Open Sans"/>
              <a:cs typeface="Open Sans"/>
              <a:sym typeface="Open Sans"/>
            </a:endParaRPr>
          </a:p>
        </p:txBody>
      </p:sp>
      <p:sp>
        <p:nvSpPr>
          <p:cNvPr id="204" name="Google Shape;204;p28"/>
          <p:cNvSpPr txBox="1"/>
          <p:nvPr/>
        </p:nvSpPr>
        <p:spPr>
          <a:xfrm>
            <a:off x="273024" y="678169"/>
            <a:ext cx="6219300" cy="177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dirty="0">
                <a:solidFill>
                  <a:schemeClr val="dk1"/>
                </a:solidFill>
                <a:ea typeface="Consolas"/>
                <a:cs typeface="Consolas"/>
                <a:sym typeface="Consolas"/>
              </a:rPr>
              <a:t>Introduzione ai servizi </a:t>
            </a:r>
            <a:r>
              <a:rPr lang="it-IT" sz="1600" b="1" i="0" u="none" strike="noStrike" cap="none" dirty="0" err="1">
                <a:solidFill>
                  <a:schemeClr val="dk1"/>
                </a:solidFill>
                <a:ea typeface="Consolas"/>
                <a:cs typeface="Consolas"/>
                <a:sym typeface="Consolas"/>
              </a:rPr>
              <a:t>rest</a:t>
            </a:r>
            <a:r>
              <a:rPr lang="it-IT" sz="1600" b="1" i="0" u="none" strike="noStrike" cap="none" dirty="0">
                <a:solidFill>
                  <a:schemeClr val="dk1"/>
                </a:solidFill>
                <a:ea typeface="Consolas"/>
                <a:cs typeface="Consolas"/>
                <a:sym typeface="Consolas"/>
              </a:rPr>
              <a: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205" name="Google Shape;205;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27</a:t>
            </a:fld>
            <a:endParaRPr/>
          </a:p>
        </p:txBody>
      </p:sp>
      <p:sp>
        <p:nvSpPr>
          <p:cNvPr id="206" name="Google Shape;206;p28"/>
          <p:cNvSpPr txBox="1"/>
          <p:nvPr/>
        </p:nvSpPr>
        <p:spPr>
          <a:xfrm>
            <a:off x="166889" y="942026"/>
            <a:ext cx="4627768" cy="28622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br>
              <a:rPr lang="it-IT" sz="1600" b="0" i="0" u="none" strike="noStrike" cap="none" baseline="30000" dirty="0">
                <a:solidFill>
                  <a:srgbClr val="000000"/>
                </a:solidFill>
                <a:latin typeface="Arial"/>
                <a:ea typeface="Arial"/>
                <a:cs typeface="Arial"/>
                <a:sym typeface="Arial"/>
              </a:rPr>
            </a:br>
            <a:r>
              <a:rPr lang="it-IT" sz="1600" b="0" i="0" u="none" strike="noStrike" cap="none" baseline="30000" dirty="0" err="1">
                <a:solidFill>
                  <a:srgbClr val="000000"/>
                </a:solidFill>
                <a:latin typeface="Arial"/>
                <a:ea typeface="Arial"/>
                <a:cs typeface="Arial"/>
                <a:sym typeface="Arial"/>
              </a:rPr>
              <a:t>Rest</a:t>
            </a:r>
            <a:r>
              <a:rPr lang="it-IT" sz="1600" b="0" i="0" u="none" strike="noStrike" cap="none" baseline="30000" dirty="0">
                <a:solidFill>
                  <a:srgbClr val="000000"/>
                </a:solidFill>
                <a:latin typeface="Arial"/>
                <a:ea typeface="Arial"/>
                <a:cs typeface="Arial"/>
                <a:sym typeface="Arial"/>
              </a:rPr>
              <a:t> è un’architettura software che consente di erogare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it-IT" sz="1600" b="0" i="0" u="none" strike="noStrike" cap="none" baseline="30000" dirty="0">
                <a:solidFill>
                  <a:srgbClr val="000000"/>
                </a:solidFill>
                <a:latin typeface="Arial"/>
                <a:ea typeface="Arial"/>
                <a:cs typeface="Arial"/>
                <a:sym typeface="Arial"/>
              </a:rPr>
              <a:t>servizi </a:t>
            </a:r>
            <a:r>
              <a:rPr lang="it-IT" sz="1600" b="0" i="0" u="none" strike="noStrike" cap="none" baseline="30000" dirty="0" err="1">
                <a:solidFill>
                  <a:srgbClr val="000000"/>
                </a:solidFill>
                <a:latin typeface="Arial"/>
                <a:ea typeface="Arial"/>
                <a:cs typeface="Arial"/>
                <a:sym typeface="Arial"/>
              </a:rPr>
              <a:t>web,implementato</a:t>
            </a:r>
            <a:r>
              <a:rPr lang="it-IT" sz="1600" b="0" i="0" u="none" strike="noStrike" cap="none" baseline="30000" dirty="0">
                <a:solidFill>
                  <a:srgbClr val="000000"/>
                </a:solidFill>
                <a:latin typeface="Arial"/>
                <a:ea typeface="Arial"/>
                <a:cs typeface="Arial"/>
                <a:sym typeface="Arial"/>
              </a:rPr>
              <a:t> sul protocollo HTTP.</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it-IT" sz="1600" b="0" i="0" u="none" strike="noStrike" cap="none" baseline="30000" dirty="0" err="1">
                <a:solidFill>
                  <a:srgbClr val="000000"/>
                </a:solidFill>
                <a:latin typeface="Arial"/>
                <a:ea typeface="Arial"/>
                <a:cs typeface="Arial"/>
                <a:sym typeface="Arial"/>
              </a:rPr>
              <a:t>Rest</a:t>
            </a:r>
            <a:r>
              <a:rPr lang="it-IT" sz="1600" b="0" i="0" u="none" strike="noStrike" cap="none" baseline="30000" dirty="0">
                <a:solidFill>
                  <a:srgbClr val="000000"/>
                </a:solidFill>
                <a:latin typeface="Arial"/>
                <a:ea typeface="Arial"/>
                <a:cs typeface="Arial"/>
                <a:sym typeface="Arial"/>
              </a:rPr>
              <a:t> definisce come creare le URL dei servizi e come utilizzare i metodi HTTP (GET per il recupero di</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it-IT" sz="1600" b="0" i="0" u="none" strike="noStrike" cap="none" baseline="30000" dirty="0">
                <a:solidFill>
                  <a:srgbClr val="000000"/>
                </a:solidFill>
                <a:latin typeface="Arial"/>
                <a:ea typeface="Arial"/>
                <a:cs typeface="Arial"/>
                <a:sym typeface="Arial"/>
              </a:rPr>
              <a:t>informazioni, POST per inviare dati, PUT sostituisce la risorsa </a:t>
            </a:r>
            <a:r>
              <a:rPr lang="it-IT" sz="1600" b="0" i="0" u="none" strike="noStrike" cap="none" baseline="30000" dirty="0" err="1">
                <a:solidFill>
                  <a:srgbClr val="000000"/>
                </a:solidFill>
                <a:latin typeface="Arial"/>
                <a:ea typeface="Arial"/>
                <a:cs typeface="Arial"/>
                <a:sym typeface="Arial"/>
              </a:rPr>
              <a:t>corrente,PATCH</a:t>
            </a:r>
            <a:r>
              <a:rPr lang="it-IT" sz="1600" b="0" i="0" u="none" strike="noStrike" cap="none" baseline="30000" dirty="0">
                <a:solidFill>
                  <a:srgbClr val="000000"/>
                </a:solidFill>
                <a:latin typeface="Arial"/>
                <a:ea typeface="Arial"/>
                <a:cs typeface="Arial"/>
                <a:sym typeface="Arial"/>
              </a:rPr>
              <a:t> per modifiche parziali, DELETE per eliminare una risorsa)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it-IT" sz="1600" b="0" i="0" u="none" strike="noStrike" cap="none" baseline="30000" dirty="0">
                <a:solidFill>
                  <a:srgbClr val="000000"/>
                </a:solidFill>
                <a:latin typeface="Arial"/>
                <a:ea typeface="Arial"/>
                <a:cs typeface="Arial"/>
                <a:sym typeface="Arial"/>
              </a:rPr>
              <a:t>Il principio fondamentale di REST sono le risorse,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it-IT" sz="1600" b="0" i="0" u="none" strike="noStrike" cap="none" baseline="30000" dirty="0">
                <a:solidFill>
                  <a:srgbClr val="000000"/>
                </a:solidFill>
                <a:latin typeface="Arial"/>
                <a:ea typeface="Arial"/>
                <a:cs typeface="Arial"/>
                <a:sym typeface="Arial"/>
              </a:rPr>
              <a:t>accessibili tramite una URI.</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645AD"/>
              </a:solidFill>
              <a:latin typeface="Arial"/>
              <a:ea typeface="Arial"/>
              <a:cs typeface="Arial"/>
              <a:sym typeface="Arial"/>
            </a:endParaRPr>
          </a:p>
        </p:txBody>
      </p:sp>
      <p:graphicFrame>
        <p:nvGraphicFramePr>
          <p:cNvPr id="2" name="Tabella 2">
            <a:extLst>
              <a:ext uri="{FF2B5EF4-FFF2-40B4-BE49-F238E27FC236}">
                <a16:creationId xmlns:a16="http://schemas.microsoft.com/office/drawing/2014/main" id="{151415D8-5457-447C-9460-36A28961C913}"/>
              </a:ext>
            </a:extLst>
          </p:cNvPr>
          <p:cNvGraphicFramePr>
            <a:graphicFrameLocks noGrp="1"/>
          </p:cNvGraphicFramePr>
          <p:nvPr>
            <p:extLst>
              <p:ext uri="{D42A27DB-BD31-4B8C-83A1-F6EECF244321}">
                <p14:modId xmlns:p14="http://schemas.microsoft.com/office/powerpoint/2010/main" val="2557138866"/>
              </p:ext>
            </p:extLst>
          </p:nvPr>
        </p:nvGraphicFramePr>
        <p:xfrm>
          <a:off x="4857749" y="1428750"/>
          <a:ext cx="2949293" cy="2447063"/>
        </p:xfrm>
        <a:graphic>
          <a:graphicData uri="http://schemas.openxmlformats.org/drawingml/2006/table">
            <a:tbl>
              <a:tblPr firstRow="1" bandRow="1">
                <a:tableStyleId>{5C22544A-7EE6-4342-B048-85BDC9FD1C3A}</a:tableStyleId>
              </a:tblPr>
              <a:tblGrid>
                <a:gridCol w="2949293">
                  <a:extLst>
                    <a:ext uri="{9D8B030D-6E8A-4147-A177-3AD203B41FA5}">
                      <a16:colId xmlns:a16="http://schemas.microsoft.com/office/drawing/2014/main" val="451870230"/>
                    </a:ext>
                  </a:extLst>
                </a:gridCol>
              </a:tblGrid>
              <a:tr h="445543">
                <a:tc>
                  <a:txBody>
                    <a:bodyPr/>
                    <a:lstStyle/>
                    <a:p>
                      <a:r>
                        <a:rPr lang="it-IT" b="1" dirty="0">
                          <a:solidFill>
                            <a:schemeClr val="tx1">
                              <a:lumMod val="95000"/>
                              <a:lumOff val="5000"/>
                            </a:schemeClr>
                          </a:solidFill>
                        </a:rPr>
                        <a:t>Metodi HTTP</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99769577"/>
                  </a:ext>
                </a:extLst>
              </a:tr>
              <a:tr h="370840">
                <a:tc>
                  <a:txBody>
                    <a:bodyPr/>
                    <a:lstStyle/>
                    <a:p>
                      <a:r>
                        <a:rPr lang="it-IT"/>
                        <a:t>GET- recupera info da un server</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106738688"/>
                  </a:ext>
                </a:extLst>
              </a:tr>
              <a:tr h="370840">
                <a:tc>
                  <a:txBody>
                    <a:bodyPr/>
                    <a:lstStyle/>
                    <a:p>
                      <a:r>
                        <a:rPr lang="it-IT" dirty="0"/>
                        <a:t>POST- invia dati ad un server</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792983598"/>
                  </a:ext>
                </a:extLst>
              </a:tr>
              <a:tr h="370840">
                <a:tc>
                  <a:txBody>
                    <a:bodyPr/>
                    <a:lstStyle/>
                    <a:p>
                      <a:r>
                        <a:rPr lang="it-IT"/>
                        <a:t>PUT-sostituisce la risorsa</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786106006"/>
                  </a:ext>
                </a:extLst>
              </a:tr>
              <a:tr h="370840">
                <a:tc>
                  <a:txBody>
                    <a:bodyPr/>
                    <a:lstStyle/>
                    <a:p>
                      <a:r>
                        <a:rPr lang="it-IT"/>
                        <a:t>PATCH-modifiche su di una risorsa</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506020441"/>
                  </a:ext>
                </a:extLst>
              </a:tr>
              <a:tr h="370840">
                <a:tc>
                  <a:txBody>
                    <a:bodyPr/>
                    <a:lstStyle/>
                    <a:p>
                      <a:r>
                        <a:rPr lang="it-IT" dirty="0"/>
                        <a:t>DELETE- elimina una risorsa</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55957764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3" name="Google Shape;203;p28"/>
          <p:cNvSpPr txBox="1"/>
          <p:nvPr/>
        </p:nvSpPr>
        <p:spPr>
          <a:xfrm>
            <a:off x="246611" y="182935"/>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dirty="0" err="1">
                <a:solidFill>
                  <a:schemeClr val="dk1"/>
                </a:solidFill>
                <a:latin typeface="Open Sans"/>
                <a:ea typeface="Open Sans"/>
                <a:cs typeface="Open Sans"/>
                <a:sym typeface="Open Sans"/>
              </a:rPr>
              <a:t>Typescript</a:t>
            </a:r>
            <a:endParaRPr sz="2400" b="1" i="0" u="none" strike="noStrike" cap="none" dirty="0">
              <a:solidFill>
                <a:schemeClr val="dk1"/>
              </a:solidFill>
              <a:latin typeface="Open Sans"/>
              <a:ea typeface="Open Sans"/>
              <a:cs typeface="Open Sans"/>
              <a:sym typeface="Open Sans"/>
            </a:endParaRPr>
          </a:p>
        </p:txBody>
      </p:sp>
      <p:sp>
        <p:nvSpPr>
          <p:cNvPr id="204" name="Google Shape;204;p28"/>
          <p:cNvSpPr txBox="1"/>
          <p:nvPr/>
        </p:nvSpPr>
        <p:spPr>
          <a:xfrm>
            <a:off x="246611" y="831796"/>
            <a:ext cx="6219300" cy="177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it-IT" sz="1600" b="1" i="0" u="none" strike="noStrike" cap="none">
                <a:solidFill>
                  <a:schemeClr val="dk1"/>
                </a:solidFill>
                <a:ea typeface="Consolas"/>
                <a:cs typeface="Consolas"/>
                <a:sym typeface="Consolas"/>
              </a:rPr>
              <a:t>Introduzione ai servizi rest </a:t>
            </a:r>
            <a:r>
              <a:rPr lang="it-IT" sz="1600" b="0" i="0" u="none" strike="noStrike" cap="none" dirty="0">
                <a:solidFill>
                  <a:srgbClr val="FF0000"/>
                </a:solidFill>
                <a:latin typeface="Consolas"/>
                <a:ea typeface="Consolas"/>
                <a:cs typeface="Consolas"/>
                <a:sym typeface="Consolas"/>
              </a:rPr>
              <a:t>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205" name="Google Shape;205;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28</a:t>
            </a:fld>
            <a:endParaRPr/>
          </a:p>
        </p:txBody>
      </p:sp>
      <p:sp>
        <p:nvSpPr>
          <p:cNvPr id="207" name="Google Shape;207;p28"/>
          <p:cNvSpPr txBox="1"/>
          <p:nvPr/>
        </p:nvSpPr>
        <p:spPr>
          <a:xfrm>
            <a:off x="132311" y="1264637"/>
            <a:ext cx="5901489" cy="2400617"/>
          </a:xfrm>
          <a:prstGeom prst="rect">
            <a:avLst/>
          </a:prstGeom>
          <a:noFill/>
          <a:ln>
            <a:noFill/>
          </a:ln>
        </p:spPr>
        <p:txBody>
          <a:bodyPr spcFirstLastPara="1" wrap="square" lIns="91425" tIns="45700" rIns="91425" bIns="45700" anchor="t" anchorCtr="0">
            <a:spAutoFit/>
          </a:bodyPr>
          <a:lstStyle/>
          <a:p>
            <a:pPr>
              <a:buSzPts val="1400"/>
            </a:pPr>
            <a:r>
              <a:rPr lang="it-IT" sz="1400" b="0" i="0" u="none" strike="noStrike" cap="none" dirty="0">
                <a:solidFill>
                  <a:srgbClr val="FF0000"/>
                </a:solidFill>
                <a:latin typeface="Open Sans"/>
                <a:ea typeface="Open Sans"/>
                <a:cs typeface="Open Sans"/>
                <a:sym typeface="Open Sans"/>
              </a:rPr>
              <a:t>Esempio:</a:t>
            </a:r>
            <a:r>
              <a:rPr lang="it-IT" dirty="0">
                <a:solidFill>
                  <a:srgbClr val="FF0000"/>
                </a:solidFill>
                <a:latin typeface="Open Sans"/>
                <a:ea typeface="Open Sans"/>
                <a:cs typeface="Open Sans"/>
                <a:sym typeface="Open Sans"/>
              </a:rPr>
              <a:t> come consumare</a:t>
            </a:r>
            <a:r>
              <a:rPr lang="it-IT" sz="1400" b="0" i="0" u="none" strike="noStrike" cap="none" dirty="0">
                <a:solidFill>
                  <a:srgbClr val="FF0000"/>
                </a:solidFill>
                <a:latin typeface="Open Sans"/>
                <a:ea typeface="Open Sans"/>
                <a:cs typeface="Open Sans"/>
                <a:sym typeface="Open Sans"/>
              </a:rPr>
              <a:t> dati </a:t>
            </a:r>
            <a:r>
              <a:rPr lang="it-IT" sz="1400" b="0" i="0" u="none" strike="noStrike" cap="none" dirty="0" err="1">
                <a:solidFill>
                  <a:srgbClr val="FF0000"/>
                </a:solidFill>
                <a:latin typeface="Open Sans"/>
                <a:ea typeface="Open Sans"/>
                <a:cs typeface="Open Sans"/>
                <a:sym typeface="Open Sans"/>
              </a:rPr>
              <a:t>rest</a:t>
            </a:r>
            <a:endParaRPr sz="1200" b="0" i="0" u="none" strike="noStrike" cap="none" dirty="0">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dirty="0" err="1">
                <a:solidFill>
                  <a:srgbClr val="000000"/>
                </a:solidFill>
                <a:latin typeface="Arial"/>
                <a:ea typeface="Arial"/>
                <a:cs typeface="Arial"/>
                <a:sym typeface="Arial"/>
              </a:rPr>
              <a:t>async</a:t>
            </a: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function</a:t>
            </a: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fetchAPI</a:t>
            </a:r>
            <a:r>
              <a:rPr lang="it-IT" sz="1300" b="0" i="0" u="none" strike="noStrike" cap="none" dirty="0">
                <a:solidFill>
                  <a:srgbClr val="000000"/>
                </a:solidFill>
                <a:latin typeface="Arial"/>
                <a:ea typeface="Arial"/>
                <a:cs typeface="Arial"/>
                <a:sym typeface="Arial"/>
              </a:rPr>
              <a:t>(){</a:t>
            </a:r>
            <a:endParaRPr sz="13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dirty="0" err="1">
                <a:solidFill>
                  <a:srgbClr val="000000"/>
                </a:solidFill>
                <a:latin typeface="Arial"/>
                <a:ea typeface="Arial"/>
                <a:cs typeface="Arial"/>
                <a:sym typeface="Arial"/>
              </a:rPr>
              <a:t>const</a:t>
            </a:r>
            <a:r>
              <a:rPr lang="it-IT" sz="1300" b="0" i="0" u="none" strike="noStrike" cap="none" dirty="0">
                <a:solidFill>
                  <a:srgbClr val="000000"/>
                </a:solidFill>
                <a:latin typeface="Arial"/>
                <a:ea typeface="Arial"/>
                <a:cs typeface="Arial"/>
                <a:sym typeface="Arial"/>
              </a:rPr>
              <a:t> Url= ' https://</a:t>
            </a:r>
            <a:r>
              <a:rPr lang="it-IT" sz="1300" b="0" i="0" u="none" strike="noStrike" cap="none" dirty="0" err="1">
                <a:solidFill>
                  <a:srgbClr val="000000"/>
                </a:solidFill>
                <a:latin typeface="Arial"/>
                <a:ea typeface="Arial"/>
                <a:cs typeface="Arial"/>
                <a:sym typeface="Arial"/>
              </a:rPr>
              <a:t>mocki.io</a:t>
            </a:r>
            <a:r>
              <a:rPr lang="it-IT" sz="1300" b="0" i="0" u="none" strike="noStrike" cap="none" dirty="0">
                <a:solidFill>
                  <a:srgbClr val="000000"/>
                </a:solidFill>
                <a:latin typeface="Arial"/>
                <a:ea typeface="Arial"/>
                <a:cs typeface="Arial"/>
                <a:sym typeface="Arial"/>
              </a:rPr>
              <a:t>/v1/765b2daf-41d5-4e94-a0d5-abd918f57b8f’</a:t>
            </a:r>
            <a:r>
              <a:rPr lang="it-IT" sz="1050" b="0" i="0" u="none" strike="noStrike" cap="none" dirty="0">
                <a:solidFill>
                  <a:schemeClr val="lt1"/>
                </a:solidFill>
                <a:highlight>
                  <a:schemeClr val="lt1"/>
                </a:highlight>
                <a:latin typeface="Consolas"/>
                <a:ea typeface="Consolas"/>
                <a:cs typeface="Consolas"/>
                <a:sym typeface="Consolas"/>
              </a:rPr>
              <a:t>https://mocki.io/v1/765b2daf-41d5-4e94-a0d5-abd918f57b8f</a:t>
            </a:r>
            <a:endParaRPr sz="13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dirty="0" err="1">
                <a:solidFill>
                  <a:srgbClr val="000000"/>
                </a:solidFill>
                <a:latin typeface="Arial"/>
                <a:ea typeface="Arial"/>
                <a:cs typeface="Arial"/>
                <a:sym typeface="Arial"/>
              </a:rPr>
              <a:t>const</a:t>
            </a: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response</a:t>
            </a:r>
            <a:r>
              <a:rPr lang="it-IT" sz="1300" b="0" i="0" u="none" strike="noStrike" cap="none" dirty="0">
                <a:solidFill>
                  <a:srgbClr val="000000"/>
                </a:solidFill>
                <a:latin typeface="Arial"/>
                <a:ea typeface="Arial"/>
                <a:cs typeface="Arial"/>
                <a:sym typeface="Arial"/>
              </a:rPr>
              <a:t> = </a:t>
            </a:r>
            <a:r>
              <a:rPr lang="it-IT" sz="1300" b="0" i="0" u="none" strike="noStrike" cap="none" dirty="0" err="1">
                <a:solidFill>
                  <a:srgbClr val="000000"/>
                </a:solidFill>
                <a:latin typeface="Arial"/>
                <a:ea typeface="Arial"/>
                <a:cs typeface="Arial"/>
                <a:sym typeface="Arial"/>
              </a:rPr>
              <a:t>await</a:t>
            </a:r>
            <a:r>
              <a:rPr lang="it-IT" sz="1300" b="0" i="0" u="none" strike="noStrike" cap="none" dirty="0">
                <a:solidFill>
                  <a:srgbClr val="000000"/>
                </a:solidFill>
                <a:latin typeface="Arial"/>
                <a:ea typeface="Arial"/>
                <a:cs typeface="Arial"/>
                <a:sym typeface="Arial"/>
              </a:rPr>
              <a:t> fetch(Url)</a:t>
            </a:r>
            <a:endParaRPr sz="13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dirty="0" err="1">
                <a:solidFill>
                  <a:srgbClr val="000000"/>
                </a:solidFill>
                <a:latin typeface="Arial"/>
                <a:ea typeface="Arial"/>
                <a:cs typeface="Arial"/>
                <a:sym typeface="Arial"/>
              </a:rPr>
              <a:t>const</a:t>
            </a: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resp</a:t>
            </a:r>
            <a:r>
              <a:rPr lang="it-IT" sz="1300" b="0" i="0" u="none" strike="noStrike" cap="none" dirty="0">
                <a:solidFill>
                  <a:srgbClr val="000000"/>
                </a:solidFill>
                <a:latin typeface="Arial"/>
                <a:ea typeface="Arial"/>
                <a:cs typeface="Arial"/>
                <a:sym typeface="Arial"/>
              </a:rPr>
              <a:t> = </a:t>
            </a:r>
            <a:r>
              <a:rPr lang="it-IT" sz="1300" b="0" i="0" u="none" strike="noStrike" cap="none" dirty="0" err="1">
                <a:solidFill>
                  <a:srgbClr val="000000"/>
                </a:solidFill>
                <a:latin typeface="Arial"/>
                <a:ea typeface="Arial"/>
                <a:cs typeface="Arial"/>
                <a:sym typeface="Arial"/>
              </a:rPr>
              <a:t>await</a:t>
            </a: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response.json</a:t>
            </a:r>
            <a:r>
              <a:rPr lang="it-IT" sz="1300" b="0" i="0" u="none" strike="noStrike" cap="none" dirty="0">
                <a:solidFill>
                  <a:srgbClr val="000000"/>
                </a:solidFill>
                <a:latin typeface="Arial"/>
                <a:ea typeface="Arial"/>
                <a:cs typeface="Arial"/>
                <a:sym typeface="Arial"/>
              </a:rPr>
              <a:t>();</a:t>
            </a:r>
            <a:endParaRPr sz="13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return</a:t>
            </a: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resp</a:t>
            </a:r>
            <a:r>
              <a:rPr lang="it-IT" sz="1300" b="0" i="0" u="none" strike="noStrike" cap="none" dirty="0">
                <a:solidFill>
                  <a:srgbClr val="000000"/>
                </a:solidFill>
                <a:latin typeface="Arial"/>
                <a:ea typeface="Arial"/>
                <a:cs typeface="Arial"/>
                <a:sym typeface="Arial"/>
              </a:rPr>
              <a:t>;</a:t>
            </a:r>
            <a:endParaRPr sz="13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dirty="0">
                <a:solidFill>
                  <a:srgbClr val="000000"/>
                </a:solidFill>
                <a:latin typeface="Arial"/>
                <a:ea typeface="Arial"/>
                <a:cs typeface="Arial"/>
                <a:sym typeface="Arial"/>
              </a:rPr>
              <a:t>    }</a:t>
            </a:r>
            <a:endParaRPr sz="13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it-IT" sz="1300" b="0" i="0" u="none" strike="noStrike" cap="none" dirty="0">
                <a:solidFill>
                  <a:srgbClr val="000000"/>
                </a:solidFill>
                <a:latin typeface="Arial"/>
                <a:ea typeface="Arial"/>
                <a:cs typeface="Arial"/>
                <a:sym typeface="Arial"/>
              </a:rPr>
              <a:t>        </a:t>
            </a:r>
            <a:r>
              <a:rPr lang="it-IT" sz="1300" b="0" i="0" u="none" strike="noStrike" cap="none" dirty="0" err="1">
                <a:solidFill>
                  <a:srgbClr val="000000"/>
                </a:solidFill>
                <a:latin typeface="Arial"/>
                <a:ea typeface="Arial"/>
                <a:cs typeface="Arial"/>
                <a:sym typeface="Arial"/>
              </a:rPr>
              <a:t>fetchAPI</a:t>
            </a:r>
            <a:r>
              <a:rPr lang="it-IT" sz="1300" b="0" i="0" u="none" strike="noStrike" cap="none" dirty="0">
                <a:solidFill>
                  <a:srgbClr val="000000"/>
                </a:solidFill>
                <a:latin typeface="Arial"/>
                <a:ea typeface="Arial"/>
                <a:cs typeface="Arial"/>
                <a:sym typeface="Arial"/>
              </a:rPr>
              <a:t>().</a:t>
            </a:r>
            <a:r>
              <a:rPr lang="it-IT" sz="1300" b="0" i="0" u="none" strike="noStrike" cap="none" dirty="0" err="1">
                <a:solidFill>
                  <a:srgbClr val="000000"/>
                </a:solidFill>
                <a:latin typeface="Arial"/>
                <a:ea typeface="Arial"/>
                <a:cs typeface="Arial"/>
                <a:sym typeface="Arial"/>
              </a:rPr>
              <a:t>then</a:t>
            </a:r>
            <a:r>
              <a:rPr lang="it-IT" sz="1300" b="0" i="0" u="none" strike="noStrike" cap="none" dirty="0">
                <a:solidFill>
                  <a:srgbClr val="000000"/>
                </a:solidFill>
                <a:latin typeface="Arial"/>
                <a:ea typeface="Arial"/>
                <a:cs typeface="Arial"/>
                <a:sym typeface="Arial"/>
              </a:rPr>
              <a:t>(</a:t>
            </a:r>
            <a:r>
              <a:rPr lang="it-IT" sz="1300" b="0" i="0" u="none" strike="noStrike" cap="none" dirty="0" err="1">
                <a:solidFill>
                  <a:srgbClr val="000000"/>
                </a:solidFill>
                <a:latin typeface="Arial"/>
                <a:ea typeface="Arial"/>
                <a:cs typeface="Arial"/>
                <a:sym typeface="Arial"/>
              </a:rPr>
              <a:t>console.log</a:t>
            </a:r>
            <a:r>
              <a:rPr lang="it-IT" sz="1300" b="0" i="0" u="none" strike="noStrike" cap="none" dirty="0">
                <a:solidFill>
                  <a:srgbClr val="000000"/>
                </a:solidFill>
                <a:latin typeface="Arial"/>
                <a:ea typeface="Arial"/>
                <a:cs typeface="Arial"/>
                <a:sym typeface="Arial"/>
              </a:rPr>
              <a:t>);</a:t>
            </a:r>
            <a:endParaRPr sz="15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Consolas"/>
              <a:ea typeface="Consolas"/>
              <a:cs typeface="Consolas"/>
              <a:sym typeface="Consolas"/>
            </a:endParaRPr>
          </a:p>
        </p:txBody>
      </p:sp>
      <p:graphicFrame>
        <p:nvGraphicFramePr>
          <p:cNvPr id="2" name="Tabella 2">
            <a:extLst>
              <a:ext uri="{FF2B5EF4-FFF2-40B4-BE49-F238E27FC236}">
                <a16:creationId xmlns:a16="http://schemas.microsoft.com/office/drawing/2014/main" id="{551DBE0C-88B2-467A-8E7B-180D885CBF47}"/>
              </a:ext>
            </a:extLst>
          </p:cNvPr>
          <p:cNvGraphicFramePr>
            <a:graphicFrameLocks noGrp="1"/>
          </p:cNvGraphicFramePr>
          <p:nvPr>
            <p:extLst>
              <p:ext uri="{D42A27DB-BD31-4B8C-83A1-F6EECF244321}">
                <p14:modId xmlns:p14="http://schemas.microsoft.com/office/powerpoint/2010/main" val="789985215"/>
              </p:ext>
            </p:extLst>
          </p:nvPr>
        </p:nvGraphicFramePr>
        <p:xfrm>
          <a:off x="5278770" y="1438192"/>
          <a:ext cx="3193688" cy="2053506"/>
        </p:xfrm>
        <a:graphic>
          <a:graphicData uri="http://schemas.openxmlformats.org/drawingml/2006/table">
            <a:tbl>
              <a:tblPr firstRow="1" bandRow="1">
                <a:tableStyleId>{5C22544A-7EE6-4342-B048-85BDC9FD1C3A}</a:tableStyleId>
              </a:tblPr>
              <a:tblGrid>
                <a:gridCol w="3193688">
                  <a:extLst>
                    <a:ext uri="{9D8B030D-6E8A-4147-A177-3AD203B41FA5}">
                      <a16:colId xmlns:a16="http://schemas.microsoft.com/office/drawing/2014/main" val="3939243577"/>
                    </a:ext>
                  </a:extLst>
                </a:gridCol>
              </a:tblGrid>
              <a:tr h="499026">
                <a:tc>
                  <a:txBody>
                    <a:bodyPr/>
                    <a:lstStyle/>
                    <a:p>
                      <a:r>
                        <a:rPr lang="it-IT" b="0" dirty="0">
                          <a:solidFill>
                            <a:schemeClr val="tx1">
                              <a:lumMod val="95000"/>
                              <a:lumOff val="5000"/>
                            </a:schemeClr>
                          </a:solidFill>
                        </a:rPr>
                        <a:t>ASYNC AWAIT FETCHAPI()- nome della funzione asincrona</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38162000"/>
                  </a:ext>
                </a:extLst>
              </a:tr>
              <a:tr h="499026">
                <a:tc>
                  <a:txBody>
                    <a:bodyPr/>
                    <a:lstStyle/>
                    <a:p>
                      <a:r>
                        <a:rPr lang="it-IT"/>
                        <a:t>URL-request name server and </a:t>
                      </a:r>
                      <a:r>
                        <a:rPr lang="it-IT" dirty="0"/>
                        <a:t>endpoints</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588838888"/>
                  </a:ext>
                </a:extLst>
              </a:tr>
              <a:tr h="499026">
                <a:tc>
                  <a:txBody>
                    <a:bodyPr/>
                    <a:lstStyle/>
                    <a:p>
                      <a:r>
                        <a:rPr lang="it-IT"/>
                        <a:t>RESPONSE-dati dell endpoint </a:t>
                      </a:r>
                      <a:endParaRPr lang="it-IT" dirty="0"/>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755419812"/>
                  </a:ext>
                </a:extLst>
              </a:tr>
              <a:tr h="515124">
                <a:tc>
                  <a:txBody>
                    <a:bodyPr/>
                    <a:lstStyle/>
                    <a:p>
                      <a:r>
                        <a:rPr lang="it-IT" dirty="0"/>
                        <a:t>FETCHAPI.THEN- chiamata della funzione con risultato della promise</a:t>
                      </a:r>
                    </a:p>
                  </a:txBody>
                  <a:tcP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07944557"/>
                  </a:ext>
                </a:extLst>
              </a:tr>
            </a:tbl>
          </a:graphicData>
        </a:graphic>
      </p:graphicFrame>
    </p:spTree>
    <p:extLst>
      <p:ext uri="{BB962C8B-B14F-4D97-AF65-F5344CB8AC3E}">
        <p14:creationId xmlns:p14="http://schemas.microsoft.com/office/powerpoint/2010/main" val="847644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4" name="Google Shape;214;p4"/>
          <p:cNvSpPr txBox="1"/>
          <p:nvPr/>
        </p:nvSpPr>
        <p:spPr>
          <a:xfrm>
            <a:off x="282663" y="195035"/>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dirty="0" err="1">
                <a:solidFill>
                  <a:schemeClr val="dk1"/>
                </a:solidFill>
                <a:latin typeface="Open Sans"/>
                <a:ea typeface="Open Sans"/>
                <a:cs typeface="Open Sans"/>
                <a:sym typeface="Open Sans"/>
              </a:rPr>
              <a:t>Typescript</a:t>
            </a:r>
            <a:endParaRPr sz="2400" b="1" i="0" u="none" strike="noStrike" cap="none" dirty="0">
              <a:solidFill>
                <a:schemeClr val="dk1"/>
              </a:solidFill>
              <a:latin typeface="Open Sans"/>
              <a:ea typeface="Open Sans"/>
              <a:cs typeface="Open Sans"/>
              <a:sym typeface="Open Sans"/>
            </a:endParaRPr>
          </a:p>
        </p:txBody>
      </p:sp>
      <p:sp>
        <p:nvSpPr>
          <p:cNvPr id="215" name="Google Shape;215;p4"/>
          <p:cNvSpPr txBox="1"/>
          <p:nvPr/>
        </p:nvSpPr>
        <p:spPr>
          <a:xfrm>
            <a:off x="282663" y="881235"/>
            <a:ext cx="6219300" cy="177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it-IT" sz="1600" b="1" i="0" u="none" strike="noStrike" cap="none" dirty="0">
                <a:solidFill>
                  <a:schemeClr val="dk1"/>
                </a:solidFill>
                <a:latin typeface="Arial"/>
                <a:ea typeface="Arial"/>
                <a:cs typeface="Arial"/>
                <a:sym typeface="Arial"/>
              </a:rPr>
              <a:t>Servizio Fake Api     </a:t>
            </a:r>
            <a:r>
              <a:rPr lang="it-IT" sz="1400" b="0" i="0" u="none" strike="noStrike" cap="none" dirty="0">
                <a:solidFill>
                  <a:srgbClr val="FF0000"/>
                </a:solidFill>
                <a:latin typeface="Open Sans"/>
                <a:ea typeface="Open Sans"/>
                <a:cs typeface="Open Sans"/>
                <a:sym typeface="Open Sans"/>
              </a:rPr>
              <a:t>                      </a:t>
            </a:r>
            <a:endParaRPr sz="1400" b="0" i="0" u="none" strike="noStrike" cap="none" dirty="0">
              <a:solidFill>
                <a:srgbClr val="FF0000"/>
              </a:solidFill>
              <a:latin typeface="Open Sans"/>
              <a:ea typeface="Open Sans"/>
              <a:cs typeface="Open Sans"/>
              <a:sym typeface="Open Sans"/>
            </a:endParaRPr>
          </a:p>
        </p:txBody>
      </p:sp>
      <p:sp>
        <p:nvSpPr>
          <p:cNvPr id="216" name="Google Shape;2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29</a:t>
            </a:fld>
            <a:endParaRPr/>
          </a:p>
        </p:txBody>
      </p:sp>
      <p:sp>
        <p:nvSpPr>
          <p:cNvPr id="217" name="Google Shape;217;p4"/>
          <p:cNvSpPr txBox="1"/>
          <p:nvPr/>
        </p:nvSpPr>
        <p:spPr>
          <a:xfrm>
            <a:off x="211918" y="1329721"/>
            <a:ext cx="2582400" cy="30264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t-IT" sz="1600" b="0" i="0" u="none" strike="noStrike" cap="none" baseline="30000" dirty="0">
                <a:solidFill>
                  <a:srgbClr val="000000"/>
                </a:solidFill>
                <a:latin typeface="Arial"/>
                <a:ea typeface="Arial"/>
                <a:cs typeface="Arial"/>
                <a:sym typeface="Arial"/>
              </a:rPr>
              <a:t>Nell'esempio precedente del servizio web fetch è stata utilizzato una fake api attraverso </a:t>
            </a:r>
            <a:r>
              <a:rPr lang="it-IT" sz="1600" b="0" i="0" u="none" strike="noStrike" cap="none" baseline="30000" dirty="0" err="1">
                <a:solidFill>
                  <a:srgbClr val="FF0000"/>
                </a:solidFill>
                <a:latin typeface="Arial"/>
                <a:ea typeface="Arial"/>
                <a:cs typeface="Arial"/>
                <a:sym typeface="Arial"/>
              </a:rPr>
              <a:t>mockiapi.io</a:t>
            </a:r>
            <a:r>
              <a:rPr lang="it-IT" sz="1600" b="0" i="0" u="none" strike="noStrike" cap="none" baseline="30000" dirty="0">
                <a:solidFill>
                  <a:srgbClr val="000000"/>
                </a:solidFill>
                <a:latin typeface="Arial"/>
                <a:ea typeface="Arial"/>
                <a:cs typeface="Arial"/>
                <a:sym typeface="Arial"/>
              </a:rPr>
              <a:t>  </a:t>
            </a:r>
            <a:r>
              <a:rPr lang="it-IT" sz="1600" b="0" i="0" u="sng" strike="noStrike" cap="none" baseline="30000" dirty="0">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https://mockapi.io</a:t>
            </a:r>
            <a:r>
              <a:rPr lang="it-IT" sz="1600" b="0" i="0" u="none" strike="noStrike" cap="none" baseline="30000" dirty="0">
                <a:solidFill>
                  <a:srgbClr val="000000"/>
                </a:solidFill>
                <a:latin typeface="Arial"/>
                <a:ea typeface="Arial"/>
                <a:cs typeface="Arial"/>
                <a:sym typeface="Arial"/>
              </a:rPr>
              <a:t>.</a:t>
            </a:r>
            <a:br>
              <a:rPr lang="it-IT" sz="1600" b="0" i="0" u="none" strike="noStrike" cap="none" baseline="30000" dirty="0">
                <a:solidFill>
                  <a:srgbClr val="000000"/>
                </a:solidFill>
                <a:latin typeface="Arial"/>
                <a:ea typeface="Arial"/>
                <a:cs typeface="Arial"/>
                <a:sym typeface="Arial"/>
              </a:rPr>
            </a:br>
            <a:r>
              <a:rPr lang="it-IT" sz="1600" b="0" i="0" u="none" strike="noStrike" cap="none" baseline="30000" dirty="0">
                <a:solidFill>
                  <a:srgbClr val="000000"/>
                </a:solidFill>
                <a:latin typeface="Arial"/>
                <a:ea typeface="Arial"/>
                <a:cs typeface="Arial"/>
                <a:sym typeface="Arial"/>
              </a:rPr>
              <a:t>Una volta loggati con </a:t>
            </a:r>
            <a:r>
              <a:rPr lang="it-IT" sz="1600" b="0" i="0" u="none" strike="noStrike" cap="none" baseline="30000" dirty="0" err="1">
                <a:solidFill>
                  <a:srgbClr val="000000"/>
                </a:solidFill>
                <a:latin typeface="Arial"/>
                <a:ea typeface="Arial"/>
                <a:cs typeface="Arial"/>
                <a:sym typeface="Arial"/>
              </a:rPr>
              <a:t>google</a:t>
            </a:r>
            <a:r>
              <a:rPr lang="it-IT" sz="1600" b="0" i="0" u="none" strike="noStrike" cap="none" baseline="30000" dirty="0">
                <a:solidFill>
                  <a:srgbClr val="000000"/>
                </a:solidFill>
                <a:latin typeface="Arial"/>
                <a:ea typeface="Arial"/>
                <a:cs typeface="Arial"/>
                <a:sym typeface="Arial"/>
              </a:rPr>
              <a:t> create un nuovo project.</a:t>
            </a:r>
            <a:endParaRPr dirty="0"/>
          </a:p>
          <a:p>
            <a:pPr marL="0" marR="0" lvl="0" indent="0" algn="l" rtl="0">
              <a:lnSpc>
                <a:spcPct val="100000"/>
              </a:lnSpc>
              <a:spcBef>
                <a:spcPts val="0"/>
              </a:spcBef>
              <a:spcAft>
                <a:spcPts val="0"/>
              </a:spcAft>
              <a:buNone/>
            </a:pPr>
            <a:r>
              <a:rPr lang="it-IT" sz="1600" b="0" i="0" u="none" strike="noStrike" cap="none" baseline="30000" dirty="0">
                <a:solidFill>
                  <a:srgbClr val="000000"/>
                </a:solidFill>
                <a:latin typeface="Arial"/>
                <a:ea typeface="Arial"/>
                <a:cs typeface="Arial"/>
                <a:sym typeface="Arial"/>
              </a:rPr>
              <a:t>Visualizzerete un template in cui vi indica di inserire il nome della vostra risorsa che verrà aggiunta alla URL del servizio con i nomi dei campi </a:t>
            </a:r>
            <a:r>
              <a:rPr lang="it-IT" sz="1600" b="0" i="0" u="none" strike="noStrike" cap="none" baseline="30000" dirty="0" err="1">
                <a:solidFill>
                  <a:srgbClr val="000000"/>
                </a:solidFill>
                <a:latin typeface="Arial"/>
                <a:ea typeface="Arial"/>
                <a:cs typeface="Arial"/>
                <a:sym typeface="Arial"/>
              </a:rPr>
              <a:t>dell</a:t>
            </a:r>
            <a:r>
              <a:rPr lang="it-IT" sz="1600" b="0" i="0" u="none" strike="noStrike" cap="none" baseline="30000" dirty="0">
                <a:solidFill>
                  <a:srgbClr val="000000"/>
                </a:solidFill>
                <a:latin typeface="Arial"/>
                <a:ea typeface="Arial"/>
                <a:cs typeface="Arial"/>
                <a:sym typeface="Arial"/>
              </a:rPr>
              <a:t> API(FIGURA 1).</a:t>
            </a:r>
            <a:br>
              <a:rPr lang="it-IT" sz="1600" b="0" i="0" u="none" strike="noStrike" cap="none" baseline="30000" dirty="0">
                <a:solidFill>
                  <a:srgbClr val="000000"/>
                </a:solidFill>
                <a:latin typeface="Arial"/>
                <a:ea typeface="Arial"/>
                <a:cs typeface="Arial"/>
                <a:sym typeface="Arial"/>
              </a:rPr>
            </a:br>
            <a:r>
              <a:rPr lang="it-IT" sz="1600" b="0" i="0" u="none" strike="noStrike" cap="none" baseline="30000" dirty="0">
                <a:solidFill>
                  <a:srgbClr val="000000"/>
                </a:solidFill>
                <a:latin typeface="Arial"/>
                <a:ea typeface="Arial"/>
                <a:cs typeface="Arial"/>
                <a:sym typeface="Arial"/>
              </a:rPr>
              <a:t>Nella FIGURA 2 il template </a:t>
            </a:r>
            <a:r>
              <a:rPr lang="it-IT" sz="1600" b="0" i="0" u="none" strike="noStrike" cap="none" baseline="30000" dirty="0" err="1">
                <a:solidFill>
                  <a:srgbClr val="000000"/>
                </a:solidFill>
                <a:latin typeface="Arial"/>
                <a:ea typeface="Arial"/>
                <a:cs typeface="Arial"/>
                <a:sym typeface="Arial"/>
              </a:rPr>
              <a:t>Json</a:t>
            </a:r>
            <a:r>
              <a:rPr lang="it-IT" sz="1600" b="0" i="0" u="none" strike="noStrike" cap="none" baseline="30000" dirty="0">
                <a:solidFill>
                  <a:srgbClr val="000000"/>
                </a:solidFill>
                <a:latin typeface="Arial"/>
                <a:ea typeface="Arial"/>
                <a:cs typeface="Arial"/>
                <a:sym typeface="Arial"/>
              </a:rPr>
              <a:t> dell'API con chiave-valore.</a:t>
            </a:r>
            <a:br>
              <a:rPr lang="it-IT" sz="1600" b="0" i="0" u="none" strike="noStrike" cap="none" baseline="30000" dirty="0">
                <a:solidFill>
                  <a:srgbClr val="000000"/>
                </a:solidFill>
                <a:latin typeface="Arial"/>
                <a:ea typeface="Arial"/>
                <a:cs typeface="Arial"/>
                <a:sym typeface="Arial"/>
              </a:rPr>
            </a:br>
            <a:endParaRPr sz="1600" b="0" i="0" u="none" strike="noStrike" cap="none" baseline="30000"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baseline="3000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dirty="0">
              <a:solidFill>
                <a:srgbClr val="0645AD"/>
              </a:solidFill>
              <a:latin typeface="Arial"/>
              <a:ea typeface="Arial"/>
              <a:cs typeface="Arial"/>
              <a:sym typeface="Arial"/>
            </a:endParaRPr>
          </a:p>
        </p:txBody>
      </p:sp>
      <p:pic>
        <p:nvPicPr>
          <p:cNvPr id="218" name="Google Shape;218;p4"/>
          <p:cNvPicPr preferRelativeResize="0"/>
          <p:nvPr/>
        </p:nvPicPr>
        <p:blipFill rotWithShape="1">
          <a:blip r:embed="rId4">
            <a:alphaModFix/>
          </a:blip>
          <a:srcRect/>
          <a:stretch/>
        </p:blipFill>
        <p:spPr>
          <a:xfrm>
            <a:off x="3057966" y="1489129"/>
            <a:ext cx="4973907" cy="1746792"/>
          </a:xfrm>
          <a:prstGeom prst="rect">
            <a:avLst/>
          </a:prstGeom>
          <a:noFill/>
          <a:ln>
            <a:noFill/>
          </a:ln>
        </p:spPr>
      </p:pic>
      <p:pic>
        <p:nvPicPr>
          <p:cNvPr id="219" name="Google Shape;219;p4"/>
          <p:cNvPicPr preferRelativeResize="0"/>
          <p:nvPr/>
        </p:nvPicPr>
        <p:blipFill rotWithShape="1">
          <a:blip r:embed="rId5">
            <a:alphaModFix/>
          </a:blip>
          <a:srcRect/>
          <a:stretch/>
        </p:blipFill>
        <p:spPr>
          <a:xfrm>
            <a:off x="3056640" y="3375318"/>
            <a:ext cx="5153496" cy="170464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6" name="Google Shape;226;p5"/>
          <p:cNvSpPr txBox="1"/>
          <p:nvPr/>
        </p:nvSpPr>
        <p:spPr>
          <a:xfrm>
            <a:off x="307899" y="284378"/>
            <a:ext cx="3306600" cy="47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it-IT" sz="2400" b="1" i="0" u="none" strike="noStrike" cap="none" dirty="0" err="1">
                <a:solidFill>
                  <a:schemeClr val="dk1"/>
                </a:solidFill>
                <a:latin typeface="Open Sans"/>
                <a:ea typeface="Open Sans"/>
                <a:cs typeface="Open Sans"/>
                <a:sym typeface="Open Sans"/>
              </a:rPr>
              <a:t>Typescript</a:t>
            </a:r>
            <a:endParaRPr sz="2400" b="1" i="0" u="none" strike="noStrike" cap="none" dirty="0">
              <a:solidFill>
                <a:schemeClr val="dk1"/>
              </a:solidFill>
              <a:latin typeface="Open Sans"/>
              <a:ea typeface="Open Sans"/>
              <a:cs typeface="Open Sans"/>
              <a:sym typeface="Open Sans"/>
            </a:endParaRPr>
          </a:p>
        </p:txBody>
      </p:sp>
      <p:sp>
        <p:nvSpPr>
          <p:cNvPr id="227" name="Google Shape;227;p5"/>
          <p:cNvSpPr txBox="1"/>
          <p:nvPr/>
        </p:nvSpPr>
        <p:spPr>
          <a:xfrm>
            <a:off x="333707" y="940798"/>
            <a:ext cx="6219300" cy="177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it-IT" sz="1600" b="1" i="0" u="none" strike="noStrike" cap="none">
                <a:solidFill>
                  <a:schemeClr val="dk1"/>
                </a:solidFill>
                <a:latin typeface="Arial"/>
                <a:ea typeface="Arial"/>
                <a:cs typeface="Arial"/>
                <a:sym typeface="Arial"/>
              </a:rPr>
              <a:t>Servizio Fake Api     </a:t>
            </a:r>
            <a:r>
              <a:rPr lang="it-IT" sz="1400" b="0" i="0" u="none" strike="noStrike" cap="none">
                <a:solidFill>
                  <a:srgbClr val="FF0000"/>
                </a:solidFill>
                <a:latin typeface="Open Sans"/>
                <a:ea typeface="Open Sans"/>
                <a:cs typeface="Open Sans"/>
                <a:sym typeface="Open Sans"/>
              </a:rPr>
              <a:t>                      </a:t>
            </a:r>
            <a:endParaRPr sz="1400" b="0" i="0" u="none" strike="noStrike" cap="none">
              <a:solidFill>
                <a:srgbClr val="FF0000"/>
              </a:solidFill>
              <a:latin typeface="Open Sans"/>
              <a:ea typeface="Open Sans"/>
              <a:cs typeface="Open Sans"/>
              <a:sym typeface="Open Sans"/>
            </a:endParaRPr>
          </a:p>
        </p:txBody>
      </p:sp>
      <p:sp>
        <p:nvSpPr>
          <p:cNvPr id="228" name="Google Shape;22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it-IT"/>
              <a:t>30</a:t>
            </a:fld>
            <a:endParaRPr/>
          </a:p>
        </p:txBody>
      </p:sp>
      <p:sp>
        <p:nvSpPr>
          <p:cNvPr id="229" name="Google Shape;229;p5"/>
          <p:cNvSpPr txBox="1"/>
          <p:nvPr/>
        </p:nvSpPr>
        <p:spPr>
          <a:xfrm>
            <a:off x="257805" y="1441169"/>
            <a:ext cx="2582400" cy="31085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t-IT" sz="1600" b="0" i="0" u="none" strike="noStrike" cap="none" baseline="30000" dirty="0">
                <a:solidFill>
                  <a:srgbClr val="000000"/>
                </a:solidFill>
                <a:latin typeface="Arial"/>
                <a:ea typeface="Arial"/>
                <a:cs typeface="Arial"/>
                <a:sym typeface="Arial"/>
              </a:rPr>
              <a:t>Nella figura presente vi è il template che riguarda i principali metodi utilizzati in servizio web per gestire una risorsa:</a:t>
            </a:r>
            <a:br>
              <a:rPr lang="it-IT" sz="1600" b="0" i="0" u="none" strike="noStrike" cap="none" baseline="30000" dirty="0">
                <a:latin typeface="Arial"/>
                <a:ea typeface="Arial"/>
                <a:cs typeface="Arial"/>
              </a:rPr>
            </a:br>
            <a:r>
              <a:rPr lang="it-IT" sz="1600" b="1" i="0" u="none" strike="noStrike" cap="none" baseline="30000" dirty="0" err="1">
                <a:solidFill>
                  <a:srgbClr val="000000"/>
                </a:solidFill>
                <a:latin typeface="Arial"/>
                <a:ea typeface="Arial"/>
                <a:cs typeface="Arial"/>
                <a:sym typeface="Arial"/>
              </a:rPr>
              <a:t>GET</a:t>
            </a:r>
            <a:r>
              <a:rPr lang="it-IT" sz="1600" b="0" i="0" u="none" strike="noStrike" cap="none" baseline="30000" dirty="0" err="1">
                <a:solidFill>
                  <a:srgbClr val="000000"/>
                </a:solidFill>
                <a:latin typeface="Arial"/>
                <a:ea typeface="Arial"/>
                <a:cs typeface="Arial"/>
                <a:sym typeface="Arial"/>
              </a:rPr>
              <a:t>:per</a:t>
            </a:r>
            <a:r>
              <a:rPr lang="it-IT" sz="1600" b="0" i="0" u="none" strike="noStrike" cap="none" baseline="30000" dirty="0">
                <a:solidFill>
                  <a:srgbClr val="000000"/>
                </a:solidFill>
                <a:latin typeface="Arial"/>
                <a:ea typeface="Arial"/>
                <a:cs typeface="Arial"/>
                <a:sym typeface="Arial"/>
              </a:rPr>
              <a:t> richiedere dati ad una risorsa</a:t>
            </a:r>
            <a:br>
              <a:rPr lang="it-IT" sz="1600" b="0" i="0" u="none" strike="noStrike" cap="none" baseline="30000" dirty="0">
                <a:latin typeface="Arial"/>
                <a:ea typeface="Arial"/>
                <a:cs typeface="Arial"/>
              </a:rPr>
            </a:br>
            <a:r>
              <a:rPr lang="it-IT" sz="1600" b="1" i="0" u="none" strike="noStrike" cap="none" baseline="30000" dirty="0">
                <a:solidFill>
                  <a:srgbClr val="000000"/>
                </a:solidFill>
                <a:latin typeface="Arial"/>
                <a:ea typeface="Arial"/>
                <a:cs typeface="Arial"/>
                <a:sym typeface="Arial"/>
              </a:rPr>
              <a:t>POST</a:t>
            </a:r>
            <a:r>
              <a:rPr lang="it-IT" sz="1600" b="0" i="0" u="none" strike="noStrike" cap="none" baseline="30000" dirty="0">
                <a:solidFill>
                  <a:srgbClr val="000000"/>
                </a:solidFill>
                <a:latin typeface="Arial"/>
                <a:ea typeface="Arial"/>
                <a:cs typeface="Arial"/>
                <a:sym typeface="Arial"/>
              </a:rPr>
              <a:t>: per inviare dati ad una risorsa</a:t>
            </a:r>
            <a:endParaRPr dirty="0"/>
          </a:p>
          <a:p>
            <a:r>
              <a:rPr lang="it-IT" sz="1600" b="1" i="0" u="none" strike="noStrike" cap="none" baseline="30000" dirty="0">
                <a:solidFill>
                  <a:srgbClr val="000000"/>
                </a:solidFill>
                <a:latin typeface="Arial"/>
                <a:ea typeface="Arial"/>
                <a:cs typeface="Arial"/>
                <a:sym typeface="Arial"/>
              </a:rPr>
              <a:t>PUT</a:t>
            </a:r>
            <a:r>
              <a:rPr lang="it-IT" sz="1600" b="0" i="0" u="none" strike="noStrike" cap="none" baseline="30000" dirty="0">
                <a:solidFill>
                  <a:srgbClr val="000000"/>
                </a:solidFill>
                <a:latin typeface="Arial"/>
                <a:ea typeface="Arial"/>
                <a:cs typeface="Arial"/>
                <a:sym typeface="Arial"/>
              </a:rPr>
              <a:t>: </a:t>
            </a:r>
            <a:r>
              <a:rPr lang="it-IT" sz="1600" b="0" i="0" u="none" strike="noStrike" cap="none" baseline="30000" dirty="0" err="1">
                <a:solidFill>
                  <a:srgbClr val="000000"/>
                </a:solidFill>
                <a:latin typeface="Arial"/>
                <a:ea typeface="Arial"/>
                <a:cs typeface="Arial"/>
                <a:sym typeface="Arial"/>
              </a:rPr>
              <a:t>sostiuire</a:t>
            </a:r>
            <a:r>
              <a:rPr lang="it-IT" sz="1600" b="0" i="0" u="none" strike="noStrike" cap="none" baseline="30000" dirty="0">
                <a:solidFill>
                  <a:srgbClr val="000000"/>
                </a:solidFill>
                <a:latin typeface="Arial"/>
                <a:ea typeface="Arial"/>
                <a:cs typeface="Arial"/>
                <a:sym typeface="Arial"/>
              </a:rPr>
              <a:t> una risorsa con quella corrente</a:t>
            </a:r>
            <a:r>
              <a:rPr lang="it-IT" sz="1600" baseline="30000" dirty="0"/>
              <a:t>.</a:t>
            </a:r>
            <a:br>
              <a:rPr lang="it-IT" sz="1600" b="0" i="0" u="none" strike="noStrike" cap="none" baseline="30000" dirty="0">
                <a:latin typeface="Arial"/>
                <a:ea typeface="Arial"/>
                <a:cs typeface="Arial"/>
              </a:rPr>
            </a:br>
            <a:r>
              <a:rPr lang="it-IT" sz="1600" b="1" i="0" u="none" strike="noStrike" cap="none" baseline="30000" dirty="0" err="1">
                <a:solidFill>
                  <a:srgbClr val="000000"/>
                </a:solidFill>
                <a:latin typeface="Arial"/>
                <a:ea typeface="Arial"/>
                <a:cs typeface="Arial"/>
                <a:sym typeface="Arial"/>
              </a:rPr>
              <a:t>PATCH:</a:t>
            </a:r>
            <a:r>
              <a:rPr lang="it-IT" sz="1600" b="0" i="0" u="none" strike="noStrike" cap="none" baseline="30000" dirty="0" err="1">
                <a:solidFill>
                  <a:srgbClr val="000000"/>
                </a:solidFill>
                <a:latin typeface="Arial"/>
                <a:ea typeface="Arial"/>
                <a:cs typeface="Arial"/>
                <a:sym typeface="Arial"/>
              </a:rPr>
              <a:t>per</a:t>
            </a:r>
            <a:r>
              <a:rPr lang="it-IT" sz="1600" b="0" i="0" u="none" strike="noStrike" cap="none" baseline="30000" dirty="0">
                <a:solidFill>
                  <a:srgbClr val="000000"/>
                </a:solidFill>
                <a:latin typeface="Arial"/>
                <a:ea typeface="Arial"/>
                <a:cs typeface="Arial"/>
                <a:sym typeface="Arial"/>
              </a:rPr>
              <a:t> effettuare modifiche parziali</a:t>
            </a:r>
            <a:br>
              <a:rPr lang="it-IT" sz="1600" b="0" i="0" u="none" strike="noStrike" cap="none" baseline="30000" dirty="0">
                <a:latin typeface="Arial"/>
                <a:ea typeface="Arial"/>
                <a:cs typeface="Arial"/>
              </a:rPr>
            </a:br>
            <a:r>
              <a:rPr lang="it-IT" sz="1600" b="1" i="0" u="none" strike="noStrike" cap="none" baseline="30000" dirty="0" err="1">
                <a:solidFill>
                  <a:srgbClr val="000000"/>
                </a:solidFill>
                <a:latin typeface="Arial"/>
                <a:ea typeface="Arial"/>
                <a:cs typeface="Arial"/>
                <a:sym typeface="Arial"/>
              </a:rPr>
              <a:t>DELETE</a:t>
            </a:r>
            <a:r>
              <a:rPr lang="it-IT" sz="1600" b="0" i="0" u="none" strike="noStrike" cap="none" baseline="30000" dirty="0" err="1">
                <a:solidFill>
                  <a:srgbClr val="000000"/>
                </a:solidFill>
                <a:latin typeface="Arial"/>
                <a:ea typeface="Arial"/>
                <a:cs typeface="Arial"/>
                <a:sym typeface="Arial"/>
              </a:rPr>
              <a:t>:per</a:t>
            </a:r>
            <a:r>
              <a:rPr lang="it-IT" sz="1600" b="0" i="0" u="none" strike="noStrike" cap="none" baseline="30000" dirty="0">
                <a:solidFill>
                  <a:srgbClr val="000000"/>
                </a:solidFill>
                <a:latin typeface="Arial"/>
                <a:ea typeface="Arial"/>
                <a:cs typeface="Arial"/>
                <a:sym typeface="Arial"/>
              </a:rPr>
              <a:t> eliminare una risorsa</a:t>
            </a:r>
            <a:r>
              <a:rPr lang="it-IT" sz="1600" baseline="30000" dirty="0"/>
              <a:t> </a:t>
            </a:r>
            <a:endParaRPr sz="16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it-IT" sz="1600" b="0" i="0" u="none" strike="noStrike" cap="none" baseline="30000" dirty="0">
                <a:solidFill>
                  <a:srgbClr val="000000"/>
                </a:solidFill>
                <a:latin typeface="Arial"/>
                <a:ea typeface="Arial"/>
                <a:cs typeface="Arial"/>
                <a:sym typeface="Arial"/>
              </a:rPr>
              <a:t>Nel template è presente lo switch on/off per indicare il metodo da utilizzare per il nostro servizio e infine create per terminare la configurazione del servizio.</a:t>
            </a:r>
            <a:br>
              <a:rPr lang="it-IT" sz="1600" b="0" i="0" u="none" strike="noStrike" cap="none" baseline="30000" dirty="0">
                <a:latin typeface="Arial"/>
                <a:ea typeface="Arial"/>
                <a:cs typeface="Arial"/>
              </a:rPr>
            </a:br>
            <a:endParaRPr sz="1600" b="0" i="0" u="none" strike="noStrike" cap="none" baseline="3000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baseline="3000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baseline="30000">
              <a:solidFill>
                <a:srgbClr val="0645AD"/>
              </a:solidFill>
              <a:latin typeface="Arial"/>
              <a:ea typeface="Arial"/>
              <a:cs typeface="Arial"/>
              <a:sym typeface="Arial"/>
            </a:endParaRPr>
          </a:p>
        </p:txBody>
      </p:sp>
      <p:pic>
        <p:nvPicPr>
          <p:cNvPr id="230" name="Google Shape;230;p5"/>
          <p:cNvPicPr preferRelativeResize="0"/>
          <p:nvPr/>
        </p:nvPicPr>
        <p:blipFill rotWithShape="1">
          <a:blip r:embed="rId3">
            <a:alphaModFix/>
          </a:blip>
          <a:srcRect/>
          <a:stretch/>
        </p:blipFill>
        <p:spPr>
          <a:xfrm>
            <a:off x="3104414" y="1473318"/>
            <a:ext cx="4869516" cy="242467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11314"/>
        </a:solidFill>
        <a:effectLst/>
      </p:bgPr>
    </p:bg>
    <p:spTree>
      <p:nvGrpSpPr>
        <p:cNvPr id="1" name="Shape 234"/>
        <p:cNvGrpSpPr/>
        <p:nvPr/>
      </p:nvGrpSpPr>
      <p:grpSpPr>
        <a:xfrm>
          <a:off x="0" y="0"/>
          <a:ext cx="0" cy="0"/>
          <a:chOff x="0" y="0"/>
          <a:chExt cx="0" cy="0"/>
        </a:xfrm>
      </p:grpSpPr>
      <p:sp>
        <p:nvSpPr>
          <p:cNvPr id="239" name="Google Shape;239;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it-IT"/>
              <a:t>31</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1920</Words>
  <Application>Microsoft Macintosh PowerPoint</Application>
  <PresentationFormat>Presentazione su schermo (16:9)</PresentationFormat>
  <Paragraphs>364</Paragraphs>
  <Slides>31</Slides>
  <Notes>31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31</vt:i4>
      </vt:variant>
    </vt:vector>
  </HeadingPairs>
  <TitlesOfParts>
    <vt:vector size="39" baseType="lpstr">
      <vt:lpstr>Arial</vt:lpstr>
      <vt:lpstr>Consolas</vt:lpstr>
      <vt:lpstr>Open Sans ExtraBold</vt:lpstr>
      <vt:lpstr>Montserrat Light</vt:lpstr>
      <vt:lpstr>Calibri</vt:lpstr>
      <vt:lpstr>Open Sans</vt:lpstr>
      <vt:lpstr>Montserrat SemiBold</vt:lpstr>
      <vt:lpstr>Simple Light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cp:lastModifiedBy>Fabio</cp:lastModifiedBy>
  <cp:revision>579</cp:revision>
  <dcterms:modified xsi:type="dcterms:W3CDTF">2026-01-07T22:11:56Z</dcterms:modified>
</cp:coreProperties>
</file>