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67" r:id="rId3"/>
    <p:sldId id="257" r:id="rId4"/>
    <p:sldId id="274" r:id="rId5"/>
    <p:sldId id="258" r:id="rId6"/>
    <p:sldId id="275" r:id="rId7"/>
    <p:sldId id="260" r:id="rId8"/>
    <p:sldId id="286" r:id="rId9"/>
    <p:sldId id="276" r:id="rId10"/>
    <p:sldId id="259" r:id="rId11"/>
    <p:sldId id="277" r:id="rId12"/>
    <p:sldId id="271" r:id="rId13"/>
    <p:sldId id="261" r:id="rId14"/>
    <p:sldId id="278" r:id="rId15"/>
    <p:sldId id="262" r:id="rId16"/>
    <p:sldId id="279" r:id="rId17"/>
    <p:sldId id="263" r:id="rId18"/>
    <p:sldId id="287" r:id="rId19"/>
    <p:sldId id="272" r:id="rId20"/>
    <p:sldId id="280" r:id="rId21"/>
    <p:sldId id="264" r:id="rId22"/>
    <p:sldId id="281" r:id="rId23"/>
    <p:sldId id="282" r:id="rId24"/>
    <p:sldId id="273" r:id="rId25"/>
    <p:sldId id="265" r:id="rId26"/>
    <p:sldId id="285" r:id="rId27"/>
    <p:sldId id="284" r:id="rId28"/>
    <p:sldId id="283" r:id="rId29"/>
    <p:sldId id="266" r:id="rId30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Montserrat Light" pitchFamily="2" charset="77"/>
      <p:regular r:id="rId40"/>
      <p:bold r:id="rId41"/>
      <p:italic r:id="rId42"/>
      <p:boldItalic r:id="rId43"/>
    </p:embeddedFont>
    <p:embeddedFont>
      <p:font typeface="Montserrat SemiBold" pitchFamily="2" charset="77"/>
      <p:regular r:id="rId44"/>
      <p:bold r:id="rId45"/>
      <p:italic r:id="rId46"/>
      <p:boldItalic r:id="rId47"/>
    </p:embeddedFont>
    <p:embeddedFont>
      <p:font typeface="Open Sans" panose="020B0606030504020204" pitchFamily="34" charset="0"/>
      <p:regular r:id="rId48"/>
      <p:bold r:id="rId49"/>
      <p:italic r:id="rId50"/>
      <p:boldItalic r:id="rId51"/>
    </p:embeddedFont>
    <p:embeddedFont>
      <p:font typeface="Open Sans ExtraBold" panose="020B0606030504020204" pitchFamily="34" charset="0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7">
          <p15:clr>
            <a:srgbClr val="9AA0A6"/>
          </p15:clr>
        </p15:guide>
        <p15:guide id="2" pos="227">
          <p15:clr>
            <a:srgbClr val="9AA0A6"/>
          </p15:clr>
        </p15:guide>
        <p15:guide id="3" pos="5533">
          <p15:clr>
            <a:srgbClr val="9AA0A6"/>
          </p15:clr>
        </p15:guide>
        <p15:guide id="4" orient="horz" pos="1153">
          <p15:clr>
            <a:srgbClr val="9AA0A6"/>
          </p15:clr>
        </p15:guide>
        <p15:guide id="5" orient="horz" pos="624">
          <p15:clr>
            <a:srgbClr val="9AA0A6"/>
          </p15:clr>
        </p15:guide>
        <p15:guide id="6" orient="horz" pos="938">
          <p15:clr>
            <a:srgbClr val="9AA0A6"/>
          </p15:clr>
        </p15:guide>
        <p15:guide id="7" orient="horz" pos="1387">
          <p15:clr>
            <a:srgbClr val="9AA0A6"/>
          </p15:clr>
        </p15:guide>
        <p15:guide id="8" orient="horz" pos="460">
          <p15:clr>
            <a:srgbClr val="9AA0A6"/>
          </p15:clr>
        </p15:guide>
        <p15:guide id="9" orient="horz" pos="1845">
          <p15:clr>
            <a:srgbClr val="9AA0A6"/>
          </p15:clr>
        </p15:guide>
        <p15:guide id="10" orient="horz" pos="2769">
          <p15:clr>
            <a:srgbClr val="9AA0A6"/>
          </p15:clr>
        </p15:guide>
        <p15:guide id="11" orient="horz" pos="2991">
          <p15:clr>
            <a:srgbClr val="9AA0A6"/>
          </p15:clr>
        </p15:guide>
        <p15:guide id="12" pos="2880">
          <p15:clr>
            <a:srgbClr val="9AA0A6"/>
          </p15:clr>
        </p15:guide>
        <p15:guide id="13" pos="1553">
          <p15:clr>
            <a:srgbClr val="9AA0A6"/>
          </p15:clr>
        </p15:guide>
        <p15:guide id="14" pos="4008">
          <p15:clr>
            <a:srgbClr val="9AA0A6"/>
          </p15:clr>
        </p15:guide>
        <p15:guide id="15" pos="2217">
          <p15:clr>
            <a:srgbClr val="9AA0A6"/>
          </p15:clr>
        </p15:guide>
        <p15:guide id="16" pos="3742">
          <p15:clr>
            <a:srgbClr val="9AA0A6"/>
          </p15:clr>
        </p15:guide>
        <p15:guide id="17" pos="890">
          <p15:clr>
            <a:srgbClr val="9AA0A6"/>
          </p15:clr>
        </p15:guide>
        <p15:guide id="18" pos="4870">
          <p15:clr>
            <a:srgbClr val="9AA0A6"/>
          </p15:clr>
        </p15:guide>
        <p15:guide id="19" pos="2993">
          <p15:clr>
            <a:srgbClr val="9AA0A6"/>
          </p15:clr>
        </p15:guide>
        <p15:guide id="20" pos="2755">
          <p15:clr>
            <a:srgbClr val="9AA0A6"/>
          </p15:clr>
        </p15:guide>
        <p15:guide id="21" pos="1885">
          <p15:clr>
            <a:srgbClr val="9AA0A6"/>
          </p15:clr>
        </p15:guide>
        <p15:guide id="22" pos="3875">
          <p15:clr>
            <a:srgbClr val="9AA0A6"/>
          </p15:clr>
        </p15:guide>
        <p15:guide id="23" pos="1719">
          <p15:clr>
            <a:srgbClr val="9AA0A6"/>
          </p15:clr>
        </p15:guide>
        <p15:guide id="24" pos="547">
          <p15:clr>
            <a:srgbClr val="9AA0A6"/>
          </p15:clr>
        </p15:guide>
        <p15:guide id="25" orient="horz" pos="2155">
          <p15:clr>
            <a:srgbClr val="9AA0A6"/>
          </p15:clr>
        </p15:guide>
        <p15:guide id="26" pos="397">
          <p15:clr>
            <a:srgbClr val="9AA0A6"/>
          </p15:clr>
        </p15:guide>
        <p15:guide id="27" orient="horz" pos="1045">
          <p15:clr>
            <a:srgbClr val="9AA0A6"/>
          </p15:clr>
        </p15:guide>
        <p15:guide id="28" orient="horz" pos="357">
          <p15:clr>
            <a:srgbClr val="9AA0A6"/>
          </p15:clr>
        </p15:guide>
        <p15:guide id="29" orient="horz" pos="1542">
          <p15:clr>
            <a:srgbClr val="9AA0A6"/>
          </p15:clr>
        </p15:guide>
        <p15:guide id="30" orient="horz" pos="1004">
          <p15:clr>
            <a:srgbClr val="9AA0A6"/>
          </p15:clr>
        </p15:guide>
        <p15:guide id="31" pos="296">
          <p15:clr>
            <a:srgbClr val="9AA0A6"/>
          </p15:clr>
        </p15:guide>
        <p15:guide id="32" pos="1058">
          <p15:clr>
            <a:srgbClr val="9AA0A6"/>
          </p15:clr>
        </p15:guide>
        <p15:guide id="33" pos="2071">
          <p15:clr>
            <a:srgbClr val="9AA0A6"/>
          </p15:clr>
        </p15:guide>
        <p15:guide id="34" orient="horz" pos="757">
          <p15:clr>
            <a:srgbClr val="9AA0A6"/>
          </p15:clr>
        </p15:guide>
        <p15:guide id="35" orient="horz" pos="588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8" roundtripDataSignature="AMtx7mgdnkq4sjswaxB2kKRXZmHJ6IJy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911B93-6CF8-4CA6-BF19-14EAF227DB30}" v="180" dt="2021-08-10T10:14:46.184"/>
    <p1510:client id="{21BD3E82-45FC-4E00-B8C7-62E441C9AF26}" v="82" dt="2021-07-31T14:55:22.928"/>
    <p1510:client id="{447525E4-A468-4CDD-A605-340D17835FCC}" v="44" dt="2021-08-07T12:07:27.105"/>
    <p1510:client id="{4A46271B-F637-4118-AFA4-DBAD7E660FDD}" v="368" dt="2021-07-30T19:05:06.610"/>
    <p1510:client id="{4DE19EE5-C608-4604-9E4A-B07E91B8B965}" v="221" dt="2021-07-22T19:48:40.304"/>
    <p1510:client id="{543DB00D-D13C-45EF-807C-16F7AB43EFCE}" v="1478" dt="2021-08-10T15:42:12.978"/>
    <p1510:client id="{C88F5235-4242-40A6-9FBE-CD99EAF2F463}" v="79" dt="2021-07-23T07:39:47.723"/>
    <p1510:client id="{CC53F390-727F-4F49-A55B-5412C35CC6F1}" v="42" dt="2021-07-23T08:08:23.7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5"/>
  </p:normalViewPr>
  <p:slideViewPr>
    <p:cSldViewPr snapToGrid="0">
      <p:cViewPr varScale="1">
        <p:scale>
          <a:sx n="156" d="100"/>
          <a:sy n="156" d="100"/>
        </p:scale>
        <p:origin x="552" y="168"/>
      </p:cViewPr>
      <p:guideLst>
        <p:guide orient="horz" pos="227"/>
        <p:guide pos="227"/>
        <p:guide pos="5533"/>
        <p:guide orient="horz" pos="1153"/>
        <p:guide orient="horz" pos="624"/>
        <p:guide orient="horz" pos="938"/>
        <p:guide orient="horz" pos="1387"/>
        <p:guide orient="horz" pos="460"/>
        <p:guide orient="horz" pos="1845"/>
        <p:guide orient="horz" pos="2769"/>
        <p:guide orient="horz" pos="2991"/>
        <p:guide pos="2880"/>
        <p:guide pos="1553"/>
        <p:guide pos="4008"/>
        <p:guide pos="2217"/>
        <p:guide pos="3742"/>
        <p:guide pos="890"/>
        <p:guide pos="4870"/>
        <p:guide pos="2993"/>
        <p:guide pos="2755"/>
        <p:guide pos="1885"/>
        <p:guide pos="3875"/>
        <p:guide pos="1719"/>
        <p:guide pos="547"/>
        <p:guide orient="horz" pos="2155"/>
        <p:guide pos="397"/>
        <p:guide orient="horz" pos="1045"/>
        <p:guide orient="horz" pos="357"/>
        <p:guide orient="horz" pos="1542"/>
        <p:guide orient="horz" pos="1004"/>
        <p:guide pos="296"/>
        <p:guide pos="1058"/>
        <p:guide pos="2071"/>
        <p:guide orient="horz" pos="757"/>
        <p:guide orient="horz" pos="5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font" Target="fonts/font19.fntdata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3" Type="http://schemas.openxmlformats.org/officeDocument/2006/relationships/font" Target="fonts/font22.fntdata"/><Relationship Id="rId58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font" Target="fonts/font2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54" Type="http://schemas.openxmlformats.org/officeDocument/2006/relationships/font" Target="fonts/font23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font" Target="fonts/font18.fntdata"/><Relationship Id="rId10" Type="http://schemas.openxmlformats.org/officeDocument/2006/relationships/slide" Target="slides/slide9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52" Type="http://schemas.openxmlformats.org/officeDocument/2006/relationships/font" Target="fonts/font21.fntdata"/><Relationship Id="rId6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1687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8309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8761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6502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53251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57761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29154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53209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54131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07600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30590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15509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69659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16343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56373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09247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17012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04042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-Meet the Crew Slide">
  <p:cSld name="13-Meet the Crew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>
            <a:spLocks noGrp="1"/>
          </p:cNvSpPr>
          <p:nvPr>
            <p:ph type="pic" idx="2"/>
          </p:nvPr>
        </p:nvSpPr>
        <p:spPr>
          <a:xfrm>
            <a:off x="1060235" y="2128350"/>
            <a:ext cx="1487100" cy="18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23"/>
          <p:cNvSpPr>
            <a:spLocks noGrp="1"/>
          </p:cNvSpPr>
          <p:nvPr>
            <p:ph type="pic" idx="3"/>
          </p:nvPr>
        </p:nvSpPr>
        <p:spPr>
          <a:xfrm>
            <a:off x="3049596" y="2128350"/>
            <a:ext cx="1487100" cy="18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3"/>
          <p:cNvSpPr>
            <a:spLocks noGrp="1"/>
          </p:cNvSpPr>
          <p:nvPr>
            <p:ph type="pic" idx="4"/>
          </p:nvPr>
        </p:nvSpPr>
        <p:spPr>
          <a:xfrm>
            <a:off x="5038958" y="2128350"/>
            <a:ext cx="1487100" cy="18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3"/>
          <p:cNvSpPr>
            <a:spLocks noGrp="1"/>
          </p:cNvSpPr>
          <p:nvPr>
            <p:ph type="pic" idx="5"/>
          </p:nvPr>
        </p:nvSpPr>
        <p:spPr>
          <a:xfrm>
            <a:off x="7028318" y="2128350"/>
            <a:ext cx="1487100" cy="18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3"/>
          <p:cNvSpPr txBox="1"/>
          <p:nvPr/>
        </p:nvSpPr>
        <p:spPr>
          <a:xfrm>
            <a:off x="123324" y="2496729"/>
            <a:ext cx="3171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 sz="1000" b="1" i="0" u="none" strike="noStrike" cap="none">
                <a:solidFill>
                  <a:schemeClr val="accent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‹N›</a:t>
            </a:fld>
            <a:endParaRPr sz="1000" b="1" i="0" u="none" strike="noStrike" cap="none">
              <a:solidFill>
                <a:schemeClr val="accent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6">
          <p15:clr>
            <a:srgbClr val="FBAE40"/>
          </p15:clr>
        </p15:guide>
        <p15:guide id="2" pos="5364">
          <p15:clr>
            <a:srgbClr val="FBAE40"/>
          </p15:clr>
        </p15:guide>
        <p15:guide id="3" orient="horz" pos="2850">
          <p15:clr>
            <a:srgbClr val="FBAE40"/>
          </p15:clr>
        </p15:guide>
        <p15:guide id="4" orient="horz" pos="38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4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/>
        </p:nvSpPr>
        <p:spPr>
          <a:xfrm>
            <a:off x="342975" y="3749334"/>
            <a:ext cx="76704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it-IT" sz="3300" b="1" i="0" u="none" strike="noStrike" cap="none" dirty="0" err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Typescript</a:t>
            </a:r>
            <a:endParaRPr sz="3300" b="1" i="0" u="none" strike="noStrike" cap="none" dirty="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342975" y="3462734"/>
            <a:ext cx="44796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" name="Google Shape;64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-IT"/>
              <a:t>1</a:t>
            </a:fld>
            <a:endParaRPr/>
          </a:p>
        </p:txBody>
      </p:sp>
      <p:sp>
        <p:nvSpPr>
          <p:cNvPr id="65" name="Google Shape;65;p1"/>
          <p:cNvSpPr txBox="1"/>
          <p:nvPr/>
        </p:nvSpPr>
        <p:spPr>
          <a:xfrm>
            <a:off x="356775" y="4198158"/>
            <a:ext cx="76704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 b="1" dirty="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Docente:</a:t>
            </a:r>
            <a:r>
              <a:rPr lang="it-IT" sz="2000" b="1" dirty="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– </a:t>
            </a:r>
            <a:r>
              <a:rPr lang="it-IT" sz="2000" b="1" dirty="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Fabio Di </a:t>
            </a:r>
            <a:r>
              <a:rPr lang="it-IT" sz="2000" b="1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Gloria</a:t>
            </a:r>
            <a:r>
              <a:rPr lang="it-IT" sz="2000" b="1" i="0" u="none" strike="noStrike" cap="non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   SLIDE 2</a:t>
            </a:r>
            <a:endParaRPr sz="2000" b="1" i="0" u="none" strike="noStrike" cap="none" dirty="0">
              <a:solidFill>
                <a:srgbClr val="FFFFFF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/>
          <p:nvPr/>
        </p:nvSpPr>
        <p:spPr>
          <a:xfrm>
            <a:off x="360000" y="4697100"/>
            <a:ext cx="666900" cy="1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it-IT" sz="800" b="0" i="0" u="none" strike="noStrike" cap="none">
                <a:solidFill>
                  <a:srgbClr val="111314"/>
                </a:solidFill>
                <a:latin typeface="Arial"/>
                <a:ea typeface="Arial"/>
                <a:cs typeface="Arial"/>
                <a:sym typeface="Arial"/>
              </a:rPr>
              <a:t>epicodeschool</a:t>
            </a:r>
            <a:endParaRPr sz="800" b="0" i="0" u="none" strike="noStrike" cap="none">
              <a:solidFill>
                <a:srgbClr val="11131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8"/>
          <p:cNvPicPr preferRelativeResize="0"/>
          <p:nvPr/>
        </p:nvPicPr>
        <p:blipFill rotWithShape="1">
          <a:blip r:embed="rId3">
            <a:alphaModFix/>
          </a:blip>
          <a:srcRect l="1700" r="1700"/>
          <a:stretch/>
        </p:blipFill>
        <p:spPr>
          <a:xfrm>
            <a:off x="356775" y="360000"/>
            <a:ext cx="674802" cy="2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8"/>
          <p:cNvSpPr txBox="1"/>
          <p:nvPr/>
        </p:nvSpPr>
        <p:spPr>
          <a:xfrm>
            <a:off x="2559744" y="1840161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it-IT" sz="24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7" name="Google Shape;8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</a:t>
            </a:fld>
            <a:endParaRPr/>
          </a:p>
        </p:txBody>
      </p:sp>
      <p:sp>
        <p:nvSpPr>
          <p:cNvPr id="89" name="Google Shape;89;p8"/>
          <p:cNvSpPr txBox="1"/>
          <p:nvPr/>
        </p:nvSpPr>
        <p:spPr>
          <a:xfrm>
            <a:off x="3043730" y="1896924"/>
            <a:ext cx="27432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400"/>
            </a:pPr>
            <a:br>
              <a:rPr lang="it-IT" sz="14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2800" dirty="0"/>
              <a:t>Strutture di dati</a:t>
            </a:r>
            <a:endParaRPr lang="it-IT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9784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 txBox="1"/>
          <p:nvPr/>
        </p:nvSpPr>
        <p:spPr>
          <a:xfrm>
            <a:off x="322401" y="606481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" name="Google Shape;73;p7"/>
          <p:cNvSpPr txBox="1"/>
          <p:nvPr/>
        </p:nvSpPr>
        <p:spPr>
          <a:xfrm>
            <a:off x="247487" y="1132871"/>
            <a:ext cx="62193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1600" b="1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 </a:t>
            </a:r>
            <a:r>
              <a:rPr lang="it-IT" sz="1600" b="1" i="0" u="none" strike="noStrike" cap="none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it-IT" sz="1600" b="1" i="0" u="none" strike="noStrike" cap="none" dirty="0" err="1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Enumeration</a:t>
            </a:r>
            <a:r>
              <a:rPr lang="it-IT" sz="14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 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   </a:t>
            </a:r>
            <a:r>
              <a:rPr lang="it-IT" sz="1600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 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t-IT" sz="1400" b="0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Numeric</a:t>
            </a:r>
            <a:r>
              <a:rPr lang="it-IT" sz="14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t-IT" sz="1400" b="0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enums</a:t>
            </a:r>
            <a:endParaRPr sz="1400" b="0" i="0" u="none" strike="noStrike" cap="none" dirty="0" err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3</a:t>
            </a:fld>
            <a:endParaRPr/>
          </a:p>
        </p:txBody>
      </p:sp>
      <p:sp>
        <p:nvSpPr>
          <p:cNvPr id="75" name="Google Shape;75;p7"/>
          <p:cNvSpPr txBox="1"/>
          <p:nvPr/>
        </p:nvSpPr>
        <p:spPr>
          <a:xfrm>
            <a:off x="285079" y="1217576"/>
            <a:ext cx="2589967" cy="2923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enumerazioni consentono di definire un insieme di costanti denominate. L'uso delle enumerazioni può semplificare la documentazione dell'intento o creare una serie di casi distinti.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645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3198272" y="1500939"/>
            <a:ext cx="2743199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lang="it-IT" sz="1400" b="0" i="0" u="none" strike="noStrike" cap="none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enum</a:t>
            </a: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può essere definito utilizzando la</a:t>
            </a:r>
            <a:r>
              <a:rPr lang="it-IT" sz="1400" b="0" i="0" u="none" strike="noStrike" cap="none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it-IT" sz="1400" b="0" i="0" u="none" strike="noStrike" cap="none">
                <a:solidFill>
                  <a:srgbClr val="C944A4"/>
                </a:solidFill>
                <a:latin typeface="Consolas"/>
                <a:ea typeface="Consolas"/>
                <a:cs typeface="Consolas"/>
                <a:sym typeface="Consolas"/>
              </a:rPr>
              <a:t>enum </a:t>
            </a:r>
            <a:r>
              <a:rPr lang="it-IT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keyword.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enum Months {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January = 1,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February,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March,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January è inizializzato con 1,quindi i seguenti membri vengono incrementati automaticamente da quel momento in poi.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7"/>
          <p:cNvSpPr txBox="1"/>
          <p:nvPr/>
        </p:nvSpPr>
        <p:spPr>
          <a:xfrm>
            <a:off x="6003985" y="1583657"/>
            <a:ext cx="2743200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enumerazioni possono essere mescolate con membri stringa e numerici: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enum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LikeHeterogeneousEnum {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= 0,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 = "YES",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7"/>
          <p:cNvSpPr txBox="1"/>
          <p:nvPr/>
        </p:nvSpPr>
        <p:spPr>
          <a:xfrm>
            <a:off x="6003985" y="1064043"/>
            <a:ext cx="2743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Heterogeneous enums</a:t>
            </a:r>
            <a:endParaRPr sz="1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 txBox="1"/>
          <p:nvPr/>
        </p:nvSpPr>
        <p:spPr>
          <a:xfrm>
            <a:off x="359999" y="606481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4</a:t>
            </a:fld>
            <a:endParaRPr/>
          </a:p>
        </p:txBody>
      </p:sp>
      <p:pic>
        <p:nvPicPr>
          <p:cNvPr id="2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670B7A98-AFC3-4930-902F-D9E6F3A5F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019" y="1470016"/>
            <a:ext cx="5444996" cy="3196957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8CEDE1A-66BD-4AFF-9F8F-054FB44DE3C8}"/>
              </a:ext>
            </a:extLst>
          </p:cNvPr>
          <p:cNvSpPr txBox="1"/>
          <p:nvPr/>
        </p:nvSpPr>
        <p:spPr>
          <a:xfrm>
            <a:off x="320340" y="1079834"/>
            <a:ext cx="2743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1600" b="1" dirty="0" err="1"/>
              <a:t>Enumeration</a:t>
            </a:r>
            <a:endParaRPr lang="it-IT" sz="1600" b="1"/>
          </a:p>
        </p:txBody>
      </p:sp>
    </p:spTree>
    <p:extLst>
      <p:ext uri="{BB962C8B-B14F-4D97-AF65-F5344CB8AC3E}">
        <p14:creationId xmlns:p14="http://schemas.microsoft.com/office/powerpoint/2010/main" val="4078820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/>
          <p:nvPr/>
        </p:nvSpPr>
        <p:spPr>
          <a:xfrm>
            <a:off x="299841" y="666639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8"/>
          <p:cNvSpPr txBox="1"/>
          <p:nvPr/>
        </p:nvSpPr>
        <p:spPr>
          <a:xfrm>
            <a:off x="299840" y="1259257"/>
            <a:ext cx="2091092" cy="320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160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Array  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                </a:t>
            </a:r>
            <a:r>
              <a:rPr lang="it-IT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endParaRPr sz="16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5</a:t>
            </a:fld>
            <a:endParaRPr/>
          </a:p>
        </p:txBody>
      </p:sp>
      <p:sp>
        <p:nvSpPr>
          <p:cNvPr id="88" name="Google Shape;88;p8"/>
          <p:cNvSpPr txBox="1"/>
          <p:nvPr/>
        </p:nvSpPr>
        <p:spPr>
          <a:xfrm>
            <a:off x="178526" y="1527676"/>
            <a:ext cx="5327084" cy="182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000"/>
            </a:pPr>
            <a:r>
              <a:rPr lang="it-IT" sz="18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array è una raccolta omogenea di valori dello stesso tipo di dati.</a:t>
            </a:r>
            <a:br>
              <a:rPr lang="it-IT" sz="1800" b="0" i="0" u="none" strike="noStrike" cap="none" baseline="30000" dirty="0">
                <a:latin typeface="Arial"/>
                <a:ea typeface="Arial"/>
                <a:cs typeface="Arial"/>
              </a:rPr>
            </a:br>
            <a:r>
              <a:rPr lang="it-IT" sz="18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un array è possibile aggiungere, rimuovere, ordinare gli elementi attraverso metodi </a:t>
            </a:r>
            <a:r>
              <a:rPr lang="it-IT" sz="1800" baseline="30000" dirty="0"/>
              <a:t>come </a:t>
            </a:r>
            <a:r>
              <a:rPr lang="it-IT" sz="1800" baseline="30000"/>
              <a:t>push-pop-sort</a:t>
            </a:r>
            <a:r>
              <a:rPr lang="it-IT" sz="18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it-IT" sz="1800" baseline="30000"/>
              <a:t>shift-unshift-reverse-length-indexof</a:t>
            </a:r>
            <a:r>
              <a:rPr lang="it-IT" sz="18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645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8"/>
          <p:cNvSpPr txBox="1"/>
          <p:nvPr/>
        </p:nvSpPr>
        <p:spPr>
          <a:xfrm>
            <a:off x="122842" y="2579010"/>
            <a:ext cx="2886075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dirty="0">
                <a:solidFill>
                  <a:srgbClr val="FF0000"/>
                </a:solidFill>
              </a:rPr>
              <a:t>Esempio:</a:t>
            </a:r>
            <a:endParaRPr sz="14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endParaRPr lang="it-IT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arr1: </a:t>
            </a:r>
            <a:r>
              <a:rPr lang="it-IT" sz="1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[];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arr1 = ['</a:t>
            </a:r>
            <a:r>
              <a:rPr lang="it-IT" sz="1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rosso','verde','giallo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']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arr2:any[];</a:t>
            </a:r>
            <a:br>
              <a:rPr lang="it-IT" sz="12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arr2 = ['no','yes',0,1]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arr2.pop()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arr2.push(</a:t>
            </a:r>
            <a:r>
              <a:rPr lang="it-IT" sz="1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arr2.sort()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it-IT" sz="1400" b="0" i="0" u="none" strike="noStrike" cap="none" dirty="0">
                <a:latin typeface="Arial"/>
                <a:ea typeface="Arial"/>
                <a:cs typeface="Arial"/>
              </a:rPr>
            </a:b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ella 2">
            <a:extLst>
              <a:ext uri="{FF2B5EF4-FFF2-40B4-BE49-F238E27FC236}">
                <a16:creationId xmlns:a16="http://schemas.microsoft.com/office/drawing/2014/main" id="{F69A24B6-CD6C-415A-9DF9-43769C165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161649"/>
              </p:ext>
            </p:extLst>
          </p:nvPr>
        </p:nvGraphicFramePr>
        <p:xfrm>
          <a:off x="2399102" y="2655567"/>
          <a:ext cx="2786625" cy="1846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6625">
                  <a:extLst>
                    <a:ext uri="{9D8B030D-6E8A-4147-A177-3AD203B41FA5}">
                      <a16:colId xmlns:a16="http://schemas.microsoft.com/office/drawing/2014/main" val="1346147612"/>
                    </a:ext>
                  </a:extLst>
                </a:gridCol>
              </a:tblGrid>
              <a:tr h="30336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Array methods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580864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rPr lang="it-IT" sz="1100"/>
                        <a:t>push()- aggiunge un elemento in coda dell'array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310147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100" b="0" i="0" u="none" strike="noStrike" noProof="0">
                          <a:latin typeface="Arial"/>
                        </a:rPr>
                        <a:t>pop()- elimina l'ultimo elemento dell'array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382117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100" b="0" i="0" u="none" strike="noStrike" noProof="0" dirty="0">
                          <a:latin typeface="Arial"/>
                        </a:rPr>
                        <a:t>sort()- ordina l'array </a:t>
                      </a:r>
                      <a:r>
                        <a:rPr lang="it-IT" sz="1100" b="0" i="0" u="none" strike="noStrike" noProof="0">
                          <a:latin typeface="Arial"/>
                        </a:rPr>
                        <a:t>in  sequenza crescente</a:t>
                      </a:r>
                      <a:endParaRPr lang="it-IT" sz="110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58077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100" b="0" i="0" u="none" strike="noStrike" noProof="0">
                          <a:latin typeface="Arial"/>
                        </a:rPr>
                        <a:t>reverse()- ordina l'array in sequenza decrescente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90343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/>
          <p:nvPr/>
        </p:nvSpPr>
        <p:spPr>
          <a:xfrm>
            <a:off x="329920" y="598961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8"/>
          <p:cNvSpPr txBox="1"/>
          <p:nvPr/>
        </p:nvSpPr>
        <p:spPr>
          <a:xfrm>
            <a:off x="359998" y="1169020"/>
            <a:ext cx="948091" cy="470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Array  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        </a:t>
            </a:r>
            <a:endParaRPr sz="16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6</a:t>
            </a:fld>
            <a:endParaRPr/>
          </a:p>
        </p:txBody>
      </p:sp>
      <p:pic>
        <p:nvPicPr>
          <p:cNvPr id="2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E8891C9-CCE0-42B3-A074-FFC2357BA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82" y="1364503"/>
            <a:ext cx="5550714" cy="329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57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 txBox="1"/>
          <p:nvPr/>
        </p:nvSpPr>
        <p:spPr>
          <a:xfrm>
            <a:off x="307361" y="666639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24"/>
          <p:cNvSpPr txBox="1"/>
          <p:nvPr/>
        </p:nvSpPr>
        <p:spPr>
          <a:xfrm>
            <a:off x="307360" y="1289336"/>
            <a:ext cx="1324078" cy="22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160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Funzioni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</a:t>
            </a:r>
            <a:endParaRPr sz="16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7</a:t>
            </a:fld>
            <a:endParaRPr/>
          </a:p>
        </p:txBody>
      </p:sp>
      <p:sp>
        <p:nvSpPr>
          <p:cNvPr id="110" name="Google Shape;110;p24"/>
          <p:cNvSpPr txBox="1"/>
          <p:nvPr/>
        </p:nvSpPr>
        <p:spPr>
          <a:xfrm>
            <a:off x="208605" y="1510474"/>
            <a:ext cx="5319630" cy="3129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funzioni sono l'elemento costitutivo di base di qualsiasi applicazione, siano esse funzioni locali, importate da un altro modulo o metodi su una classe. Sono anche valori e, proprio come altri valori, </a:t>
            </a:r>
            <a:r>
              <a:rPr lang="it-IT" sz="2000" b="0" i="0" u="none" strike="noStrike" cap="none" baseline="30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r>
              <a:rPr lang="it-IT" sz="20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 molti modi per descrivere come possono essere chiamate le funzioni.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2000"/>
            </a:pPr>
            <a:r>
              <a:rPr lang="it-IT" sz="2000" baseline="30000" dirty="0"/>
              <a:t>Una funzione è composta da un nome, dal corpo dove all'interno posso esserci dei parametri , dal type e bloc code con il quale deve </a:t>
            </a:r>
            <a:r>
              <a:rPr lang="it-IT" sz="2000" baseline="30000"/>
              <a:t>tornare una funzione, e la chiamata function in cui verranno settati i valori dei parametri chiamati argomenti</a:t>
            </a:r>
            <a:endParaRPr lang="it-IT" sz="2000" b="0" i="0" u="none" strike="noStrike" cap="none" baseline="300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953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latin typeface="Arial"/>
              <a:ea typeface="Arial"/>
              <a:cs typeface="Arial"/>
            </a:endParaRPr>
          </a:p>
          <a:p>
            <a:pPr>
              <a:buSzPts val="1400"/>
            </a:pPr>
            <a:endParaRPr lang="it-IT" baseline="30000">
              <a:solidFill>
                <a:srgbClr val="0645A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 txBox="1"/>
          <p:nvPr/>
        </p:nvSpPr>
        <p:spPr>
          <a:xfrm>
            <a:off x="307361" y="666639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24"/>
          <p:cNvSpPr txBox="1"/>
          <p:nvPr/>
        </p:nvSpPr>
        <p:spPr>
          <a:xfrm>
            <a:off x="307360" y="1289336"/>
            <a:ext cx="1211282" cy="274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160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Funzioni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</a:t>
            </a:r>
            <a:endParaRPr lang="it-IT" sz="16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9" name="Google Shape;10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8</a:t>
            </a:fld>
            <a:endParaRPr/>
          </a:p>
        </p:txBody>
      </p:sp>
      <p:sp>
        <p:nvSpPr>
          <p:cNvPr id="111" name="Google Shape;111;p24"/>
          <p:cNvSpPr txBox="1"/>
          <p:nvPr/>
        </p:nvSpPr>
        <p:spPr>
          <a:xfrm>
            <a:off x="229253" y="1502359"/>
            <a:ext cx="2743199" cy="2646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dirty="0">
                <a:solidFill>
                  <a:srgbClr val="FF0000"/>
                </a:solidFill>
              </a:rPr>
              <a:t>Esempio:</a:t>
            </a:r>
            <a:endParaRPr lang="it-IT" sz="14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200" b="0" i="0" u="none" strike="noStrike" cap="none" err="1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b="0" i="0" u="none" strike="noStrike" cap="none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(x: </a:t>
            </a:r>
            <a:r>
              <a:rPr lang="it-IT" sz="1200" b="0" i="0" u="none" strike="noStrike" cap="none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y: </a:t>
            </a:r>
            <a:r>
              <a:rPr lang="it-IT" sz="1200" b="0" i="0" u="none" strike="noStrike" cap="none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number,z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?:</a:t>
            </a:r>
            <a:r>
              <a:rPr lang="it-IT" sz="1200" b="0" i="0" u="none" strike="noStrike" cap="none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 </a:t>
            </a:r>
            <a:r>
              <a:rPr lang="it-IT" sz="1200" b="0" i="0" u="none" strike="noStrike" cap="none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</a:t>
            </a:r>
            <a:r>
              <a:rPr lang="it-IT" sz="1200" b="0" i="0" u="none" strike="noStrike" cap="none" dirty="0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b="0" i="0" u="none" strike="noStrike" cap="none" err="1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x + y;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}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console.log(</a:t>
            </a:r>
            <a:r>
              <a:rPr lang="it-IT" sz="1200" b="0" i="0" u="none" strike="noStrike" cap="none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(1,3));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it-IT" sz="1400" b="0" i="0" u="none" strike="noStrike" cap="none" dirty="0">
                <a:latin typeface="Arial"/>
                <a:ea typeface="Arial"/>
                <a:cs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4"/>
          <p:cNvSpPr txBox="1"/>
          <p:nvPr/>
        </p:nvSpPr>
        <p:spPr>
          <a:xfrm>
            <a:off x="4936649" y="2243645"/>
            <a:ext cx="362784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400"/>
            </a:pPr>
            <a:r>
              <a:rPr lang="it-IT" sz="1200" i="0" u="none" strike="noStrike" cap="none" dirty="0">
                <a:solidFill>
                  <a:srgbClr val="004B53"/>
                </a:solidFill>
                <a:latin typeface="Arial"/>
                <a:ea typeface="Arial"/>
                <a:cs typeface="Arial"/>
                <a:sym typeface="Arial"/>
              </a:rPr>
              <a:t>Il simbolo ? all'interno </a:t>
            </a:r>
            <a:r>
              <a:rPr lang="it-IT" sz="1200" i="0" u="none" strike="noStrike" cap="none">
                <a:solidFill>
                  <a:srgbClr val="004B53"/>
                </a:solidFill>
                <a:latin typeface="Arial"/>
                <a:ea typeface="Arial"/>
                <a:cs typeface="Arial"/>
                <a:sym typeface="Arial"/>
              </a:rPr>
              <a:t>di</a:t>
            </a:r>
            <a:r>
              <a:rPr lang="it-IT" sz="1200">
                <a:solidFill>
                  <a:srgbClr val="004B53"/>
                </a:solidFill>
              </a:rPr>
              <a:t> </a:t>
            </a:r>
            <a:r>
              <a:rPr lang="it-IT" sz="1200" i="0" u="none" strike="noStrike" cap="none">
                <a:solidFill>
                  <a:srgbClr val="004B53"/>
                </a:solidFill>
                <a:latin typeface="Arial"/>
                <a:ea typeface="Arial"/>
                <a:cs typeface="Arial"/>
                <a:sym typeface="Arial"/>
              </a:rPr>
              <a:t>una </a:t>
            </a:r>
            <a:r>
              <a:rPr lang="it-IT" sz="1200" i="0" u="none" strike="noStrike" cap="none" dirty="0">
                <a:solidFill>
                  <a:srgbClr val="004B53"/>
                </a:solidFill>
                <a:latin typeface="Arial"/>
                <a:ea typeface="Arial"/>
                <a:cs typeface="Arial"/>
                <a:sym typeface="Arial"/>
              </a:rPr>
              <a:t>funzione  descrive che il parametro è opzionale,</a:t>
            </a:r>
            <a:endParaRPr lang="it-IT" sz="12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buSzPts val="1400"/>
            </a:pPr>
            <a:r>
              <a:rPr lang="it-IT" sz="1200" i="0" u="none" strike="noStrike" cap="none" dirty="0">
                <a:solidFill>
                  <a:srgbClr val="004B53"/>
                </a:solidFill>
                <a:latin typeface="Arial"/>
                <a:ea typeface="Arial"/>
                <a:cs typeface="Arial"/>
                <a:sym typeface="Arial"/>
              </a:rPr>
              <a:t>mentre la keyword</a:t>
            </a:r>
            <a:r>
              <a:rPr lang="it-IT" sz="1200" i="0" u="none" strike="noStrike" cap="none" dirty="0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i="0" u="none" strike="noStrike" cap="none" err="1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it-IT" sz="1200" i="0" u="none" strike="noStrike" cap="none" dirty="0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it-IT" sz="1200" i="0" u="none" strike="noStrike" cap="none" dirty="0">
                <a:solidFill>
                  <a:srgbClr val="004B53"/>
                </a:solidFill>
                <a:latin typeface="Arial"/>
                <a:ea typeface="Arial"/>
                <a:cs typeface="Arial"/>
                <a:sym typeface="Arial"/>
              </a:rPr>
              <a:t>ciò che dovrà tornare la funzione,</a:t>
            </a:r>
            <a:r>
              <a:rPr lang="it-IT" sz="1200" i="0" u="none" strike="noStrike" cap="none" dirty="0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lang="it-IT" sz="1200">
                <a:solidFill>
                  <a:srgbClr val="004B53"/>
                </a:solidFill>
              </a:rPr>
              <a:t> referenzia l'oggetto</a:t>
            </a:r>
            <a:r>
              <a:rPr lang="it-IT" sz="1200" i="0" u="none" strike="noStrike" cap="none">
                <a:solidFill>
                  <a:srgbClr val="004B5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i="0" u="none" strike="noStrike" cap="none" dirty="0">
                <a:solidFill>
                  <a:srgbClr val="004B53"/>
                </a:solidFill>
                <a:latin typeface="Arial"/>
                <a:ea typeface="Arial"/>
                <a:cs typeface="Arial"/>
                <a:sym typeface="Arial"/>
              </a:rPr>
              <a:t>states.</a:t>
            </a:r>
            <a:endParaRPr sz="1200" i="0" u="none" strike="noStrike" cap="none">
              <a:solidFill>
                <a:srgbClr val="004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Google Shape;113;p24"/>
          <p:cNvSpPr txBox="1"/>
          <p:nvPr/>
        </p:nvSpPr>
        <p:spPr>
          <a:xfrm>
            <a:off x="2782970" y="1779409"/>
            <a:ext cx="2383077" cy="292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Funzioni e oggetti</a:t>
            </a:r>
            <a:endParaRPr sz="14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200" b="0" i="0" u="none" strike="noStrike" cap="none" err="1">
                <a:solidFill>
                  <a:srgbClr val="00717D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b="0" i="0" u="none" strike="noStrike" cap="none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states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:{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 </a:t>
            </a:r>
            <a:r>
              <a:rPr lang="it-IT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italy:string</a:t>
            </a:r>
            <a:endParaRPr sz="1200" b="0" i="0" u="none" strike="noStrike" cap="none" dirty="0" err="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 </a:t>
            </a:r>
            <a:r>
              <a:rPr lang="it-IT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england:string</a:t>
            </a:r>
            <a:endParaRPr sz="1200" b="0" i="0" u="none" strike="noStrike" cap="none" dirty="0" err="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 </a:t>
            </a:r>
            <a:r>
              <a:rPr lang="it-IT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id:any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=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{</a:t>
            </a:r>
            <a:r>
              <a:rPr lang="it-IT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italy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:'</a:t>
            </a:r>
            <a:r>
              <a:rPr lang="it-IT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rome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',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 </a:t>
            </a:r>
            <a:r>
              <a:rPr lang="it-IT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england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:'</a:t>
            </a:r>
            <a:r>
              <a:rPr lang="it-IT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london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',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 </a:t>
            </a:r>
            <a:r>
              <a:rPr lang="it-IT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id:function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(){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this.italy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it-IT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this.england</a:t>
            </a:r>
            <a:endParaRPr sz="1200" b="0" i="0" u="none" strike="noStrike" cap="none" dirty="0" err="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 </a:t>
            </a:r>
            <a:r>
              <a:rPr lang="it-IT" sz="1200"/>
              <a:t>}};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console.log(states.id())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5495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 txBox="1"/>
          <p:nvPr/>
        </p:nvSpPr>
        <p:spPr>
          <a:xfrm>
            <a:off x="359999" y="63656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24"/>
          <p:cNvSpPr txBox="1"/>
          <p:nvPr/>
        </p:nvSpPr>
        <p:spPr>
          <a:xfrm>
            <a:off x="405117" y="1138941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Funzioni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it-IT" sz="14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</a:t>
            </a:r>
            <a:endParaRPr sz="16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9</a:t>
            </a:fld>
            <a:endParaRPr/>
          </a:p>
        </p:txBody>
      </p:sp>
      <p:pic>
        <p:nvPicPr>
          <p:cNvPr id="2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824E48BA-D8C9-4E16-A4FB-DA142E874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39" y="1401256"/>
            <a:ext cx="5525503" cy="326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501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 txBox="1"/>
          <p:nvPr/>
        </p:nvSpPr>
        <p:spPr>
          <a:xfrm>
            <a:off x="284802" y="64408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9"/>
          <p:cNvSpPr txBox="1"/>
          <p:nvPr/>
        </p:nvSpPr>
        <p:spPr>
          <a:xfrm>
            <a:off x="284801" y="1221658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160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Oggetti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   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600" b="0" i="0" u="none" strike="noStrike" cap="none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Esempi:</a:t>
            </a:r>
            <a:endParaRPr sz="1600" b="0" i="0" u="none" strike="noStrike" cap="none" dirty="0">
              <a:solidFill>
                <a:srgbClr val="FF0000"/>
              </a:solidFill>
              <a:ea typeface="Consolas"/>
              <a:cs typeface="Consolas"/>
              <a:sym typeface="Consolas"/>
            </a:endParaRPr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10</a:t>
            </a:fld>
            <a:endParaRPr/>
          </a:p>
        </p:txBody>
      </p:sp>
      <p:sp>
        <p:nvSpPr>
          <p:cNvPr id="99" name="Google Shape;99;p9"/>
          <p:cNvSpPr txBox="1"/>
          <p:nvPr/>
        </p:nvSpPr>
        <p:spPr>
          <a:xfrm>
            <a:off x="204310" y="1598549"/>
            <a:ext cx="2589900" cy="3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Gli oggetti in typescript sono   definiti da una costante o variabile  assegnandone il tipo dove all'interno l'oggetto sarà caratterizzato dalla proprietà e valore.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645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9"/>
          <p:cNvSpPr txBox="1"/>
          <p:nvPr/>
        </p:nvSpPr>
        <p:spPr>
          <a:xfrm>
            <a:off x="2909259" y="1577556"/>
            <a:ext cx="2743200" cy="3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mode  javascript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717D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states = {italy:'rome',england:'london',france:'paris'};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console.log(states.italy)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mode typescript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717D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states:{italy:string,england:string,france:string} = {italy:'rome',england:'london',france:'paris'};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console.log(states)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 txBox="1"/>
          <p:nvPr/>
        </p:nvSpPr>
        <p:spPr>
          <a:xfrm>
            <a:off x="284802" y="64408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9"/>
          <p:cNvSpPr txBox="1"/>
          <p:nvPr/>
        </p:nvSpPr>
        <p:spPr>
          <a:xfrm>
            <a:off x="284801" y="1221658"/>
            <a:ext cx="1346637" cy="244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160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Oggetti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   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</a:t>
            </a:r>
            <a:r>
              <a:rPr lang="it-IT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endParaRPr lang="it-IT" sz="1600" b="0" i="0" u="none" strike="noStrike" cap="none" dirty="0">
              <a:solidFill>
                <a:srgbClr val="FF000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11</a:t>
            </a:fld>
            <a:endParaRPr/>
          </a:p>
        </p:txBody>
      </p:sp>
      <p:pic>
        <p:nvPicPr>
          <p:cNvPr id="2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B8B8B750-2F37-4989-88F0-BC82533B3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42" y="1394113"/>
            <a:ext cx="5438804" cy="327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227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/>
          <p:nvPr/>
        </p:nvSpPr>
        <p:spPr>
          <a:xfrm>
            <a:off x="2559744" y="1840161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it-IT" sz="24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7" name="Google Shape;8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12</a:t>
            </a:fld>
            <a:endParaRPr/>
          </a:p>
        </p:txBody>
      </p:sp>
      <p:sp>
        <p:nvSpPr>
          <p:cNvPr id="89" name="Google Shape;89;p8"/>
          <p:cNvSpPr txBox="1"/>
          <p:nvPr/>
        </p:nvSpPr>
        <p:spPr>
          <a:xfrm>
            <a:off x="2262119" y="1838093"/>
            <a:ext cx="4608979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400"/>
            </a:pPr>
            <a:br>
              <a:rPr lang="it-IT" sz="14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2800" dirty="0"/>
              <a:t>Gestione degli errori ed introduzione all'OOP </a:t>
            </a:r>
            <a:endParaRPr lang="it-IT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5045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/>
        </p:nvSpPr>
        <p:spPr>
          <a:xfrm>
            <a:off x="322400" y="65912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25"/>
          <p:cNvSpPr txBox="1"/>
          <p:nvPr/>
        </p:nvSpPr>
        <p:spPr>
          <a:xfrm>
            <a:off x="359998" y="1251737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Debugging </a:t>
            </a:r>
            <a:r>
              <a:rPr lang="it-IT" sz="1600" b="0" i="0" u="none" strike="noStrike" cap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  </a:t>
            </a:r>
            <a:r>
              <a:rPr lang="it-IT" sz="14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</a:t>
            </a:r>
            <a:r>
              <a:rPr lang="it-IT" sz="1600" b="0" i="0" u="none" strike="noStrike" cap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endParaRPr sz="1600" b="0" i="0" u="none" strike="noStrike" cap="non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" name="Google Shape;122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13</a:t>
            </a:fld>
            <a:endParaRPr/>
          </a:p>
        </p:txBody>
      </p:sp>
      <p:sp>
        <p:nvSpPr>
          <p:cNvPr id="123" name="Google Shape;123;p25"/>
          <p:cNvSpPr txBox="1"/>
          <p:nvPr/>
        </p:nvSpPr>
        <p:spPr>
          <a:xfrm>
            <a:off x="4327607" y="2003009"/>
            <a:ext cx="4066101" cy="2103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18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Come per </a:t>
            </a:r>
            <a:r>
              <a:rPr lang="it-IT" sz="1800" b="0" i="0" u="none" strike="noStrike" cap="none" baseline="3000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r>
              <a:rPr lang="it-IT" sz="18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rimangono invariate anche su </a:t>
            </a:r>
            <a:r>
              <a:rPr lang="it-IT" sz="1800" b="0" i="0" u="none" strike="noStrike" cap="none" baseline="3000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r>
              <a:rPr lang="it-IT" sz="18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 operazioni di debug: </a:t>
            </a:r>
            <a:r>
              <a:rPr lang="it-IT" sz="1800" b="0" i="0" u="none" strike="noStrike" cap="none" baseline="30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step over(</a:t>
            </a:r>
            <a:r>
              <a:rPr lang="it-IT" sz="1800" b="0" i="0" u="none" strike="noStrike" cap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l'editor andrà alla riga di codice successiva) </a:t>
            </a:r>
            <a:r>
              <a:rPr lang="it-IT" sz="1800" b="0" i="0" u="none" strike="noStrike" cap="none" baseline="30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step </a:t>
            </a:r>
            <a:r>
              <a:rPr lang="it-IT" sz="1800" b="0" i="0" u="none" strike="noStrike" cap="none" baseline="3000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into</a:t>
            </a:r>
            <a:r>
              <a:rPr lang="it-IT" sz="1800" b="0" i="0" u="none" strike="noStrike" cap="none" baseline="30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800" b="0" i="0" u="none" strike="noStrike" cap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(l'editor andrà nel dettaglio dell'istruzione </a:t>
            </a:r>
            <a:r>
              <a:rPr lang="it-IT" sz="1800" b="0" i="0" u="none" strike="noStrike" cap="none" baseline="3000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es.parametro</a:t>
            </a:r>
            <a:r>
              <a:rPr lang="it-IT" sz="1800" b="0" i="0" u="none" strike="noStrike" cap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 una funzione), </a:t>
            </a:r>
            <a:r>
              <a:rPr lang="it-IT" sz="1800" b="0" i="0" u="none" strike="noStrike" cap="none" baseline="3000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resume</a:t>
            </a:r>
            <a:r>
              <a:rPr lang="it-IT" sz="1800" b="0" i="0" u="none" strike="noStrike" cap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(l'editor andrà al </a:t>
            </a:r>
            <a:r>
              <a:rPr lang="it-IT" sz="1800" b="0" i="0" u="none" strike="noStrike" cap="none" baseline="3000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breakpoint</a:t>
            </a:r>
            <a:r>
              <a:rPr lang="it-IT" sz="1800" b="0" i="0" u="none" strike="noStrike" cap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successivo).</a:t>
            </a:r>
            <a:endParaRPr sz="1800" b="0" i="0" u="none" strike="noStrike" cap="none" baseline="30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645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5"/>
          <p:cNvSpPr txBox="1"/>
          <p:nvPr/>
        </p:nvSpPr>
        <p:spPr>
          <a:xfrm>
            <a:off x="262311" y="1612033"/>
            <a:ext cx="3941002" cy="1846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Configurazione Debug VS Code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Selezionare lo strumento di</a:t>
            </a:r>
            <a:endParaRPr lang="it-IT" sz="1200" dirty="0">
              <a:solidFill>
                <a:schemeClr val="dk1"/>
              </a:solidFill>
            </a:endParaRPr>
          </a:p>
          <a:p>
            <a:pPr>
              <a:buSzPts val="1400"/>
            </a:pPr>
            <a:r>
              <a:rPr lang="it-IT" sz="1200" dirty="0">
                <a:solidFill>
                  <a:schemeClr val="dk1"/>
                </a:solidFill>
              </a:rPr>
              <a:t> 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debug preferito io utilizzo</a:t>
            </a:r>
            <a:br>
              <a:rPr lang="it-IT" sz="1200" dirty="0"/>
            </a:br>
            <a:r>
              <a:rPr lang="it-IT" sz="1200" dirty="0">
                <a:solidFill>
                  <a:schemeClr val="dk1"/>
                </a:solidFill>
              </a:rPr>
              <a:t> </a:t>
            </a:r>
            <a:r>
              <a:rPr lang="it-IT" sz="12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Launch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Program(su </a:t>
            </a:r>
            <a:r>
              <a:rPr lang="it-IT" sz="12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configuration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)- specificare nel file </a:t>
            </a:r>
            <a:r>
              <a:rPr lang="it-IT" sz="12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launch.json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r>
              <a:rPr lang="it-IT" sz="12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workspaceFolder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}/nome file da debuggare- selezionare i </a:t>
            </a:r>
            <a:r>
              <a:rPr lang="it-IT" sz="12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breakpoint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infine start debug.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/>
        </p:nvSpPr>
        <p:spPr>
          <a:xfrm>
            <a:off x="277282" y="696718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25"/>
          <p:cNvSpPr txBox="1"/>
          <p:nvPr/>
        </p:nvSpPr>
        <p:spPr>
          <a:xfrm>
            <a:off x="307360" y="1236698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Debugging </a:t>
            </a:r>
            <a:r>
              <a:rPr lang="it-IT" sz="1600" b="0" i="0" u="none" strike="noStrike" cap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  </a:t>
            </a:r>
            <a:r>
              <a:rPr lang="it-IT" sz="14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</a:t>
            </a:r>
            <a:r>
              <a:rPr lang="it-IT" sz="1600" b="0" i="0" u="none" strike="noStrike" cap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endParaRPr sz="1600" b="0" i="0" u="none" strike="noStrike" cap="non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" name="Google Shape;122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14</a:t>
            </a:fld>
            <a:endParaRPr/>
          </a:p>
        </p:txBody>
      </p:sp>
      <p:pic>
        <p:nvPicPr>
          <p:cNvPr id="5" name="Immagine 5" descr="Immagine che contiene testo, screenshot, monitor, schermo&#10;&#10;Descrizione generata automaticamente">
            <a:extLst>
              <a:ext uri="{FF2B5EF4-FFF2-40B4-BE49-F238E27FC236}">
                <a16:creationId xmlns:a16="http://schemas.microsoft.com/office/drawing/2014/main" id="{73822006-0F54-4FF8-AB2B-CE719566B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301" y="1529562"/>
            <a:ext cx="5388378" cy="313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100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/>
        </p:nvSpPr>
        <p:spPr>
          <a:xfrm>
            <a:off x="359999" y="65160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26"/>
          <p:cNvSpPr txBox="1"/>
          <p:nvPr/>
        </p:nvSpPr>
        <p:spPr>
          <a:xfrm>
            <a:off x="359998" y="1195836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1" i="0" u="none" strike="noStrike" cap="none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Gestione degli errori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   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Esempio 1: </a:t>
            </a:r>
            <a:r>
              <a:rPr lang="it-IT" sz="1400" b="1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endParaRPr sz="1600" b="0" i="0" u="none" strike="noStrike" cap="none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" name="Google Shape;133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15</a:t>
            </a:fld>
            <a:endParaRPr/>
          </a:p>
        </p:txBody>
      </p:sp>
      <p:sp>
        <p:nvSpPr>
          <p:cNvPr id="134" name="Google Shape;134;p26"/>
          <p:cNvSpPr txBox="1"/>
          <p:nvPr/>
        </p:nvSpPr>
        <p:spPr>
          <a:xfrm>
            <a:off x="296855" y="1537170"/>
            <a:ext cx="3137980" cy="2797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Come per Javascript rimangono invariate anche su typescript le operazioni di handling exception: </a:t>
            </a:r>
            <a:r>
              <a:rPr lang="it-IT" sz="2000" b="1" i="0" u="none" strike="noStrike" cap="none" baseline="30000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try-catch-finally </a:t>
            </a:r>
            <a:r>
              <a:rPr lang="it-IT" sz="20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 gestire eventuali eccezioni presenti nel programma e </a:t>
            </a:r>
            <a:r>
              <a:rPr lang="it-IT" sz="2000" b="1" i="0" u="none" strike="noStrike" cap="none" baseline="30000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throw </a:t>
            </a:r>
            <a:r>
              <a:rPr lang="it-IT" sz="20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 lanciare un messaggio di errore.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645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6"/>
          <p:cNvSpPr txBox="1"/>
          <p:nvPr/>
        </p:nvSpPr>
        <p:spPr>
          <a:xfrm>
            <a:off x="3438956" y="1607246"/>
            <a:ext cx="2743200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try</a:t>
            </a: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{ 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 exception:number = 4/0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catch</a:t>
            </a: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it-IT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error</a:t>
            </a: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finally</a:t>
            </a: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console.log(' eccezione gestita')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6273733" y="1366305"/>
            <a:ext cx="27432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 exception:number = 4/0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console.log(exception)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Infinity – eccezione-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6"/>
          <p:cNvSpPr txBox="1"/>
          <p:nvPr/>
        </p:nvSpPr>
        <p:spPr>
          <a:xfrm>
            <a:off x="6388768" y="1131196"/>
            <a:ext cx="2743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Esempio 2: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/>
        </p:nvSpPr>
        <p:spPr>
          <a:xfrm>
            <a:off x="359999" y="606481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26"/>
          <p:cNvSpPr txBox="1"/>
          <p:nvPr/>
        </p:nvSpPr>
        <p:spPr>
          <a:xfrm>
            <a:off x="359998" y="1180796"/>
            <a:ext cx="2730269" cy="289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1600" b="1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Gestione degli errori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   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</a:t>
            </a:r>
            <a:r>
              <a:rPr lang="it-IT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endParaRPr lang="it-IT" sz="1600" b="0" i="0" u="none" strike="noStrike" cap="none" dirty="0">
              <a:solidFill>
                <a:srgbClr val="FF000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33" name="Google Shape;133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16</a:t>
            </a:fld>
            <a:endParaRPr/>
          </a:p>
        </p:txBody>
      </p:sp>
      <p:pic>
        <p:nvPicPr>
          <p:cNvPr id="2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940509FA-D83D-4A6A-ACBE-B1DF0F34A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85" y="1620405"/>
            <a:ext cx="5334414" cy="304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111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/>
        </p:nvSpPr>
        <p:spPr>
          <a:xfrm>
            <a:off x="322400" y="65160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359998" y="1230455"/>
            <a:ext cx="3820629" cy="289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1600" b="1" i="0" u="none" strike="noStrike" cap="none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Introduzione all'OOP</a:t>
            </a:r>
            <a:r>
              <a:rPr lang="it-IT" sz="1600" b="0" i="0" u="none" strike="noStrike" cap="none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  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</a:t>
            </a:r>
            <a:r>
              <a:rPr lang="it-IT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     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  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endParaRPr sz="1600" b="0" i="0" u="none" strike="noStrike" cap="none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" name="Google Shape;146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17</a:t>
            </a:fld>
            <a:endParaRPr/>
          </a:p>
        </p:txBody>
      </p:sp>
      <p:sp>
        <p:nvSpPr>
          <p:cNvPr id="147" name="Google Shape;147;p27"/>
          <p:cNvSpPr txBox="1"/>
          <p:nvPr/>
        </p:nvSpPr>
        <p:spPr>
          <a:xfrm>
            <a:off x="274296" y="1521204"/>
            <a:ext cx="2589967" cy="2103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typescript a differenza di Javascript riguardo alla programmazione ad oggetti offre molte più funzionalità che vedremo durante il corso.</a:t>
            </a:r>
            <a:endParaRPr sz="1800" b="0" i="0" u="none" strike="noStrike" cap="none" baseline="30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645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7"/>
          <p:cNvSpPr txBox="1"/>
          <p:nvPr/>
        </p:nvSpPr>
        <p:spPr>
          <a:xfrm>
            <a:off x="3027777" y="1118641"/>
            <a:ext cx="4987177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600" b="0" i="0" u="sng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Caratteristiche della classe: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endParaRPr lang="it-IT"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ella 2">
            <a:extLst>
              <a:ext uri="{FF2B5EF4-FFF2-40B4-BE49-F238E27FC236}">
                <a16:creationId xmlns:a16="http://schemas.microsoft.com/office/drawing/2014/main" id="{7D26477E-864E-4C07-9C03-9BE772C54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032098"/>
              </p:ext>
            </p:extLst>
          </p:nvPr>
        </p:nvGraphicFramePr>
        <p:xfrm>
          <a:off x="3095849" y="1991442"/>
          <a:ext cx="5173178" cy="242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589">
                  <a:extLst>
                    <a:ext uri="{9D8B030D-6E8A-4147-A177-3AD203B41FA5}">
                      <a16:colId xmlns:a16="http://schemas.microsoft.com/office/drawing/2014/main" val="297117054"/>
                    </a:ext>
                  </a:extLst>
                </a:gridCol>
                <a:gridCol w="2586589">
                  <a:extLst>
                    <a:ext uri="{9D8B030D-6E8A-4147-A177-3AD203B41FA5}">
                      <a16:colId xmlns:a16="http://schemas.microsoft.com/office/drawing/2014/main" val="426811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modificatori di accesso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public-private-protected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604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/>
                        <a:t>Proprietà di classe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/>
                        <a:t>es. nome:string = 'fabio'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916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/>
                        <a:t>Costruttore di classe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/>
                        <a:t>es. constructor(nome:string){this.nome = nome;</a:t>
                      </a:r>
                    </a:p>
                    <a:p>
                      <a:pPr lvl="0">
                        <a:buNone/>
                      </a:pPr>
                      <a:r>
                        <a:rPr lang="it-IT"/>
                        <a:t>}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376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/>
                        <a:t>modificatore static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/>
                        <a:t>static getData():void{}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093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/>
                        <a:t>variabile di istanza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/>
                        <a:t>let studenti = new Studenti();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955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/>
        </p:nvSpPr>
        <p:spPr>
          <a:xfrm>
            <a:off x="322400" y="65160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359998" y="967264"/>
            <a:ext cx="4211656" cy="71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1600" b="1" i="0" u="none" strike="noStrike" cap="none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Introduzione all'OOP</a:t>
            </a:r>
            <a:r>
              <a:rPr lang="it-IT" sz="1600" b="0" i="0" u="none" strike="noStrike" cap="none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  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 </a:t>
            </a:r>
            <a:r>
              <a:rPr lang="it-IT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endParaRPr sz="1600" b="0" i="0" u="none" strike="noStrike" cap="none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" name="Google Shape;146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18</a:t>
            </a:fld>
            <a:endParaRPr/>
          </a:p>
        </p:txBody>
      </p:sp>
      <p:sp>
        <p:nvSpPr>
          <p:cNvPr id="149" name="Google Shape;149;p27"/>
          <p:cNvSpPr txBox="1"/>
          <p:nvPr/>
        </p:nvSpPr>
        <p:spPr>
          <a:xfrm>
            <a:off x="319014" y="1915852"/>
            <a:ext cx="5149515" cy="2323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it-IT"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classe in informatica è un modello così come nella vita quotidiana può essere una persona o un bene materiale come </a:t>
            </a:r>
            <a:r>
              <a:rPr lang="it-IT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l'automobile.</a:t>
            </a:r>
            <a:endParaRPr lang="it-IT" sz="1300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it-IT" sz="13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classe ha delle proprietà, dei metodi e tante altre </a:t>
            </a:r>
            <a:r>
              <a:rPr lang="it-IT"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caratteristiche come visto in precedenza. </a:t>
            </a:r>
            <a:endParaRPr sz="1300" dirty="0"/>
          </a:p>
          <a:p>
            <a:endParaRPr lang="it-IT" sz="13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Gli aspetti principali della classe sono i metodi i quali svolgono determinate azioni all'interno della classe e dalle variabili di istanza che permettono</a:t>
            </a:r>
            <a:r>
              <a:rPr lang="it-IT" sz="1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alla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 di essere istanziata</a:t>
            </a:r>
            <a:r>
              <a:rPr lang="it-IT" sz="1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 invocare proprietà o metodi</a:t>
            </a:r>
            <a:endParaRPr sz="1300" dirty="0"/>
          </a:p>
        </p:txBody>
      </p:sp>
      <p:sp>
        <p:nvSpPr>
          <p:cNvPr id="150" name="Google Shape;150;p27"/>
          <p:cNvSpPr txBox="1"/>
          <p:nvPr/>
        </p:nvSpPr>
        <p:spPr>
          <a:xfrm>
            <a:off x="5499469" y="1581928"/>
            <a:ext cx="3404935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0" i="0" u="none" strike="noStrike" cap="none" dirty="0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Studente {  // nome della classe</a:t>
            </a:r>
            <a:endParaRPr lang="it-IT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nome: 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// proprietà di classe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cognome:string</a:t>
            </a:r>
            <a:endParaRPr sz="1100" b="0" i="0" u="none" strike="noStrike" cap="none" dirty="0" err="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0" i="0" u="none" strike="noStrike" cap="none" dirty="0" err="1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constructor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nome:string,cognome:string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{ //il costruttore referenzia e inizializza le proprietà della classe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this.nome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nome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this.cognome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cognome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getStudente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(): 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{ //metodo </a:t>
            </a:r>
            <a:r>
              <a:rPr lang="it-IT" sz="1100" dirty="0"/>
              <a:t>di  classe            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</a:t>
            </a:r>
            <a:endParaRPr lang="it-IT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this.nome</a:t>
            </a:r>
            <a:endParaRPr sz="1100" b="0" i="0" u="none" strike="noStrike" cap="none" dirty="0" err="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0" i="0" u="none" strike="noStrike" cap="none" dirty="0" err="1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studente = 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newStudente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('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mario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',rossi'); // la classe viene istanziata</a:t>
            </a:r>
            <a:br>
              <a:rPr lang="it-IT" sz="1100" b="0" i="0" u="none" strike="noStrike" cap="none" dirty="0">
                <a:latin typeface="Arial"/>
                <a:ea typeface="Arial"/>
                <a:cs typeface="Arial"/>
              </a:rPr>
            </a:br>
            <a:br>
              <a:rPr lang="it-IT" sz="11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= 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studente.getStudente</a:t>
            </a:r>
            <a:br>
              <a:rPr lang="it-IT" sz="11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// istanza studente invoca il metodo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6C8174A-1E37-4E9E-BA15-62FBAE07E361}"/>
              </a:ext>
            </a:extLst>
          </p:cNvPr>
          <p:cNvSpPr txBox="1"/>
          <p:nvPr/>
        </p:nvSpPr>
        <p:spPr>
          <a:xfrm>
            <a:off x="320341" y="1553578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Concetto di classe:</a:t>
            </a:r>
          </a:p>
        </p:txBody>
      </p:sp>
    </p:spTree>
    <p:extLst>
      <p:ext uri="{BB962C8B-B14F-4D97-AF65-F5344CB8AC3E}">
        <p14:creationId xmlns:p14="http://schemas.microsoft.com/office/powerpoint/2010/main" val="515304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/>
          <p:nvPr/>
        </p:nvSpPr>
        <p:spPr>
          <a:xfrm>
            <a:off x="2559744" y="1840161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it-IT" sz="24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7" name="Google Shape;8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19</a:t>
            </a:fld>
            <a:endParaRPr/>
          </a:p>
        </p:txBody>
      </p:sp>
      <p:sp>
        <p:nvSpPr>
          <p:cNvPr id="89" name="Google Shape;89;p8"/>
          <p:cNvSpPr txBox="1"/>
          <p:nvPr/>
        </p:nvSpPr>
        <p:spPr>
          <a:xfrm>
            <a:off x="2556273" y="1947350"/>
            <a:ext cx="4608979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400"/>
            </a:pPr>
            <a:br>
              <a:rPr lang="it-IT" sz="14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2800" dirty="0"/>
              <a:t>I fondamenti dell'OOP </a:t>
            </a:r>
            <a:endParaRPr lang="it-IT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0683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/>
        </p:nvSpPr>
        <p:spPr>
          <a:xfrm>
            <a:off x="312821" y="237134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312821" y="835010"/>
            <a:ext cx="6100813" cy="30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I fondamenti dell'OOP        </a:t>
            </a:r>
            <a:r>
              <a:rPr lang="it-IT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 </a:t>
            </a:r>
            <a:r>
              <a:rPr lang="it-IT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Consolas"/>
              </a:rPr>
              <a:t>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sz="1600" b="0" i="0" u="none" strike="noStrike" cap="none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20</a:t>
            </a:fld>
            <a:endParaRPr/>
          </a:p>
        </p:txBody>
      </p:sp>
      <p:pic>
        <p:nvPicPr>
          <p:cNvPr id="2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666305C8-7BEF-4EA5-82C9-3BAA7A8CA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21" y="1417235"/>
            <a:ext cx="5595835" cy="324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512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/>
        </p:nvSpPr>
        <p:spPr>
          <a:xfrm>
            <a:off x="322400" y="614001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322399" y="1177817"/>
            <a:ext cx="6100813" cy="30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Metodi static e metodi di istanza </a:t>
            </a:r>
            <a:r>
              <a:rPr lang="it-IT" sz="16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 </a:t>
            </a:r>
            <a:r>
              <a:rPr lang="it-IT" sz="1600" b="0" i="0" u="none" strike="noStrike" cap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4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</a:t>
            </a:r>
            <a:r>
              <a:rPr lang="it-IT" sz="1600" b="0" i="0" u="none" strike="noStrike" cap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endParaRPr sz="1600" b="0" i="0" u="none" strike="noStrike" cap="non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21</a:t>
            </a:fld>
            <a:endParaRPr/>
          </a:p>
        </p:txBody>
      </p:sp>
      <p:sp>
        <p:nvSpPr>
          <p:cNvPr id="161" name="Google Shape;161;p28"/>
          <p:cNvSpPr txBox="1"/>
          <p:nvPr/>
        </p:nvSpPr>
        <p:spPr>
          <a:xfrm>
            <a:off x="236697" y="1626623"/>
            <a:ext cx="3808097" cy="259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 b="0" i="0" u="none" strike="noStrike" cap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metodi </a:t>
            </a:r>
            <a:r>
              <a:rPr lang="it-IT" sz="2000" b="0" i="0" u="none" strike="noStrike" cap="none" baseline="30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r>
              <a:rPr lang="it-IT" sz="2000" b="0" i="0" u="none" strike="noStrike" cap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hanno caratteristiche differenti rispetto ai classici metodi di istanza tra cui:</a:t>
            </a:r>
            <a:endParaRPr sz="2000" b="0" i="0" u="none" strike="noStrike" cap="none" baseline="30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2000"/>
            </a:pPr>
            <a:endParaRPr lang="it-IT" sz="2000" baseline="30000" dirty="0">
              <a:solidFill>
                <a:schemeClr val="dk1"/>
              </a:solidFill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it-IT" sz="2000" b="0" i="0" u="none" strike="noStrike" cap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Possono essere invocati solo dalla classe</a:t>
            </a:r>
            <a:endParaRPr sz="2000" b="0" i="0" u="none" strike="noStrike" cap="none" baseline="30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it-IT" sz="2000" b="0" i="0" u="none" strike="noStrike" cap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Possono collaborare solo con caratteristiche definite </a:t>
            </a:r>
            <a:r>
              <a:rPr lang="it-IT" sz="2000" b="0" i="0" u="none" strike="noStrike" cap="none" baseline="30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endParaRPr sz="2000" b="0" i="0" u="none" strike="noStrike" cap="none" baseline="30000" dirty="0" err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645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4460170" y="1626363"/>
            <a:ext cx="4112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Differenza tra metodi e funzioni</a:t>
            </a:r>
            <a:endParaRPr sz="14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4462865" y="1978230"/>
            <a:ext cx="3893719" cy="249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200"/>
            </a:pP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Seppur il loro scopo è di svolgere  azioni ma hanno collocazioni differenti.</a:t>
            </a:r>
            <a:endParaRPr lang="it-IT" dirty="0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br>
              <a:rPr lang="it-IT" sz="12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funzione può esistere anche senza una classe.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buSzPts val="1200"/>
            </a:pP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funzione non ha proprietà di lettura o scrittura come accade nei metodi.</a:t>
            </a:r>
            <a:endParaRPr lang="it-IT" dirty="0"/>
          </a:p>
          <a:p>
            <a:pPr>
              <a:buSzPts val="1200"/>
            </a:pPr>
            <a:br>
              <a:rPr lang="it-IT" sz="12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metodi sono una caratteristica della classe.</a:t>
            </a:r>
            <a:br>
              <a:rPr lang="it-IT" sz="12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Nei metodi vige la proprietà getter and setter per la lettura e scrittura del metodo.</a:t>
            </a:r>
            <a:endParaRPr lang="it-IT" dirty="0"/>
          </a:p>
          <a:p>
            <a:pPr>
              <a:buSzPts val="1200"/>
            </a:pPr>
            <a:br>
              <a:rPr lang="it-IT" sz="12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metodo viene invocato dalla classe o dall'istanza</a:t>
            </a:r>
            <a:r>
              <a:rPr lang="it-IT" sz="1200" dirty="0"/>
              <a:t> mentre una funzione dispone di una chiamata.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/>
        </p:nvSpPr>
        <p:spPr>
          <a:xfrm>
            <a:off x="322400" y="614001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322399" y="1027422"/>
            <a:ext cx="6100813" cy="30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Metodi static e metodi di istanza </a:t>
            </a:r>
            <a:r>
              <a:rPr lang="it-IT" sz="16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 </a:t>
            </a:r>
            <a:r>
              <a:rPr lang="it-IT" sz="1600" b="0" i="0" u="none" strike="noStrike" cap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4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</a:t>
            </a:r>
            <a:r>
              <a:rPr lang="it-IT" sz="1600" b="0" i="0" u="none" strike="noStrike" cap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endParaRPr sz="1600" b="0" i="0" u="none" strike="noStrike" cap="non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22</a:t>
            </a:fld>
            <a:endParaRPr/>
          </a:p>
        </p:txBody>
      </p:sp>
      <p:pic>
        <p:nvPicPr>
          <p:cNvPr id="3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D3D02FB8-00CE-4A8B-A518-53A69F629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41" y="1334979"/>
            <a:ext cx="5563103" cy="336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950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/>
        </p:nvSpPr>
        <p:spPr>
          <a:xfrm>
            <a:off x="320341" y="236336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320341" y="808937"/>
            <a:ext cx="6100813" cy="30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funzioni</a:t>
            </a:r>
            <a:r>
              <a:rPr lang="it-IT" sz="160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 metodi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endParaRPr sz="1600" b="0" i="0" u="none" strike="noStrike" cap="none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23</a:t>
            </a:fld>
            <a:endParaRPr/>
          </a:p>
        </p:txBody>
      </p:sp>
      <p:pic>
        <p:nvPicPr>
          <p:cNvPr id="2" name="Immagine 3" descr="Immagine che contiene testo, screenshot, monitor, schermo&#10;&#10;Descrizione generata automaticamente">
            <a:extLst>
              <a:ext uri="{FF2B5EF4-FFF2-40B4-BE49-F238E27FC236}">
                <a16:creationId xmlns:a16="http://schemas.microsoft.com/office/drawing/2014/main" id="{99B76FD5-351F-49D5-8D80-65AD4312C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41" y="1334606"/>
            <a:ext cx="5654666" cy="333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155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/>
          <p:nvPr/>
        </p:nvSpPr>
        <p:spPr>
          <a:xfrm>
            <a:off x="2559744" y="1840161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it-IT" sz="24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7" name="Google Shape;8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24</a:t>
            </a:fld>
            <a:endParaRPr/>
          </a:p>
        </p:txBody>
      </p:sp>
      <p:sp>
        <p:nvSpPr>
          <p:cNvPr id="89" name="Google Shape;89;p8"/>
          <p:cNvSpPr txBox="1"/>
          <p:nvPr/>
        </p:nvSpPr>
        <p:spPr>
          <a:xfrm>
            <a:off x="2556273" y="1947350"/>
            <a:ext cx="4608979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400"/>
            </a:pPr>
            <a:br>
              <a:rPr lang="it-IT" sz="14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2800" dirty="0"/>
              <a:t>I paradigmi dell'OOP</a:t>
            </a:r>
            <a:endParaRPr lang="it-IT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59209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/>
        </p:nvSpPr>
        <p:spPr>
          <a:xfrm>
            <a:off x="322400" y="65912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29"/>
          <p:cNvSpPr txBox="1"/>
          <p:nvPr/>
        </p:nvSpPr>
        <p:spPr>
          <a:xfrm>
            <a:off x="359998" y="1555931"/>
            <a:ext cx="6704662" cy="2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1" i="0" u="none" strike="noStrike" cap="none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Incapsulamento-Ereditarietà-Polimorfismo </a:t>
            </a:r>
            <a:r>
              <a:rPr lang="it-IT" sz="1600" b="0" i="0" u="none" strike="noStrike" cap="none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   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endParaRPr sz="1600" b="0" i="0" u="none" strike="noStrike" cap="none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" name="Google Shape;17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25</a:t>
            </a:fld>
            <a:endParaRPr/>
          </a:p>
        </p:txBody>
      </p:sp>
      <p:sp>
        <p:nvSpPr>
          <p:cNvPr id="173" name="Google Shape;173;p29"/>
          <p:cNvSpPr txBox="1"/>
          <p:nvPr/>
        </p:nvSpPr>
        <p:spPr>
          <a:xfrm>
            <a:off x="373547" y="2038222"/>
            <a:ext cx="2589967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 b="0" i="0" u="none" strike="noStrike" cap="none" baseline="30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Incapsulamento</a:t>
            </a:r>
            <a:endParaRPr sz="2000" b="0" i="0" u="none" strike="noStrike" cap="none" baseline="30000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-IT" sz="1800" b="0" i="0" u="none" strike="noStrike" cap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Il concetto dell'incapsulamento è quello di mantenere riservate le informazioni solo all'interno della classe che li definisce attraverso il modificatore di accesso </a:t>
            </a:r>
            <a:r>
              <a:rPr lang="it-IT" sz="1800" b="0" i="0" u="none" strike="noStrike" cap="none" baseline="30000" dirty="0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private</a:t>
            </a:r>
            <a:r>
              <a:rPr lang="it-IT" sz="1800" b="0" i="0" u="none" strike="noStrike" cap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800" b="0" i="0" u="none" strike="noStrike" cap="none" baseline="30000" dirty="0">
              <a:solidFill>
                <a:srgbClr val="C944A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-IT" sz="1800" b="0" i="0" u="none" strike="noStrike" cap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Tutte le proprietà o metodi con modificatore private non potranno avere accesso diretto(istanza) da una classe esterna.</a:t>
            </a:r>
            <a:endParaRPr sz="1800" b="0" i="0" u="none" strike="noStrike" cap="none" baseline="30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 dirty="0">
              <a:solidFill>
                <a:srgbClr val="0645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9"/>
          <p:cNvSpPr txBox="1"/>
          <p:nvPr/>
        </p:nvSpPr>
        <p:spPr>
          <a:xfrm>
            <a:off x="296931" y="1136019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 paradigmi dell'OOP</a:t>
            </a:r>
            <a:endParaRPr sz="16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p29"/>
          <p:cNvSpPr txBox="1"/>
          <p:nvPr/>
        </p:nvSpPr>
        <p:spPr>
          <a:xfrm>
            <a:off x="3441240" y="2038222"/>
            <a:ext cx="2589967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 b="0" i="0" u="none" strike="noStrike" cap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Ereditarieta'</a:t>
            </a:r>
            <a:endParaRPr sz="2000" b="0" i="0" u="none" strike="noStrike" cap="none" baseline="30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-IT" sz="18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E' possibile ereditare tutte le caratteristiche (proprietà o metodi definiti public) appartenenti ad una data classe X utilizzando la keyword </a:t>
            </a:r>
            <a:r>
              <a:rPr lang="it-IT" sz="1800" b="0" i="0" u="none" strike="noStrike" cap="none" baseline="30000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extends </a:t>
            </a:r>
            <a:r>
              <a:rPr lang="it-IT" sz="18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 di una nuova classe chiamata Y.</a:t>
            </a:r>
            <a:br>
              <a:rPr lang="it-IT" sz="18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8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nuova classe Y prenderà il nome di sottoclasse e la classe X prenderà il nome di superclasse.</a:t>
            </a:r>
            <a:br>
              <a:rPr lang="it-IT" sz="18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645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9"/>
          <p:cNvSpPr txBox="1"/>
          <p:nvPr/>
        </p:nvSpPr>
        <p:spPr>
          <a:xfrm>
            <a:off x="6332649" y="2064327"/>
            <a:ext cx="25899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 b="0" i="0" u="none" strike="noStrike" cap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Polimorfismo</a:t>
            </a:r>
            <a:endParaRPr sz="2000" b="0" i="0" u="none" strike="noStrike" cap="none" baseline="30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-IT" sz="18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intende 'polimorfico' la ridefinizione di un metodo appartente alla superclasse X mediante l'utilizzo dell'ereditarietà nella sottoclasse Y</a:t>
            </a:r>
            <a:endParaRPr sz="1800" b="0" i="0" u="none" strike="noStrike" cap="none" baseline="30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645A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/>
        </p:nvSpPr>
        <p:spPr>
          <a:xfrm>
            <a:off x="310659" y="267943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320341" y="829901"/>
            <a:ext cx="6100813" cy="30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Incapsulamento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endParaRPr sz="1600" b="0" i="0" u="none" strike="noStrike" cap="none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26</a:t>
            </a:fld>
            <a:endParaRPr/>
          </a:p>
        </p:txBody>
      </p:sp>
      <p:pic>
        <p:nvPicPr>
          <p:cNvPr id="3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33B40AC7-CB86-4B71-800F-E232683B6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41" y="1340220"/>
            <a:ext cx="5718803" cy="327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0857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/>
        </p:nvSpPr>
        <p:spPr>
          <a:xfrm>
            <a:off x="360000" y="4697100"/>
            <a:ext cx="666900" cy="1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it-IT" sz="800" b="0" i="0" u="none" strike="noStrike" cap="none">
                <a:solidFill>
                  <a:srgbClr val="111314"/>
                </a:solidFill>
                <a:latin typeface="Arial"/>
                <a:ea typeface="Arial"/>
                <a:cs typeface="Arial"/>
                <a:sym typeface="Arial"/>
              </a:rPr>
              <a:t>epicodeschool</a:t>
            </a:r>
            <a:endParaRPr sz="800" b="0" i="0" u="none" strike="noStrike" cap="none">
              <a:solidFill>
                <a:srgbClr val="11131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8"/>
          <p:cNvSpPr txBox="1"/>
          <p:nvPr/>
        </p:nvSpPr>
        <p:spPr>
          <a:xfrm>
            <a:off x="322399" y="243439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357940" y="857034"/>
            <a:ext cx="6100813" cy="30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Polimorfismo</a:t>
            </a:r>
            <a:r>
              <a:rPr lang="it-IT" sz="1600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endParaRPr sz="1600" b="0" i="0" u="none" strike="noStrike" cap="none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27</a:t>
            </a:fld>
            <a:endParaRPr/>
          </a:p>
        </p:txBody>
      </p:sp>
      <p:pic>
        <p:nvPicPr>
          <p:cNvPr id="3" name="Immagine 3" descr="Immagine che contiene testo, screenshot, monitor&#10;&#10;Descrizione generata automaticamente">
            <a:extLst>
              <a:ext uri="{FF2B5EF4-FFF2-40B4-BE49-F238E27FC236}">
                <a16:creationId xmlns:a16="http://schemas.microsoft.com/office/drawing/2014/main" id="{E4CB124F-4D91-46E2-B2FE-FA2BC034E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40" y="1335075"/>
            <a:ext cx="5763480" cy="332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045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/>
        </p:nvSpPr>
        <p:spPr>
          <a:xfrm>
            <a:off x="322399" y="271729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322399" y="837461"/>
            <a:ext cx="6100813" cy="30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160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it-IT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Ereditarietà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endParaRPr sz="1600" b="0" i="0" u="none" strike="noStrike" cap="none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28</a:t>
            </a:fld>
            <a:endParaRPr/>
          </a:p>
        </p:txBody>
      </p:sp>
      <p:pic>
        <p:nvPicPr>
          <p:cNvPr id="3" name="Immagine 3" descr="Immagine che contiene testo, screenshot, monitor, schermo&#10;&#10;Descrizione generata automaticamente">
            <a:extLst>
              <a:ext uri="{FF2B5EF4-FFF2-40B4-BE49-F238E27FC236}">
                <a16:creationId xmlns:a16="http://schemas.microsoft.com/office/drawing/2014/main" id="{51420B21-1B21-439E-876B-FFF5247F5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39" y="1335301"/>
            <a:ext cx="5793558" cy="328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629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4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-IT"/>
              <a:t>29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1292</Words>
  <Application>Microsoft Macintosh PowerPoint</Application>
  <PresentationFormat>Presentazione su schermo (16:9)</PresentationFormat>
  <Paragraphs>282</Paragraphs>
  <Slides>29</Slides>
  <Notes>29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37" baseType="lpstr">
      <vt:lpstr>Arial</vt:lpstr>
      <vt:lpstr>Consolas</vt:lpstr>
      <vt:lpstr>Open Sans ExtraBold</vt:lpstr>
      <vt:lpstr>Montserrat Light</vt:lpstr>
      <vt:lpstr>Calibri</vt:lpstr>
      <vt:lpstr>Open Sans</vt:lpstr>
      <vt:lpstr>Montserrat SemiBold</vt:lpstr>
      <vt:lpstr>Simple Light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cp:lastModifiedBy>Fabio</cp:lastModifiedBy>
  <cp:revision>639</cp:revision>
  <dcterms:modified xsi:type="dcterms:W3CDTF">2026-01-07T22:11:23Z</dcterms:modified>
</cp:coreProperties>
</file>