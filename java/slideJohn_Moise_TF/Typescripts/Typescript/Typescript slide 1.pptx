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70" r:id="rId3"/>
    <p:sldId id="258" r:id="rId4"/>
    <p:sldId id="259" r:id="rId5"/>
    <p:sldId id="260" r:id="rId6"/>
    <p:sldId id="261" r:id="rId7"/>
    <p:sldId id="257" r:id="rId8"/>
    <p:sldId id="262" r:id="rId9"/>
    <p:sldId id="276" r:id="rId10"/>
    <p:sldId id="277" r:id="rId11"/>
    <p:sldId id="274" r:id="rId12"/>
    <p:sldId id="273" r:id="rId13"/>
    <p:sldId id="278" r:id="rId14"/>
    <p:sldId id="271" r:id="rId15"/>
    <p:sldId id="263" r:id="rId16"/>
    <p:sldId id="264" r:id="rId17"/>
    <p:sldId id="279" r:id="rId18"/>
    <p:sldId id="280" r:id="rId19"/>
    <p:sldId id="282" r:id="rId20"/>
    <p:sldId id="265" r:id="rId21"/>
    <p:sldId id="281" r:id="rId22"/>
    <p:sldId id="272" r:id="rId23"/>
    <p:sldId id="266" r:id="rId24"/>
    <p:sldId id="283" r:id="rId25"/>
    <p:sldId id="267" r:id="rId26"/>
    <p:sldId id="268" r:id="rId27"/>
    <p:sldId id="285" r:id="rId28"/>
    <p:sldId id="284" r:id="rId29"/>
    <p:sldId id="269" r:id="rId30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32"/>
      <p:bold r:id="rId33"/>
      <p:italic r:id="rId34"/>
      <p:boldItalic r:id="rId35"/>
    </p:embeddedFont>
    <p:embeddedFont>
      <p:font typeface="Consolas" panose="020B0609020204030204" pitchFamily="49" charset="0"/>
      <p:regular r:id="rId36"/>
      <p:bold r:id="rId37"/>
      <p:italic r:id="rId38"/>
      <p:boldItalic r:id="rId39"/>
    </p:embeddedFont>
    <p:embeddedFont>
      <p:font typeface="Montserrat" pitchFamily="2" charset="77"/>
      <p:regular r:id="rId40"/>
      <p:bold r:id="rId41"/>
      <p:italic r:id="rId42"/>
      <p:boldItalic r:id="rId43"/>
    </p:embeddedFont>
    <p:embeddedFont>
      <p:font typeface="Open Sans" panose="020B0606030504020204" pitchFamily="34" charset="0"/>
      <p:regular r:id="rId44"/>
      <p:bold r:id="rId45"/>
      <p:italic r:id="rId46"/>
      <p:boldItalic r:id="rId4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27">
          <p15:clr>
            <a:srgbClr val="9AA0A6"/>
          </p15:clr>
        </p15:guide>
        <p15:guide id="2" pos="227">
          <p15:clr>
            <a:srgbClr val="9AA0A6"/>
          </p15:clr>
        </p15:guide>
        <p15:guide id="3" pos="5533">
          <p15:clr>
            <a:srgbClr val="9AA0A6"/>
          </p15:clr>
        </p15:guide>
        <p15:guide id="4" orient="horz" pos="1153">
          <p15:clr>
            <a:srgbClr val="9AA0A6"/>
          </p15:clr>
        </p15:guide>
        <p15:guide id="5" orient="horz" pos="624">
          <p15:clr>
            <a:srgbClr val="9AA0A6"/>
          </p15:clr>
        </p15:guide>
        <p15:guide id="6" orient="horz" pos="938">
          <p15:clr>
            <a:srgbClr val="9AA0A6"/>
          </p15:clr>
        </p15:guide>
        <p15:guide id="7" orient="horz" pos="1387">
          <p15:clr>
            <a:srgbClr val="9AA0A6"/>
          </p15:clr>
        </p15:guide>
        <p15:guide id="8" orient="horz" pos="460">
          <p15:clr>
            <a:srgbClr val="9AA0A6"/>
          </p15:clr>
        </p15:guide>
        <p15:guide id="9" orient="horz" pos="1845">
          <p15:clr>
            <a:srgbClr val="9AA0A6"/>
          </p15:clr>
        </p15:guide>
        <p15:guide id="10" orient="horz" pos="2769">
          <p15:clr>
            <a:srgbClr val="9AA0A6"/>
          </p15:clr>
        </p15:guide>
        <p15:guide id="11" orient="horz" pos="2991">
          <p15:clr>
            <a:srgbClr val="9AA0A6"/>
          </p15:clr>
        </p15:guide>
        <p15:guide id="12" pos="2880">
          <p15:clr>
            <a:srgbClr val="9AA0A6"/>
          </p15:clr>
        </p15:guide>
        <p15:guide id="13" pos="1553">
          <p15:clr>
            <a:srgbClr val="9AA0A6"/>
          </p15:clr>
        </p15:guide>
        <p15:guide id="14" pos="4008">
          <p15:clr>
            <a:srgbClr val="9AA0A6"/>
          </p15:clr>
        </p15:guide>
        <p15:guide id="15" pos="2217">
          <p15:clr>
            <a:srgbClr val="9AA0A6"/>
          </p15:clr>
        </p15:guide>
        <p15:guide id="16" pos="3742">
          <p15:clr>
            <a:srgbClr val="9AA0A6"/>
          </p15:clr>
        </p15:guide>
        <p15:guide id="17" pos="890">
          <p15:clr>
            <a:srgbClr val="9AA0A6"/>
          </p15:clr>
        </p15:guide>
        <p15:guide id="18" pos="4870">
          <p15:clr>
            <a:srgbClr val="9AA0A6"/>
          </p15:clr>
        </p15:guide>
        <p15:guide id="19" pos="2993">
          <p15:clr>
            <a:srgbClr val="9AA0A6"/>
          </p15:clr>
        </p15:guide>
        <p15:guide id="20" pos="2755">
          <p15:clr>
            <a:srgbClr val="9AA0A6"/>
          </p15:clr>
        </p15:guide>
        <p15:guide id="21" pos="1885">
          <p15:clr>
            <a:srgbClr val="9AA0A6"/>
          </p15:clr>
        </p15:guide>
        <p15:guide id="22" pos="3875">
          <p15:clr>
            <a:srgbClr val="9AA0A6"/>
          </p15:clr>
        </p15:guide>
        <p15:guide id="23" pos="1719">
          <p15:clr>
            <a:srgbClr val="9AA0A6"/>
          </p15:clr>
        </p15:guide>
        <p15:guide id="24" pos="547">
          <p15:clr>
            <a:srgbClr val="9AA0A6"/>
          </p15:clr>
        </p15:guide>
        <p15:guide id="25" orient="horz" pos="2155">
          <p15:clr>
            <a:srgbClr val="9AA0A6"/>
          </p15:clr>
        </p15:guide>
        <p15:guide id="26" pos="397">
          <p15:clr>
            <a:srgbClr val="9AA0A6"/>
          </p15:clr>
        </p15:guide>
        <p15:guide id="27" orient="horz" pos="1045">
          <p15:clr>
            <a:srgbClr val="9AA0A6"/>
          </p15:clr>
        </p15:guide>
        <p15:guide id="28" orient="horz" pos="357">
          <p15:clr>
            <a:srgbClr val="9AA0A6"/>
          </p15:clr>
        </p15:guide>
        <p15:guide id="29" orient="horz" pos="1542">
          <p15:clr>
            <a:srgbClr val="9AA0A6"/>
          </p15:clr>
        </p15:guide>
        <p15:guide id="30" orient="horz" pos="1004">
          <p15:clr>
            <a:srgbClr val="9AA0A6"/>
          </p15:clr>
        </p15:guide>
        <p15:guide id="31" pos="296">
          <p15:clr>
            <a:srgbClr val="9AA0A6"/>
          </p15:clr>
        </p15:guide>
        <p15:guide id="32" pos="1058">
          <p15:clr>
            <a:srgbClr val="9AA0A6"/>
          </p15:clr>
        </p15:guide>
        <p15:guide id="33" pos="2071">
          <p15:clr>
            <a:srgbClr val="9AA0A6"/>
          </p15:clr>
        </p15:guide>
        <p15:guide id="34" orient="horz" pos="757">
          <p15:clr>
            <a:srgbClr val="9AA0A6"/>
          </p15:clr>
        </p15:guide>
        <p15:guide id="35" orient="horz" pos="588">
          <p15:clr>
            <a:srgbClr val="9AA0A6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8" roundtripDataSignature="AMtx7mgTSyJUEu2ixCOs1GDzWYoYc9YUV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97FF3A-003E-4BDD-A762-D22761867E42}" v="43" dt="2021-08-07T12:00:25.870"/>
    <p1510:client id="{38A4E103-FF90-4F30-80B8-468E3114A743}" v="2383" dt="2021-07-30T15:25:19.548"/>
    <p1510:client id="{4281FC75-7387-4344-98CD-BE2131E43ABF}" v="40" dt="2021-07-31T15:27:26.511"/>
    <p1510:client id="{554042A6-BFFD-4719-BB52-BBFEFB366C35}" v="1267" dt="2021-08-08T15:00:09.836"/>
    <p1510:client id="{57B4D0F5-8383-4C98-92DB-FB63CB384AA7}" v="263" dt="2021-07-22T19:29:58.703"/>
    <p1510:client id="{98DFCD4D-DD55-43C1-A5CF-7F6287ED9F1E}" v="781" dt="2021-08-10T14:20:51.715"/>
    <p1510:client id="{AEB8DE86-94ED-4C1F-8957-1E678D264DE4}" v="80" dt="2021-07-23T07:33:10.159"/>
    <p1510:client id="{F021E2C0-071D-4579-BAAF-8764478B75AE}" v="1287" dt="2021-08-10T09:55:32.86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5"/>
  </p:normalViewPr>
  <p:slideViewPr>
    <p:cSldViewPr snapToGrid="0">
      <p:cViewPr varScale="1">
        <p:scale>
          <a:sx n="156" d="100"/>
          <a:sy n="156" d="100"/>
        </p:scale>
        <p:origin x="552" y="168"/>
      </p:cViewPr>
      <p:guideLst>
        <p:guide orient="horz" pos="227"/>
        <p:guide pos="227"/>
        <p:guide pos="5533"/>
        <p:guide orient="horz" pos="1153"/>
        <p:guide orient="horz" pos="624"/>
        <p:guide orient="horz" pos="938"/>
        <p:guide orient="horz" pos="1387"/>
        <p:guide orient="horz" pos="460"/>
        <p:guide orient="horz" pos="1845"/>
        <p:guide orient="horz" pos="2769"/>
        <p:guide orient="horz" pos="2991"/>
        <p:guide pos="2880"/>
        <p:guide pos="1553"/>
        <p:guide pos="4008"/>
        <p:guide pos="2217"/>
        <p:guide pos="3742"/>
        <p:guide pos="890"/>
        <p:guide pos="4870"/>
        <p:guide pos="2993"/>
        <p:guide pos="2755"/>
        <p:guide pos="1885"/>
        <p:guide pos="3875"/>
        <p:guide pos="1719"/>
        <p:guide pos="547"/>
        <p:guide orient="horz" pos="2155"/>
        <p:guide pos="397"/>
        <p:guide orient="horz" pos="1045"/>
        <p:guide orient="horz" pos="357"/>
        <p:guide orient="horz" pos="1542"/>
        <p:guide orient="horz" pos="1004"/>
        <p:guide pos="296"/>
        <p:guide pos="1058"/>
        <p:guide pos="2071"/>
        <p:guide orient="horz" pos="757"/>
        <p:guide orient="horz" pos="58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8.fntdata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42" Type="http://schemas.openxmlformats.org/officeDocument/2006/relationships/font" Target="fonts/font11.fntdata"/><Relationship Id="rId47" Type="http://schemas.openxmlformats.org/officeDocument/2006/relationships/font" Target="fonts/font16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font" Target="fonts/font9.fntdata"/><Relationship Id="rId45" Type="http://schemas.openxmlformats.org/officeDocument/2006/relationships/font" Target="fonts/font14.fntdata"/><Relationship Id="rId53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4" Type="http://schemas.openxmlformats.org/officeDocument/2006/relationships/font" Target="fonts/font13.fntdata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4.fntdata"/><Relationship Id="rId43" Type="http://schemas.openxmlformats.org/officeDocument/2006/relationships/font" Target="fonts/font12.fntdata"/><Relationship Id="rId48" Type="http://customschemas.google.com/relationships/presentationmetadata" Target="metadata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font" Target="fonts/font7.fntdata"/><Relationship Id="rId46" Type="http://schemas.openxmlformats.org/officeDocument/2006/relationships/font" Target="fonts/font15.fntdata"/><Relationship Id="rId20" Type="http://schemas.openxmlformats.org/officeDocument/2006/relationships/slide" Target="slides/slide19.xml"/><Relationship Id="rId41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5.fntdata"/><Relationship Id="rId4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" name="Google Shape;58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aaaeabd0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" name="Google Shape;68;gaaaeabd0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841811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e53114b93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" name="Google Shape;75;ge53114b93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b2142fbbc1_1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gb2142fbbc1_1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aaaeabd0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" name="Google Shape;68;gaaaeabd0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562759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294628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22636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697467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0963135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aaaeabd0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" name="Google Shape;68;gaaaeabd0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3667019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4" name="Google Shape;13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" name="Google Shape;14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" name="Google Shape;14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6522202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" name="Google Shape;14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1524973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" name="Google Shape;14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6958086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6" name="Google Shape;15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6" name="Google Shape;15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4503087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aaaeabd0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" name="Google Shape;68;gaaaeabd0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9503669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0" name="Google Shape;17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0" name="Google Shape;17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8410334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2" name="Google Shape;182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2" name="Google Shape;192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2" name="Google Shape;192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5565883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2" name="Google Shape;192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883507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4" name="Google Shape;20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1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1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1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1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2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3-Meet the Crew Slide">
  <p:cSld name="13-Meet the Crew Slide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3"/>
          <p:cNvSpPr>
            <a:spLocks noGrp="1"/>
          </p:cNvSpPr>
          <p:nvPr>
            <p:ph type="pic" idx="2"/>
          </p:nvPr>
        </p:nvSpPr>
        <p:spPr>
          <a:xfrm>
            <a:off x="1060235" y="2128350"/>
            <a:ext cx="1487100" cy="182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Google Shape;52;p23"/>
          <p:cNvSpPr>
            <a:spLocks noGrp="1"/>
          </p:cNvSpPr>
          <p:nvPr>
            <p:ph type="pic" idx="3"/>
          </p:nvPr>
        </p:nvSpPr>
        <p:spPr>
          <a:xfrm>
            <a:off x="3049596" y="2128350"/>
            <a:ext cx="1487100" cy="182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23"/>
          <p:cNvSpPr>
            <a:spLocks noGrp="1"/>
          </p:cNvSpPr>
          <p:nvPr>
            <p:ph type="pic" idx="4"/>
          </p:nvPr>
        </p:nvSpPr>
        <p:spPr>
          <a:xfrm>
            <a:off x="5038958" y="2128350"/>
            <a:ext cx="1487100" cy="182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23"/>
          <p:cNvSpPr>
            <a:spLocks noGrp="1"/>
          </p:cNvSpPr>
          <p:nvPr>
            <p:ph type="pic" idx="5"/>
          </p:nvPr>
        </p:nvSpPr>
        <p:spPr>
          <a:xfrm>
            <a:off x="7028318" y="2128350"/>
            <a:ext cx="1487100" cy="182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23"/>
          <p:cNvSpPr txBox="1"/>
          <p:nvPr/>
        </p:nvSpPr>
        <p:spPr>
          <a:xfrm>
            <a:off x="123324" y="2496729"/>
            <a:ext cx="317100" cy="1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it-IT" sz="1000" b="1" i="0" u="none" strike="noStrike" cap="none">
                <a:solidFill>
                  <a:schemeClr val="accent6"/>
                </a:solidFill>
                <a:latin typeface="Montserrat"/>
                <a:ea typeface="Montserrat"/>
                <a:cs typeface="Montserrat"/>
                <a:sym typeface="Montserrat"/>
              </a:rPr>
              <a:t>‹N›</a:t>
            </a:fld>
            <a:endParaRPr sz="1000" b="1" i="0" u="none" strike="noStrike" cap="none">
              <a:solidFill>
                <a:schemeClr val="accent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6">
          <p15:clr>
            <a:srgbClr val="FBAE40"/>
          </p15:clr>
        </p15:guide>
        <p15:guide id="2" pos="5364">
          <p15:clr>
            <a:srgbClr val="FBAE40"/>
          </p15:clr>
        </p15:guide>
        <p15:guide id="3" orient="horz" pos="2850">
          <p15:clr>
            <a:srgbClr val="FBAE40"/>
          </p15:clr>
        </p15:guide>
        <p15:guide id="4" orient="horz" pos="389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314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"/>
          <p:cNvSpPr txBox="1"/>
          <p:nvPr/>
        </p:nvSpPr>
        <p:spPr>
          <a:xfrm>
            <a:off x="342975" y="3749334"/>
            <a:ext cx="7670400" cy="5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</a:pPr>
            <a:r>
              <a:rPr lang="it-IT" sz="3300" b="0" i="0" u="none" strike="noStrike" cap="none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it-IT" sz="3300" b="0" i="0" u="none" strike="noStrike" cap="none" dirty="0" err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Typescript</a:t>
            </a:r>
            <a:endParaRPr sz="3300" b="0" i="0" u="none" strike="noStrike" cap="none" dirty="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2" name="Google Shape;62;p1"/>
          <p:cNvSpPr txBox="1"/>
          <p:nvPr/>
        </p:nvSpPr>
        <p:spPr>
          <a:xfrm>
            <a:off x="342975" y="3462734"/>
            <a:ext cx="4479600" cy="2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4" name="Google Shape;64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it-IT"/>
              <a:t>1</a:t>
            </a:fld>
            <a:endParaRPr/>
          </a:p>
        </p:txBody>
      </p:sp>
      <p:sp>
        <p:nvSpPr>
          <p:cNvPr id="65" name="Google Shape;65;p1"/>
          <p:cNvSpPr txBox="1"/>
          <p:nvPr/>
        </p:nvSpPr>
        <p:spPr>
          <a:xfrm>
            <a:off x="356775" y="4198158"/>
            <a:ext cx="7670400" cy="5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it-IT" sz="20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Docente: - Fabio Di </a:t>
            </a:r>
            <a:r>
              <a:rPr lang="it-IT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Gloria  SLIDE 1 </a:t>
            </a:r>
            <a:endParaRPr sz="2000" b="0" i="0" u="none" strike="noStrike" cap="none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aaaeabd082_0_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it-IT"/>
              <a:t>2</a:t>
            </a:fld>
            <a:endParaRPr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84ACADCC-41B9-400A-AA0C-4C7F6992D60E}"/>
              </a:ext>
            </a:extLst>
          </p:cNvPr>
          <p:cNvSpPr txBox="1"/>
          <p:nvPr/>
        </p:nvSpPr>
        <p:spPr>
          <a:xfrm>
            <a:off x="2192755" y="2335630"/>
            <a:ext cx="5179593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800" dirty="0"/>
              <a:t>Introduzione a </a:t>
            </a:r>
            <a:r>
              <a:rPr lang="it-IT" sz="2800" dirty="0" err="1"/>
              <a:t>Typescript</a:t>
            </a:r>
            <a:endParaRPr lang="it-IT" sz="2800" dirty="0"/>
          </a:p>
        </p:txBody>
      </p:sp>
    </p:spTree>
    <p:extLst>
      <p:ext uri="{BB962C8B-B14F-4D97-AF65-F5344CB8AC3E}">
        <p14:creationId xmlns:p14="http://schemas.microsoft.com/office/powerpoint/2010/main" val="27539572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e53114b934_0_0"/>
          <p:cNvSpPr txBox="1"/>
          <p:nvPr/>
        </p:nvSpPr>
        <p:spPr>
          <a:xfrm>
            <a:off x="322401" y="629041"/>
            <a:ext cx="3306600" cy="4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it-IT" sz="24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Typescript</a:t>
            </a:r>
            <a:endParaRPr sz="2400" b="1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0" name="Google Shape;80;ge53114b934_0_0"/>
          <p:cNvSpPr txBox="1"/>
          <p:nvPr/>
        </p:nvSpPr>
        <p:spPr>
          <a:xfrm>
            <a:off x="356145" y="1178140"/>
            <a:ext cx="4685400" cy="2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Introduzione a Typescript</a:t>
            </a:r>
            <a:endParaRPr sz="1600" b="1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1" name="Google Shape;81;ge53114b934_0_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it-IT"/>
              <a:t>3</a:t>
            </a:fld>
            <a:endParaRPr/>
          </a:p>
        </p:txBody>
      </p:sp>
      <p:sp>
        <p:nvSpPr>
          <p:cNvPr id="82" name="Google Shape;82;ge53114b934_0_0"/>
          <p:cNvSpPr txBox="1"/>
          <p:nvPr/>
        </p:nvSpPr>
        <p:spPr>
          <a:xfrm>
            <a:off x="243979" y="1568423"/>
            <a:ext cx="3944100" cy="3094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 b="1" i="0" u="none" strike="noStrike" cap="none" dirty="0" err="1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TypeScript</a:t>
            </a:r>
            <a:r>
              <a:rPr lang="it-IT" sz="1400" b="0" i="0" u="none" strike="noStrike" cap="none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 è un linguaggio di programmazione open source sviluppato da Microsoft. Si tratta di un Super-set di JavaScript che basa le sue caratteristiche su </a:t>
            </a:r>
            <a:r>
              <a:rPr lang="it-IT" sz="1400" b="0" i="0" u="none" strike="noStrike" cap="none" dirty="0" err="1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ECMAScript</a:t>
            </a:r>
            <a:r>
              <a:rPr lang="it-IT" sz="1400" b="0" i="0" u="none" strike="noStrike" cap="none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 6; 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 b="0" i="0" u="none" strike="noStrike" cap="none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Il linguaggio estende la sintassi di JavaScript in modo che qualunque programma scritto in JavaScript sia anche in grado di funzionare con </a:t>
            </a:r>
            <a:r>
              <a:rPr lang="it-IT" sz="1400" b="0" i="0" u="none" strike="noStrike" cap="none" dirty="0" err="1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TypeScript</a:t>
            </a:r>
            <a:r>
              <a:rPr lang="it-IT" sz="1400" b="0" i="0" u="none" strike="noStrike" cap="none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senza nessuna modifica. È stato progettato per lo sviluppo di grandi applicazioni ed è destinato a essere compilato in JavaScript per poter essere </a:t>
            </a:r>
            <a:r>
              <a:rPr lang="it-IT" sz="1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interpretato</a:t>
            </a:r>
            <a:r>
              <a:rPr lang="it-IT" sz="1400" b="0" i="0" u="none" strike="noStrike" cap="none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 da qualunque web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 b="0" i="0" u="none" strike="noStrike" cap="none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browser o app.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3" name="Google Shape;83;ge53114b934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43528" y="1612282"/>
            <a:ext cx="5256118" cy="16508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b2142fbbc1_1_43"/>
          <p:cNvSpPr txBox="1"/>
          <p:nvPr/>
        </p:nvSpPr>
        <p:spPr>
          <a:xfrm>
            <a:off x="322401" y="651600"/>
            <a:ext cx="3306600" cy="4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it-IT" sz="24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Typescript</a:t>
            </a:r>
            <a:endParaRPr sz="2400" b="1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1" name="Google Shape;91;gb2142fbbc1_1_43"/>
          <p:cNvSpPr txBox="1"/>
          <p:nvPr/>
        </p:nvSpPr>
        <p:spPr>
          <a:xfrm>
            <a:off x="359999" y="1221659"/>
            <a:ext cx="6219426" cy="1772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Origini Typescript</a:t>
            </a:r>
            <a:endParaRPr sz="1600" b="1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2" name="Google Shape;92;gb2142fbbc1_1_4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it-IT"/>
              <a:t>4</a:t>
            </a:fld>
            <a:endParaRPr/>
          </a:p>
        </p:txBody>
      </p:sp>
      <p:sp>
        <p:nvSpPr>
          <p:cNvPr id="93" name="Google Shape;93;gb2142fbbc1_1_43"/>
          <p:cNvSpPr txBox="1"/>
          <p:nvPr/>
        </p:nvSpPr>
        <p:spPr>
          <a:xfrm>
            <a:off x="131183" y="1560904"/>
            <a:ext cx="3944100" cy="27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Open Sans"/>
              <a:buChar char="●"/>
            </a:pPr>
            <a:r>
              <a:rPr lang="it-IT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TypeScript nasce dal crescente bisogno di un linguaggio front-end per lo sviluppo di applicazioni JavaScript su larga scala e dalla necessità di sicurezza e robustezza, sia da parte di sviluppatori interni a Microsoft sia da parte di clienti e sviluppatori indipendenti.</a:t>
            </a:r>
            <a:endParaRPr sz="1400" b="0" i="0" u="none" strike="noStrike" cap="none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gb2142fbbc1_1_43"/>
          <p:cNvSpPr txBox="1"/>
          <p:nvPr/>
        </p:nvSpPr>
        <p:spPr>
          <a:xfrm>
            <a:off x="4503075" y="1872500"/>
            <a:ext cx="4013956" cy="1559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900" b="0" i="0" u="none" strike="noStrike" cap="none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TypeScript è un linguaggio che estende la struttura esistende di Javascript aggiungendo o rendendo più fllessibili e potenti varie sue caratteristiche:</a:t>
            </a:r>
            <a:br>
              <a:rPr lang="it-IT" sz="1900" b="0" i="0" u="none" strike="noStrike" cap="none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it-IT" sz="1900" baseline="30000"/>
              <a:t>m</a:t>
            </a:r>
            <a:r>
              <a:rPr lang="it-IT" sz="1900" b="0" i="0" u="none" strike="noStrike" cap="none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odificatori</a:t>
            </a:r>
            <a:r>
              <a:rPr lang="it-IT" sz="1900" baseline="30000"/>
              <a:t> di a</a:t>
            </a:r>
            <a:r>
              <a:rPr lang="it-IT" sz="1900" b="0" i="0" u="none" strike="noStrike" cap="none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ccesso-</a:t>
            </a:r>
            <a:r>
              <a:rPr lang="it-IT" sz="1900" baseline="30000"/>
              <a:t>c</a:t>
            </a:r>
            <a:r>
              <a:rPr lang="it-IT" sz="1900" b="0" i="0" u="none" strike="noStrike" cap="none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lassi-</a:t>
            </a:r>
            <a:r>
              <a:rPr lang="it-IT" sz="1900" baseline="30000"/>
              <a:t>i</a:t>
            </a:r>
            <a:r>
              <a:rPr lang="it-IT" sz="1900" b="0" i="0" u="none" strike="noStrike" cap="none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nterfacce-</a:t>
            </a:r>
            <a:r>
              <a:rPr lang="it-IT" sz="1900" baseline="30000"/>
              <a:t>e</a:t>
            </a:r>
            <a:r>
              <a:rPr lang="it-IT" sz="1900" b="0" i="0" u="none" strike="noStrike" cap="none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num-</a:t>
            </a:r>
            <a:r>
              <a:rPr lang="it-IT" sz="1900" baseline="30000"/>
              <a:t>g</a:t>
            </a:r>
            <a:r>
              <a:rPr lang="it-IT" sz="1900" b="0" i="0" u="none" strike="noStrike" cap="none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enerics-</a:t>
            </a:r>
            <a:r>
              <a:rPr lang="it-IT" sz="1900" baseline="30000"/>
              <a:t>t</a:t>
            </a:r>
            <a:r>
              <a:rPr lang="it-IT" sz="1900" b="0" i="0" u="none" strike="noStrike" cap="none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uple-</a:t>
            </a:r>
            <a:r>
              <a:rPr lang="it-IT" sz="1900" baseline="30000"/>
              <a:t>d</a:t>
            </a:r>
            <a:r>
              <a:rPr lang="it-IT" sz="1900" b="0" i="0" u="none" strike="noStrike" cap="none" baseline="30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atatypes.</a:t>
            </a:r>
            <a:endParaRPr sz="1900" b="0" i="0" u="none" strike="noStrike" cap="none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 baseline="30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baseline="30000">
              <a:solidFill>
                <a:srgbClr val="0645A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gb2142fbbc1_1_43"/>
          <p:cNvSpPr txBox="1"/>
          <p:nvPr/>
        </p:nvSpPr>
        <p:spPr>
          <a:xfrm>
            <a:off x="4452657" y="1563751"/>
            <a:ext cx="27432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it-IT" sz="1400" b="0" i="0" u="sng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Caratteristiche </a:t>
            </a:r>
            <a:r>
              <a:rPr lang="it-IT" sz="1400" b="0" i="0" u="sng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Typescript</a:t>
            </a:r>
            <a:endParaRPr u="sng" dirty="0" err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"/>
          <p:cNvSpPr txBox="1"/>
          <p:nvPr/>
        </p:nvSpPr>
        <p:spPr>
          <a:xfrm>
            <a:off x="360000" y="696718"/>
            <a:ext cx="3306600" cy="4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it-IT" sz="2400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Typescript</a:t>
            </a:r>
            <a:endParaRPr sz="2400" b="1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3" name="Google Shape;103;p2"/>
          <p:cNvSpPr txBox="1"/>
          <p:nvPr/>
        </p:nvSpPr>
        <p:spPr>
          <a:xfrm>
            <a:off x="359999" y="1257046"/>
            <a:ext cx="4685400" cy="2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 b="1" i="0" u="none" strike="noStrike" cap="none" dirty="0">
                <a:solidFill>
                  <a:schemeClr val="dk1"/>
                </a:solidFill>
                <a:ea typeface="Open Sans"/>
                <a:cs typeface="Open Sans"/>
                <a:sym typeface="Open Sans"/>
              </a:rPr>
              <a:t>Installazione VS Code e </a:t>
            </a:r>
            <a:r>
              <a:rPr lang="it-IT" sz="1600" b="1" i="0" u="none" strike="noStrike" cap="none" dirty="0" err="1">
                <a:solidFill>
                  <a:schemeClr val="dk1"/>
                </a:solidFill>
                <a:ea typeface="Open Sans"/>
                <a:cs typeface="Open Sans"/>
                <a:sym typeface="Open Sans"/>
              </a:rPr>
              <a:t>Node</a:t>
            </a:r>
            <a:r>
              <a:rPr lang="it-IT" sz="1600" b="1" i="0" u="none" strike="noStrike" cap="none" dirty="0">
                <a:solidFill>
                  <a:schemeClr val="dk1"/>
                </a:solidFill>
                <a:ea typeface="Open Sans"/>
                <a:cs typeface="Open Sans"/>
                <a:sym typeface="Open Sans"/>
              </a:rPr>
              <a:t> </a:t>
            </a:r>
            <a:r>
              <a:rPr lang="it-IT" sz="1600" b="1" i="0" u="none" strike="noStrike" cap="none" dirty="0" err="1">
                <a:solidFill>
                  <a:schemeClr val="dk1"/>
                </a:solidFill>
                <a:ea typeface="Open Sans"/>
                <a:cs typeface="Open Sans"/>
                <a:sym typeface="Open Sans"/>
              </a:rPr>
              <a:t>Js</a:t>
            </a:r>
            <a:endParaRPr sz="1600" b="1" i="0" u="none" strike="noStrike" cap="none" dirty="0" err="1">
              <a:solidFill>
                <a:schemeClr val="dk1"/>
              </a:solidFill>
              <a:ea typeface="Open Sans"/>
              <a:cs typeface="Open Sans"/>
              <a:sym typeface="Open Sans"/>
            </a:endParaRPr>
          </a:p>
        </p:txBody>
      </p:sp>
      <p:sp>
        <p:nvSpPr>
          <p:cNvPr id="104" name="Google Shape;104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it-IT"/>
              <a:t>5</a:t>
            </a:fld>
            <a:endParaRPr/>
          </a:p>
        </p:txBody>
      </p:sp>
      <p:sp>
        <p:nvSpPr>
          <p:cNvPr id="105" name="Google Shape;105;p2"/>
          <p:cNvSpPr txBox="1"/>
          <p:nvPr/>
        </p:nvSpPr>
        <p:spPr>
          <a:xfrm>
            <a:off x="123663" y="1613542"/>
            <a:ext cx="3462837" cy="27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Open Sans"/>
              <a:buChar char="●"/>
            </a:pPr>
            <a:r>
              <a:rPr lang="it-IT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https://code.visualstudio.com/download</a:t>
            </a:r>
            <a:endParaRPr lang="it-IT" b="0" i="0" u="none" strike="noStrike" cap="none" dirty="0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Open Sans"/>
              <a:buChar char="●"/>
            </a:pPr>
            <a:r>
              <a:rPr lang="it-IT" b="0" i="0" u="sng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Scegliere la </a:t>
            </a:r>
            <a:r>
              <a:rPr lang="it-IT" b="0" i="0" u="sng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versone</a:t>
            </a:r>
            <a:r>
              <a:rPr lang="it-IT" b="0" i="0" u="sng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più idonea</a:t>
            </a:r>
            <a:br>
              <a:rPr lang="it-IT" b="0" i="0" u="sng" strike="noStrike" cap="none" dirty="0">
                <a:latin typeface="Open Sans"/>
                <a:ea typeface="Open Sans"/>
                <a:cs typeface="Open Sans"/>
              </a:rPr>
            </a:br>
            <a:r>
              <a:rPr lang="it-IT" b="0" i="0" u="sng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al sistema operativo</a:t>
            </a:r>
            <a:br>
              <a:rPr lang="it-IT" b="0" i="0" u="sng" strike="noStrike" cap="none" dirty="0">
                <a:latin typeface="Open Sans"/>
                <a:ea typeface="Open Sans"/>
                <a:cs typeface="Open Sans"/>
              </a:rPr>
            </a:br>
            <a:endParaRPr b="0" i="0" u="sng" strike="noStrike" cap="none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Open Sans"/>
              <a:buChar char="●"/>
            </a:pPr>
            <a:r>
              <a:rPr lang="it-IT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https://nodejs.dev/download</a:t>
            </a:r>
            <a:endParaRPr b="0" i="0" u="none" strike="noStrike" cap="none" dirty="0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Open Sans"/>
              <a:buChar char="●"/>
            </a:pPr>
            <a:r>
              <a:rPr lang="it-IT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Scegliere la versione LTS più</a:t>
            </a:r>
            <a:br>
              <a:rPr lang="it-IT" b="0" i="0" u="none" strike="noStrike" cap="none" dirty="0">
                <a:latin typeface="Arial"/>
                <a:ea typeface="Arial"/>
                <a:cs typeface="Arial"/>
              </a:rPr>
            </a:br>
            <a:r>
              <a:rPr lang="it-IT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idonea al sistema operativo</a:t>
            </a:r>
            <a:endParaRPr b="0" i="0" u="none" strike="noStrike" cap="none" dirty="0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pPr marL="457200" indent="-304800">
              <a:buSzPts val="1200"/>
              <a:buFont typeface="Open Sans"/>
              <a:buChar char="●"/>
            </a:pPr>
            <a:r>
              <a:rPr lang="it-IT" dirty="0" err="1">
                <a:latin typeface="Open Sans"/>
                <a:ea typeface="Open Sans"/>
                <a:cs typeface="Open Sans"/>
                <a:sym typeface="Open Sans"/>
              </a:rPr>
              <a:t>cmd</a:t>
            </a:r>
            <a:r>
              <a:rPr lang="it-IT" dirty="0">
                <a:latin typeface="Open Sans"/>
                <a:ea typeface="Open Sans"/>
                <a:cs typeface="Open Sans"/>
                <a:sym typeface="Open Sans"/>
              </a:rPr>
              <a:t> </a:t>
            </a:r>
            <a:r>
              <a:rPr lang="it-IT" dirty="0" err="1">
                <a:latin typeface="Open Sans"/>
                <a:ea typeface="Open Sans"/>
                <a:cs typeface="Open Sans"/>
                <a:sym typeface="Open Sans"/>
              </a:rPr>
              <a:t>node</a:t>
            </a:r>
            <a:r>
              <a:rPr lang="it-IT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-v</a:t>
            </a: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52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06" name="Google Shape;106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35440" y="1705720"/>
            <a:ext cx="4292275" cy="2264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"/>
          <p:cNvSpPr txBox="1"/>
          <p:nvPr/>
        </p:nvSpPr>
        <p:spPr>
          <a:xfrm>
            <a:off x="292322" y="659120"/>
            <a:ext cx="3306600" cy="4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it-IT" sz="24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Typescript</a:t>
            </a:r>
            <a:endParaRPr sz="2400" b="1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5" name="Google Shape;115;p3"/>
          <p:cNvSpPr txBox="1"/>
          <p:nvPr/>
        </p:nvSpPr>
        <p:spPr>
          <a:xfrm>
            <a:off x="329920" y="1189368"/>
            <a:ext cx="8663340" cy="207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 b="1" i="0" u="none" strike="noStrike" cap="none" dirty="0">
                <a:solidFill>
                  <a:schemeClr val="dk1"/>
                </a:solidFill>
                <a:ea typeface="Open Sans"/>
                <a:cs typeface="Open Sans"/>
                <a:sym typeface="Open Sans"/>
              </a:rPr>
              <a:t>Eseguibile script  </a:t>
            </a:r>
            <a:r>
              <a:rPr lang="it-IT" sz="1300" b="1" i="0" u="none" strike="noStrike" cap="none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                            </a:t>
            </a:r>
            <a:r>
              <a:rPr lang="it-IT" sz="1300" b="0" i="0" u="none" strike="noStrike" cap="none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                                   </a:t>
            </a:r>
            <a:r>
              <a:rPr lang="it-IT" sz="1500" b="0" i="0" u="none" strike="noStrike" cap="none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Configurazione base </a:t>
            </a:r>
            <a:r>
              <a:rPr lang="it-IT" sz="1500" b="0" i="0" u="none" strike="noStrike" cap="none" dirty="0" err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tsconfig.json</a:t>
            </a:r>
            <a:endParaRPr sz="1500" b="0" i="0" u="none" strike="noStrike" cap="none" dirty="0" err="1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6" name="Google Shape;116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it-IT"/>
              <a:t>6</a:t>
            </a:fld>
            <a:endParaRPr/>
          </a:p>
        </p:txBody>
      </p:sp>
      <p:sp>
        <p:nvSpPr>
          <p:cNvPr id="117" name="Google Shape;117;p3"/>
          <p:cNvSpPr txBox="1"/>
          <p:nvPr/>
        </p:nvSpPr>
        <p:spPr>
          <a:xfrm>
            <a:off x="356775" y="1959450"/>
            <a:ext cx="3944100" cy="27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Open Sans"/>
              <a:buNone/>
            </a:pPr>
            <a:endParaRPr sz="16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152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19" name="Google Shape;119;p3" descr="Immagine che contiene testo, screenshot, monitor, schermo&#10;&#10;Descrizione generata automa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7939" y="1762627"/>
            <a:ext cx="4014036" cy="24454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3" descr="Immagine che contiene testo, monitor, screenshot, schermo&#10;&#10;Descrizione generata automaticament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79545" y="1762626"/>
            <a:ext cx="4014035" cy="25130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aaaeabd082_0_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it-IT"/>
              <a:t>7</a:t>
            </a:fld>
            <a:endParaRPr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84ACADCC-41B9-400A-AA0C-4C7F6992D60E}"/>
              </a:ext>
            </a:extLst>
          </p:cNvPr>
          <p:cNvSpPr txBox="1"/>
          <p:nvPr/>
        </p:nvSpPr>
        <p:spPr>
          <a:xfrm>
            <a:off x="1365585" y="2200275"/>
            <a:ext cx="6097000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3200" dirty="0"/>
              <a:t>       </a:t>
            </a:r>
            <a:r>
              <a:rPr lang="it-IT" sz="2800" dirty="0"/>
              <a:t> Sintassi base di </a:t>
            </a:r>
            <a:r>
              <a:rPr lang="it-IT" sz="2800" dirty="0" err="1"/>
              <a:t>typescript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"/>
          <p:cNvSpPr txBox="1"/>
          <p:nvPr/>
        </p:nvSpPr>
        <p:spPr>
          <a:xfrm>
            <a:off x="360000" y="629040"/>
            <a:ext cx="3306600" cy="4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it-IT" sz="24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Typescript</a:t>
            </a:r>
            <a:endParaRPr sz="2400" b="1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8" name="Google Shape;128;p4"/>
          <p:cNvSpPr txBox="1"/>
          <p:nvPr/>
        </p:nvSpPr>
        <p:spPr>
          <a:xfrm>
            <a:off x="397598" y="1219447"/>
            <a:ext cx="4685400" cy="2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it-IT" sz="1600" b="1" i="0" u="none" strike="noStrike" cap="none" dirty="0">
                <a:solidFill>
                  <a:schemeClr val="dk1"/>
                </a:solidFill>
                <a:ea typeface="Open Sans"/>
                <a:cs typeface="Open Sans"/>
                <a:sym typeface="Open Sans"/>
              </a:rPr>
              <a:t>Sintassi</a:t>
            </a:r>
            <a:endParaRPr sz="1600" b="1" i="0" u="none" strike="noStrike" cap="none" dirty="0">
              <a:solidFill>
                <a:schemeClr val="dk1"/>
              </a:solidFill>
              <a:ea typeface="Open Sans"/>
              <a:cs typeface="Open Sans"/>
              <a:sym typeface="Open Sans"/>
            </a:endParaRPr>
          </a:p>
        </p:txBody>
      </p:sp>
      <p:sp>
        <p:nvSpPr>
          <p:cNvPr id="129" name="Google Shape;12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it-IT"/>
              <a:t>8</a:t>
            </a:fld>
            <a:endParaRPr/>
          </a:p>
        </p:txBody>
      </p:sp>
      <p:sp>
        <p:nvSpPr>
          <p:cNvPr id="130" name="Google Shape;130;p4"/>
          <p:cNvSpPr txBox="1"/>
          <p:nvPr/>
        </p:nvSpPr>
        <p:spPr>
          <a:xfrm>
            <a:off x="-214725" y="1500746"/>
            <a:ext cx="3944100" cy="27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/>
            <a:r>
              <a:rPr lang="it-IT" sz="1500" b="0" i="0" u="none" strike="noStrike" cap="none" dirty="0">
                <a:solidFill>
                  <a:schemeClr val="dk1"/>
                </a:solidFill>
                <a:ea typeface="Open Sans"/>
                <a:cs typeface="Open Sans"/>
                <a:sym typeface="Open Sans"/>
              </a:rPr>
              <a:t>       </a:t>
            </a:r>
            <a:r>
              <a:rPr lang="it-IT" dirty="0">
                <a:solidFill>
                  <a:schemeClr val="dk1"/>
                </a:solidFill>
                <a:ea typeface="Open Sans"/>
                <a:cs typeface="Open Sans"/>
                <a:sym typeface="Open Sans"/>
              </a:rPr>
              <a:t> </a:t>
            </a:r>
            <a:r>
              <a:rPr lang="it-IT" b="0" i="0" u="none" strike="noStrike" cap="none" dirty="0">
                <a:solidFill>
                  <a:srgbClr val="FF0000"/>
                </a:solidFill>
                <a:ea typeface="Open Sans"/>
                <a:cs typeface="Open Sans"/>
                <a:sym typeface="Open Sans"/>
              </a:rPr>
              <a:t>Variabili</a:t>
            </a:r>
            <a:endParaRPr b="0" i="0" u="none" strike="noStrike" cap="none" dirty="0">
              <a:solidFill>
                <a:srgbClr val="FF0000"/>
              </a:solidFill>
              <a:ea typeface="Open Sans"/>
              <a:cs typeface="Open Sans"/>
              <a:sym typeface="Open Sans"/>
            </a:endParaRPr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Open Sans"/>
              <a:buNone/>
            </a:pPr>
            <a:endParaRPr sz="15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indent="-228600"/>
            <a:r>
              <a:rPr lang="it-IT" sz="15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    </a:t>
            </a:r>
            <a:r>
              <a:rPr lang="it-IT" dirty="0">
                <a:ea typeface="Open Sans"/>
                <a:cs typeface="Open Sans"/>
                <a:sym typeface="Open Sans"/>
              </a:rPr>
              <a:t> </a:t>
            </a:r>
            <a:r>
              <a:rPr lang="it-IT" b="0" i="0" u="none" strike="noStrike" cap="none" dirty="0">
                <a:solidFill>
                  <a:srgbClr val="000000"/>
                </a:solidFill>
                <a:ea typeface="Open Sans"/>
                <a:cs typeface="Open Sans"/>
                <a:sym typeface="Open Sans"/>
              </a:rPr>
              <a:t>Con </a:t>
            </a:r>
            <a:r>
              <a:rPr lang="it-IT" b="0" i="0" u="none" strike="noStrike" cap="none" dirty="0" err="1">
                <a:solidFill>
                  <a:srgbClr val="000000"/>
                </a:solidFill>
                <a:ea typeface="Open Sans"/>
                <a:cs typeface="Open Sans"/>
                <a:sym typeface="Open Sans"/>
              </a:rPr>
              <a:t>ecmascript</a:t>
            </a:r>
            <a:r>
              <a:rPr lang="it-IT" b="0" i="0" u="none" strike="noStrike" cap="none" dirty="0">
                <a:solidFill>
                  <a:srgbClr val="000000"/>
                </a:solidFill>
                <a:ea typeface="Open Sans"/>
                <a:cs typeface="Open Sans"/>
                <a:sym typeface="Open Sans"/>
              </a:rPr>
              <a:t> 6 le variabili</a:t>
            </a:r>
            <a:r>
              <a:rPr lang="it-IT" dirty="0">
                <a:ea typeface="Open Sans"/>
                <a:cs typeface="Open Sans"/>
                <a:sym typeface="Open Sans"/>
              </a:rPr>
              <a:t>   </a:t>
            </a:r>
            <a:r>
              <a:rPr lang="it-IT" b="0" i="0" u="none" strike="noStrike" cap="none" dirty="0">
                <a:solidFill>
                  <a:srgbClr val="000000"/>
                </a:solidFill>
                <a:ea typeface="Open Sans"/>
                <a:cs typeface="Open Sans"/>
                <a:sym typeface="Open Sans"/>
              </a:rPr>
              <a:t>anche</a:t>
            </a:r>
            <a:r>
              <a:rPr lang="it-IT" dirty="0">
                <a:ea typeface="Open Sans"/>
                <a:cs typeface="Open Sans"/>
                <a:sym typeface="Open Sans"/>
              </a:rPr>
              <a:t>  </a:t>
            </a:r>
            <a:r>
              <a:rPr lang="it-IT" b="0" i="0" u="none" strike="noStrike" cap="none" dirty="0">
                <a:solidFill>
                  <a:srgbClr val="000000"/>
                </a:solidFill>
                <a:ea typeface="Open Sans"/>
                <a:cs typeface="Open Sans"/>
                <a:sym typeface="Open Sans"/>
              </a:rPr>
              <a:t>in </a:t>
            </a:r>
            <a:r>
              <a:rPr lang="it-IT" b="0" i="0" u="none" strike="noStrike" cap="none" dirty="0" err="1">
                <a:solidFill>
                  <a:srgbClr val="000000"/>
                </a:solidFill>
                <a:ea typeface="Open Sans"/>
                <a:cs typeface="Open Sans"/>
                <a:sym typeface="Open Sans"/>
              </a:rPr>
              <a:t>typescript</a:t>
            </a:r>
            <a:r>
              <a:rPr lang="it-IT" b="0" i="0" u="none" strike="noStrike" cap="none" dirty="0">
                <a:solidFill>
                  <a:srgbClr val="000000"/>
                </a:solidFill>
                <a:ea typeface="Open Sans"/>
                <a:cs typeface="Open Sans"/>
                <a:sym typeface="Open Sans"/>
              </a:rPr>
              <a:t> vengono</a:t>
            </a:r>
            <a:r>
              <a:rPr lang="it-IT" dirty="0">
                <a:ea typeface="Open Sans"/>
                <a:cs typeface="Open Sans"/>
                <a:sym typeface="Open Sans"/>
              </a:rPr>
              <a:t> </a:t>
            </a:r>
            <a:r>
              <a:rPr lang="it-IT" b="0" i="0" u="none" strike="noStrike" cap="none" dirty="0">
                <a:solidFill>
                  <a:srgbClr val="000000"/>
                </a:solidFill>
                <a:ea typeface="Open Sans"/>
                <a:cs typeface="Open Sans"/>
                <a:sym typeface="Open Sans"/>
              </a:rPr>
              <a:t>definite con</a:t>
            </a:r>
            <a:br>
              <a:rPr lang="it-IT" b="0" i="0" u="none" strike="noStrike" cap="none" dirty="0">
                <a:ea typeface="Open Sans"/>
                <a:cs typeface="Open Sans"/>
              </a:rPr>
            </a:br>
            <a:r>
              <a:rPr lang="it-IT" b="0" i="0" u="none" strike="noStrike" cap="none" dirty="0">
                <a:solidFill>
                  <a:srgbClr val="000000"/>
                </a:solidFill>
                <a:ea typeface="Open Sans"/>
                <a:cs typeface="Open Sans"/>
                <a:sym typeface="Open Sans"/>
              </a:rPr>
              <a:t>la </a:t>
            </a:r>
            <a:r>
              <a:rPr lang="it-IT" dirty="0">
                <a:ea typeface="Open Sans"/>
                <a:cs typeface="Open Sans"/>
                <a:sym typeface="Open Sans"/>
              </a:rPr>
              <a:t>keyword</a:t>
            </a:r>
            <a:r>
              <a:rPr lang="it-IT" b="0" i="0" u="none" strike="noStrike" cap="none" dirty="0">
                <a:solidFill>
                  <a:srgbClr val="000000"/>
                </a:solidFill>
                <a:ea typeface="Open Sans"/>
                <a:cs typeface="Open Sans"/>
                <a:sym typeface="Open Sans"/>
              </a:rPr>
              <a:t> </a:t>
            </a:r>
            <a:r>
              <a:rPr lang="it-IT" b="0" i="0" u="none" strike="noStrike" cap="none" dirty="0" err="1">
                <a:solidFill>
                  <a:srgbClr val="00B0F0"/>
                </a:solidFill>
                <a:ea typeface="Open Sans"/>
                <a:cs typeface="Open Sans"/>
                <a:sym typeface="Open Sans"/>
              </a:rPr>
              <a:t>let</a:t>
            </a:r>
            <a:r>
              <a:rPr lang="it-IT" b="0" i="0" u="none" strike="noStrike" cap="none" dirty="0">
                <a:solidFill>
                  <a:schemeClr val="dk1"/>
                </a:solidFill>
                <a:ea typeface="Open Sans"/>
                <a:cs typeface="Open Sans"/>
                <a:sym typeface="Open Sans"/>
              </a:rPr>
              <a:t>.</a:t>
            </a:r>
            <a:br>
              <a:rPr lang="it-IT" b="0" i="0" u="none" strike="noStrike" cap="none" dirty="0">
                <a:ea typeface="Open Sans"/>
                <a:cs typeface="Open Sans"/>
              </a:rPr>
            </a:br>
            <a:br>
              <a:rPr lang="it-IT" b="0" i="0" u="none" strike="noStrike" cap="none" dirty="0">
                <a:ea typeface="Open Sans"/>
                <a:cs typeface="Open Sans"/>
              </a:rPr>
            </a:br>
            <a:r>
              <a:rPr lang="it-IT" b="0" i="0" u="none" strike="noStrike" cap="none" dirty="0" err="1">
                <a:solidFill>
                  <a:schemeClr val="dk1"/>
                </a:solidFill>
                <a:ea typeface="Open Sans"/>
                <a:cs typeface="Open Sans"/>
                <a:sym typeface="Open Sans"/>
              </a:rPr>
              <a:t>Dichiarata:</a:t>
            </a:r>
            <a:r>
              <a:rPr lang="it-IT" b="0" i="0" u="none" strike="noStrike" cap="none" dirty="0" err="1">
                <a:solidFill>
                  <a:srgbClr val="00B0F0"/>
                </a:solidFill>
                <a:ea typeface="Open Sans"/>
                <a:cs typeface="Open Sans"/>
                <a:sym typeface="Open Sans"/>
              </a:rPr>
              <a:t>let</a:t>
            </a:r>
            <a:r>
              <a:rPr lang="it-IT" b="0" i="0" u="none" strike="noStrike" cap="none" dirty="0">
                <a:solidFill>
                  <a:srgbClr val="00B0F0"/>
                </a:solidFill>
                <a:ea typeface="Open Sans"/>
                <a:cs typeface="Open Sans"/>
                <a:sym typeface="Open Sans"/>
              </a:rPr>
              <a:t> </a:t>
            </a:r>
            <a:r>
              <a:rPr lang="it-IT" b="0" i="0" u="none" strike="noStrike" cap="none" dirty="0">
                <a:solidFill>
                  <a:schemeClr val="dk1"/>
                </a:solidFill>
                <a:ea typeface="Open Sans"/>
                <a:cs typeface="Open Sans"/>
                <a:sym typeface="Open Sans"/>
              </a:rPr>
              <a:t>nome;</a:t>
            </a:r>
            <a:br>
              <a:rPr lang="it-IT" b="0" i="0" u="none" strike="noStrike" cap="none" dirty="0">
                <a:ea typeface="Open Sans"/>
                <a:cs typeface="Open Sans"/>
              </a:rPr>
            </a:br>
            <a:r>
              <a:rPr lang="it-IT" b="0" i="0" u="none" strike="noStrike" cap="none" dirty="0">
                <a:solidFill>
                  <a:schemeClr val="dk1"/>
                </a:solidFill>
                <a:ea typeface="Open Sans"/>
                <a:cs typeface="Open Sans"/>
                <a:sym typeface="Open Sans"/>
              </a:rPr>
              <a:t>Inizializzata: </a:t>
            </a:r>
            <a:r>
              <a:rPr lang="it-IT" b="0" i="0" u="none" strike="noStrike" cap="none" dirty="0" err="1">
                <a:solidFill>
                  <a:srgbClr val="00B0F0"/>
                </a:solidFill>
                <a:ea typeface="Open Sans"/>
                <a:cs typeface="Open Sans"/>
                <a:sym typeface="Open Sans"/>
              </a:rPr>
              <a:t>let</a:t>
            </a:r>
            <a:r>
              <a:rPr lang="it-IT" b="0" i="0" u="none" strike="noStrike" cap="none" dirty="0">
                <a:solidFill>
                  <a:schemeClr val="dk1"/>
                </a:solidFill>
                <a:ea typeface="Open Sans"/>
                <a:cs typeface="Open Sans"/>
                <a:sym typeface="Open Sans"/>
              </a:rPr>
              <a:t> nome= ' </a:t>
            </a:r>
            <a:r>
              <a:rPr lang="it-IT" b="0" i="0" u="none" strike="noStrike" cap="none" dirty="0" err="1">
                <a:solidFill>
                  <a:schemeClr val="dk1"/>
                </a:solidFill>
                <a:ea typeface="Open Sans"/>
                <a:cs typeface="Open Sans"/>
                <a:sym typeface="Open Sans"/>
              </a:rPr>
              <a:t>fabio</a:t>
            </a:r>
            <a:r>
              <a:rPr lang="it-IT" b="0" i="0" u="none" strike="noStrike" cap="none" dirty="0">
                <a:solidFill>
                  <a:schemeClr val="dk1"/>
                </a:solidFill>
                <a:ea typeface="Open Sans"/>
                <a:cs typeface="Open Sans"/>
                <a:sym typeface="Open Sans"/>
              </a:rPr>
              <a:t>';</a:t>
            </a:r>
            <a:endParaRPr b="0" i="0" u="none" strike="noStrike" cap="none" dirty="0">
              <a:solidFill>
                <a:schemeClr val="dk1"/>
              </a:solidFill>
              <a:ea typeface="Open Sans"/>
              <a:cs typeface="Open Sans"/>
              <a:sym typeface="Open Sans"/>
            </a:endParaRPr>
          </a:p>
          <a:p>
            <a:pPr marL="152400"/>
            <a:r>
              <a:rPr lang="it-IT" sz="1200" dirty="0">
                <a:latin typeface="Open Sans"/>
                <a:ea typeface="Open Sans"/>
                <a:cs typeface="Open Sans"/>
              </a:rPr>
              <a:t>               </a:t>
            </a:r>
            <a:br>
              <a:rPr lang="it-IT" sz="1200" dirty="0">
                <a:latin typeface="Open Sans"/>
                <a:ea typeface="Open Sans"/>
                <a:cs typeface="Open Sans"/>
              </a:rPr>
            </a:br>
            <a:br>
              <a:rPr lang="it-IT" sz="1200" dirty="0">
                <a:latin typeface="Open Sans"/>
                <a:ea typeface="Open Sans"/>
                <a:cs typeface="Open Sans"/>
              </a:rPr>
            </a:br>
            <a:br>
              <a:rPr lang="it-IT" sz="1200" dirty="0">
                <a:latin typeface="Open Sans"/>
                <a:ea typeface="Open Sans"/>
                <a:cs typeface="Open Sans"/>
              </a:rPr>
            </a:br>
            <a:r>
              <a:rPr lang="it-IT" sz="1200" dirty="0">
                <a:latin typeface="Open Sans"/>
                <a:ea typeface="Open Sans"/>
                <a:cs typeface="Open Sans"/>
              </a:rPr>
              <a:t>     nome variabile        valore variabile     </a:t>
            </a:r>
            <a:endParaRPr lang="it-IT" sz="1200" b="0" i="0" u="none" strike="noStrike" cap="none" dirty="0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1566CC6F-F0AA-4518-9D69-79ADE1D5660A}"/>
              </a:ext>
            </a:extLst>
          </p:cNvPr>
          <p:cNvSpPr txBox="1"/>
          <p:nvPr/>
        </p:nvSpPr>
        <p:spPr>
          <a:xfrm>
            <a:off x="5080334" y="1500939"/>
            <a:ext cx="2743199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>
                <a:solidFill>
                  <a:srgbClr val="FF0000"/>
                </a:solidFill>
              </a:rPr>
              <a:t>Che cos'è una variabile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29A5AA5E-152D-4154-814D-5B82EE8D4D7B}"/>
              </a:ext>
            </a:extLst>
          </p:cNvPr>
          <p:cNvSpPr txBox="1"/>
          <p:nvPr/>
        </p:nvSpPr>
        <p:spPr>
          <a:xfrm>
            <a:off x="5050255" y="1989723"/>
            <a:ext cx="2743199" cy="267765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/>
              <a:t>Una variabile è un dato seguito da un valore che viene allocato nella memoria di un applicativo è può in seguito essere ridefinito con un nuovo tipo ed un nuovo valore.</a:t>
            </a:r>
            <a:br>
              <a:rPr lang="it-IT" dirty="0"/>
            </a:br>
            <a:r>
              <a:rPr lang="it-IT" dirty="0"/>
              <a:t>Una variabile all'interno di un applicativo deve essere prima dichiarata e successivamente memorizzata </a:t>
            </a:r>
            <a:r>
              <a:rPr lang="it-IT" dirty="0" err="1"/>
              <a:t>affinchè</a:t>
            </a:r>
            <a:r>
              <a:rPr lang="it-IT" dirty="0"/>
              <a:t> quel valore possa essere allocato in memoria. </a:t>
            </a:r>
          </a:p>
        </p:txBody>
      </p:sp>
      <p:cxnSp>
        <p:nvCxnSpPr>
          <p:cNvPr id="4" name="Connettore 2 3">
            <a:extLst>
              <a:ext uri="{FF2B5EF4-FFF2-40B4-BE49-F238E27FC236}">
                <a16:creationId xmlns:a16="http://schemas.microsoft.com/office/drawing/2014/main" id="{F0DE3C8D-007F-403B-BE77-8D2496543F47}"/>
              </a:ext>
            </a:extLst>
          </p:cNvPr>
          <p:cNvCxnSpPr/>
          <p:nvPr/>
        </p:nvCxnSpPr>
        <p:spPr>
          <a:xfrm flipV="1">
            <a:off x="535406" y="3435016"/>
            <a:ext cx="982077" cy="4165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ttore 2 4">
            <a:extLst>
              <a:ext uri="{FF2B5EF4-FFF2-40B4-BE49-F238E27FC236}">
                <a16:creationId xmlns:a16="http://schemas.microsoft.com/office/drawing/2014/main" id="{52FE56F5-C414-4921-A17E-06F65D6228C7}"/>
              </a:ext>
            </a:extLst>
          </p:cNvPr>
          <p:cNvCxnSpPr/>
          <p:nvPr/>
        </p:nvCxnSpPr>
        <p:spPr>
          <a:xfrm flipV="1">
            <a:off x="1648327" y="3359819"/>
            <a:ext cx="899361" cy="5669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"/>
          <p:cNvSpPr txBox="1"/>
          <p:nvPr/>
        </p:nvSpPr>
        <p:spPr>
          <a:xfrm>
            <a:off x="314882" y="598962"/>
            <a:ext cx="3306600" cy="4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it-IT" sz="24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Typescript</a:t>
            </a:r>
            <a:endParaRPr sz="2400" b="1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8" name="Google Shape;128;p4"/>
          <p:cNvSpPr txBox="1"/>
          <p:nvPr/>
        </p:nvSpPr>
        <p:spPr>
          <a:xfrm>
            <a:off x="359999" y="1106651"/>
            <a:ext cx="4685400" cy="2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it-IT" sz="16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Sintassi</a:t>
            </a:r>
            <a:endParaRPr sz="1600" b="1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9" name="Google Shape;12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it-IT"/>
              <a:t>9</a:t>
            </a:fld>
            <a:endParaRPr/>
          </a:p>
        </p:txBody>
      </p:sp>
      <p:pic>
        <p:nvPicPr>
          <p:cNvPr id="6" name="Immagine 6" descr="Immagine che contiene testo&#10;&#10;Descrizione generata automaticamente">
            <a:extLst>
              <a:ext uri="{FF2B5EF4-FFF2-40B4-BE49-F238E27FC236}">
                <a16:creationId xmlns:a16="http://schemas.microsoft.com/office/drawing/2014/main" id="{A6F9F338-F1F9-459A-A396-BD67F18CF9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821" y="1402288"/>
            <a:ext cx="5660857" cy="3316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80692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"/>
          <p:cNvSpPr txBox="1"/>
          <p:nvPr/>
        </p:nvSpPr>
        <p:spPr>
          <a:xfrm>
            <a:off x="322402" y="621521"/>
            <a:ext cx="3306600" cy="4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it-IT" sz="24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Typescript</a:t>
            </a:r>
            <a:endParaRPr sz="2400" b="1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8" name="Google Shape;128;p4"/>
          <p:cNvSpPr txBox="1"/>
          <p:nvPr/>
        </p:nvSpPr>
        <p:spPr>
          <a:xfrm>
            <a:off x="359999" y="1144250"/>
            <a:ext cx="4685400" cy="2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it-IT" sz="16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Sintassi</a:t>
            </a:r>
            <a:endParaRPr sz="1600" b="1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9" name="Google Shape;12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it-IT"/>
              <a:t>10</a:t>
            </a:fld>
            <a:endParaRPr/>
          </a:p>
        </p:txBody>
      </p:sp>
      <p:sp>
        <p:nvSpPr>
          <p:cNvPr id="131" name="Google Shape;131;p4"/>
          <p:cNvSpPr txBox="1"/>
          <p:nvPr/>
        </p:nvSpPr>
        <p:spPr>
          <a:xfrm>
            <a:off x="250627" y="1472718"/>
            <a:ext cx="3697800" cy="2246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it-IT" sz="1400" b="0" i="0" u="none" strike="noStrike" cap="none" dirty="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Costanti</a:t>
            </a:r>
            <a:endParaRPr sz="1400" b="0" i="0" u="none" strike="noStrike" cap="none" dirty="0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Per definire una costante in </a:t>
            </a:r>
            <a:r>
              <a:rPr lang="it-IT" sz="1400" b="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typescript</a:t>
            </a:r>
            <a:r>
              <a:rPr lang="it-IT" sz="14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viene utilizzata la keyword </a:t>
            </a:r>
            <a:r>
              <a:rPr lang="it-IT" sz="1400" b="0" i="0" u="none" strike="noStrike" cap="none" dirty="0" err="1">
                <a:solidFill>
                  <a:srgbClr val="00B0F0"/>
                </a:solidFill>
                <a:latin typeface="Open Sans"/>
                <a:ea typeface="Open Sans"/>
                <a:cs typeface="Open Sans"/>
                <a:sym typeface="Open Sans"/>
              </a:rPr>
              <a:t>const</a:t>
            </a:r>
            <a:r>
              <a:rPr lang="it-IT" sz="1400" b="0" i="0" u="none" strike="noStrike" cap="none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br>
              <a:rPr lang="it-IT" sz="1400" b="0" i="0" u="none" strike="noStrike" cap="none" dirty="0">
                <a:latin typeface="Open Sans"/>
                <a:ea typeface="Open Sans"/>
                <a:cs typeface="Open Sans"/>
              </a:rPr>
            </a:br>
            <a:endParaRPr sz="1400" b="0" i="0" u="none" strike="noStrike" cap="none">
              <a:solidFill>
                <a:srgbClr val="00B0F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r>
              <a:rPr lang="it-IT" sz="14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Esempio:</a:t>
            </a:r>
            <a:br>
              <a:rPr lang="it-IT" sz="1400" b="0" i="0" u="none" strike="noStrike" cap="none" dirty="0">
                <a:latin typeface="Open Sans"/>
                <a:ea typeface="Open Sans"/>
                <a:cs typeface="Open Sans"/>
              </a:rPr>
            </a:br>
            <a:br>
              <a:rPr lang="it-IT" sz="1400" b="0" i="0" u="none" strike="noStrike" cap="none" dirty="0">
                <a:latin typeface="Open Sans"/>
                <a:ea typeface="Open Sans"/>
                <a:cs typeface="Open Sans"/>
              </a:rPr>
            </a:br>
            <a:r>
              <a:rPr lang="it-IT" sz="1400" b="0" i="0" u="none" strike="noStrike" cap="none" dirty="0" err="1">
                <a:solidFill>
                  <a:srgbClr val="00B0F0"/>
                </a:solidFill>
                <a:latin typeface="Open Sans"/>
                <a:ea typeface="Open Sans"/>
                <a:cs typeface="Open Sans"/>
                <a:sym typeface="Open Sans"/>
              </a:rPr>
              <a:t>const</a:t>
            </a:r>
            <a:r>
              <a:rPr lang="it-IT" dirty="0">
                <a:solidFill>
                  <a:srgbClr val="00B0F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it-IT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ANNO</a:t>
            </a:r>
            <a:r>
              <a:rPr lang="it-IT" sz="1400" b="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:</a:t>
            </a:r>
            <a:r>
              <a:rPr lang="it-IT" dirty="0" err="1">
                <a:latin typeface="Open Sans"/>
                <a:ea typeface="Open Sans"/>
                <a:cs typeface="Open Sans"/>
                <a:sym typeface="Open Sans"/>
              </a:rPr>
              <a:t>number</a:t>
            </a:r>
            <a:r>
              <a:rPr lang="it-IT" sz="140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= 2021;</a:t>
            </a:r>
            <a:endParaRPr sz="1400" b="0" i="0" u="none" strike="noStrike" cap="none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it-IT" sz="1400" b="0" i="0" u="none" strike="noStrike" cap="none" dirty="0">
              <a:solidFill>
                <a:srgbClr val="00B050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9" name="Google Shape;131;p4">
            <a:extLst>
              <a:ext uri="{FF2B5EF4-FFF2-40B4-BE49-F238E27FC236}">
                <a16:creationId xmlns:a16="http://schemas.microsoft.com/office/drawing/2014/main" id="{7AFD8AA6-D544-4E9F-B8B7-B9DC566F58AA}"/>
              </a:ext>
            </a:extLst>
          </p:cNvPr>
          <p:cNvSpPr txBox="1"/>
          <p:nvPr/>
        </p:nvSpPr>
        <p:spPr>
          <a:xfrm>
            <a:off x="4574476" y="1420081"/>
            <a:ext cx="3697800" cy="2246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SzPts val="1400"/>
            </a:pPr>
            <a:r>
              <a:rPr lang="it-IT" dirty="0">
                <a:solidFill>
                  <a:srgbClr val="FF0000"/>
                </a:solidFill>
                <a:latin typeface="Open Sans"/>
                <a:ea typeface="Open Sans"/>
                <a:cs typeface="Open Sans"/>
              </a:rPr>
              <a:t>Che cos'è una costante</a:t>
            </a:r>
          </a:p>
          <a:p>
            <a:pPr>
              <a:buSzPts val="1400"/>
            </a:pPr>
            <a:endParaRPr lang="it-IT" dirty="0">
              <a:solidFill>
                <a:srgbClr val="FF0000"/>
              </a:solidFill>
              <a:latin typeface="Open Sans"/>
              <a:ea typeface="Open Sans"/>
              <a:cs typeface="Open Sans"/>
            </a:endParaRPr>
          </a:p>
          <a:p>
            <a:pPr>
              <a:buSzPts val="1400"/>
            </a:pPr>
            <a:r>
              <a:rPr lang="it-IT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</a:rPr>
              <a:t>Una costante a differenza di una variabile non segue la ridefinizione del valore è per name convention viene definita in maiuscolo.</a:t>
            </a:r>
            <a:br>
              <a:rPr lang="it-IT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</a:rPr>
            </a:br>
            <a:r>
              <a:rPr lang="it-IT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</a:rPr>
              <a:t>Esempio:</a:t>
            </a:r>
            <a:br>
              <a:rPr lang="it-IT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</a:rPr>
            </a:br>
            <a:br>
              <a:rPr lang="it-IT" dirty="0">
                <a:latin typeface="Open Sans"/>
                <a:ea typeface="Open Sans"/>
                <a:cs typeface="Open Sans"/>
              </a:rPr>
            </a:br>
            <a:r>
              <a:rPr lang="it-IT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</a:rPr>
              <a:t>let</a:t>
            </a:r>
            <a:r>
              <a:rPr lang="it-IT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it-IT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</a:rPr>
              <a:t>ID:number</a:t>
            </a:r>
            <a:r>
              <a:rPr lang="it-IT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</a:rPr>
              <a:t> = 1;</a:t>
            </a:r>
            <a:br>
              <a:rPr lang="it-IT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</a:rPr>
            </a:br>
            <a:r>
              <a:rPr lang="it-IT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</a:rPr>
              <a:t>ID = 2;  // ERRATO</a:t>
            </a:r>
          </a:p>
        </p:txBody>
      </p:sp>
    </p:spTree>
    <p:extLst>
      <p:ext uri="{BB962C8B-B14F-4D97-AF65-F5344CB8AC3E}">
        <p14:creationId xmlns:p14="http://schemas.microsoft.com/office/powerpoint/2010/main" val="31414311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"/>
          <p:cNvSpPr txBox="1"/>
          <p:nvPr/>
        </p:nvSpPr>
        <p:spPr>
          <a:xfrm>
            <a:off x="314882" y="598961"/>
            <a:ext cx="3306600" cy="4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it-IT" sz="24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Typescript</a:t>
            </a:r>
            <a:endParaRPr sz="2400" b="1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8" name="Google Shape;128;p4"/>
          <p:cNvSpPr txBox="1"/>
          <p:nvPr/>
        </p:nvSpPr>
        <p:spPr>
          <a:xfrm>
            <a:off x="359999" y="1069052"/>
            <a:ext cx="4685400" cy="2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it-IT" sz="16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Sintassi</a:t>
            </a:r>
            <a:endParaRPr sz="1600" b="1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9" name="Google Shape;12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it-IT"/>
              <a:t>11</a:t>
            </a:fld>
            <a:endParaRPr/>
          </a:p>
        </p:txBody>
      </p:sp>
      <p:pic>
        <p:nvPicPr>
          <p:cNvPr id="2" name="Immagine 2" descr="Immagine che contiene testo&#10;&#10;Descrizione generata automaticamente">
            <a:extLst>
              <a:ext uri="{FF2B5EF4-FFF2-40B4-BE49-F238E27FC236}">
                <a16:creationId xmlns:a16="http://schemas.microsoft.com/office/drawing/2014/main" id="{9C7B3C21-946F-4BB9-B569-6DA79BF042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939" y="1357214"/>
            <a:ext cx="5292392" cy="3203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1687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"/>
          <p:cNvSpPr txBox="1"/>
          <p:nvPr/>
        </p:nvSpPr>
        <p:spPr>
          <a:xfrm>
            <a:off x="299842" y="666639"/>
            <a:ext cx="3306600" cy="4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it-IT" sz="24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Typescript</a:t>
            </a:r>
            <a:endParaRPr sz="2400" b="1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8" name="Google Shape;128;p4"/>
          <p:cNvSpPr txBox="1"/>
          <p:nvPr/>
        </p:nvSpPr>
        <p:spPr>
          <a:xfrm>
            <a:off x="329920" y="1174329"/>
            <a:ext cx="4685400" cy="2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it-IT" sz="16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Sintassi</a:t>
            </a:r>
            <a:endParaRPr sz="1600" b="1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9" name="Google Shape;12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it-IT"/>
              <a:t>12</a:t>
            </a:fld>
            <a:endParaRPr/>
          </a:p>
        </p:txBody>
      </p:sp>
      <p:sp>
        <p:nvSpPr>
          <p:cNvPr id="131" name="Google Shape;131;p4"/>
          <p:cNvSpPr txBox="1"/>
          <p:nvPr/>
        </p:nvSpPr>
        <p:spPr>
          <a:xfrm>
            <a:off x="228069" y="1314804"/>
            <a:ext cx="3697800" cy="3108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it-IT" sz="1400" b="0" i="0" u="none" strike="noStrike" cap="none" dirty="0">
              <a:solidFill>
                <a:srgbClr val="FF0000"/>
              </a:solidFill>
              <a:latin typeface="Open Sans"/>
              <a:ea typeface="Open Sans"/>
              <a:cs typeface="Open Sans"/>
            </a:endParaRPr>
          </a:p>
          <a:p>
            <a:r>
              <a:rPr lang="it-IT" sz="1400" b="0" i="0" u="none" strike="noStrike" cap="none" dirty="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Commenti del codice</a:t>
            </a:r>
            <a:br>
              <a:rPr lang="it-IT" sz="1400" b="0" i="0" u="none" strike="noStrike" cap="none" dirty="0">
                <a:latin typeface="Open Sans"/>
                <a:ea typeface="Open Sans"/>
                <a:cs typeface="Open Sans"/>
              </a:rPr>
            </a:br>
            <a:br>
              <a:rPr lang="it-IT" sz="1400" b="0" i="0" u="none" strike="noStrike" cap="none" dirty="0">
                <a:latin typeface="Open Sans"/>
                <a:ea typeface="Open Sans"/>
                <a:cs typeface="Open Sans"/>
              </a:rPr>
            </a:br>
            <a:r>
              <a:rPr lang="it-IT" b="0" i="0" u="none" strike="noStrike" cap="none" dirty="0">
                <a:solidFill>
                  <a:schemeClr val="dk1"/>
                </a:solidFill>
                <a:ea typeface="Open Sans"/>
                <a:cs typeface="Open Sans"/>
                <a:sym typeface="Open Sans"/>
              </a:rPr>
              <a:t>Per i commenti a singola riga</a:t>
            </a:r>
            <a:r>
              <a:rPr lang="it-IT" dirty="0">
                <a:solidFill>
                  <a:schemeClr val="dk1"/>
                </a:solidFill>
                <a:ea typeface="Open Sans"/>
                <a:cs typeface="Open Sans"/>
                <a:sym typeface="Open Sans"/>
              </a:rPr>
              <a:t> in </a:t>
            </a:r>
            <a:r>
              <a:rPr lang="it-IT" dirty="0" err="1">
                <a:solidFill>
                  <a:schemeClr val="dk1"/>
                </a:solidFill>
                <a:ea typeface="Open Sans"/>
                <a:cs typeface="Open Sans"/>
                <a:sym typeface="Open Sans"/>
              </a:rPr>
              <a:t>typescript</a:t>
            </a:r>
            <a:r>
              <a:rPr lang="it-IT" b="0" i="0" u="none" strike="noStrike" cap="none" dirty="0">
                <a:solidFill>
                  <a:schemeClr val="dk1"/>
                </a:solidFill>
                <a:ea typeface="Open Sans"/>
                <a:cs typeface="Open Sans"/>
                <a:sym typeface="Open Sans"/>
              </a:rPr>
              <a:t> viene utilizzato </a:t>
            </a:r>
            <a:r>
              <a:rPr lang="it-IT" b="0" i="0" u="none" strike="noStrike" cap="none" dirty="0">
                <a:solidFill>
                  <a:srgbClr val="00B050"/>
                </a:solidFill>
                <a:ea typeface="Open Sans"/>
                <a:cs typeface="Open Sans"/>
                <a:sym typeface="Open Sans"/>
              </a:rPr>
              <a:t>//</a:t>
            </a:r>
            <a:r>
              <a:rPr lang="it-IT" b="0" i="0" u="none" strike="noStrike" cap="none" dirty="0">
                <a:solidFill>
                  <a:schemeClr val="dk1"/>
                </a:solidFill>
                <a:ea typeface="Open Sans"/>
                <a:cs typeface="Open Sans"/>
                <a:sym typeface="Open Sans"/>
              </a:rPr>
              <a:t>.</a:t>
            </a:r>
            <a:endParaRPr lang="it-IT" dirty="0">
              <a:solidFill>
                <a:schemeClr val="dk1"/>
              </a:solidFill>
              <a:ea typeface="Open Sans"/>
              <a:cs typeface="Open Sans"/>
            </a:endParaRPr>
          </a:p>
          <a:p>
            <a:r>
              <a:rPr lang="it-IT" dirty="0">
                <a:ea typeface="Open Sans"/>
                <a:cs typeface="Open Sans"/>
              </a:rPr>
              <a:t>Esempio:</a:t>
            </a:r>
            <a:br>
              <a:rPr lang="it-IT" b="0" i="0" u="none" strike="noStrike" cap="none" dirty="0">
                <a:ea typeface="Open Sans"/>
                <a:cs typeface="Open Sans"/>
              </a:rPr>
            </a:br>
            <a:r>
              <a:rPr lang="it-IT" dirty="0" err="1">
                <a:ea typeface="Open Sans"/>
                <a:cs typeface="Open Sans"/>
              </a:rPr>
              <a:t>let</a:t>
            </a:r>
            <a:r>
              <a:rPr lang="it-IT" dirty="0">
                <a:ea typeface="Open Sans"/>
                <a:cs typeface="Open Sans"/>
              </a:rPr>
              <a:t> colore: </a:t>
            </a:r>
            <a:r>
              <a:rPr lang="it-IT" dirty="0" err="1">
                <a:ea typeface="Open Sans"/>
                <a:cs typeface="Open Sans"/>
              </a:rPr>
              <a:t>string</a:t>
            </a:r>
            <a:r>
              <a:rPr lang="it-IT" dirty="0">
                <a:ea typeface="Open Sans"/>
                <a:cs typeface="Open Sans"/>
              </a:rPr>
              <a:t> = ' rosso';</a:t>
            </a:r>
            <a:endParaRPr lang="it-IT" dirty="0">
              <a:solidFill>
                <a:srgbClr val="00B050"/>
              </a:solidFill>
              <a:ea typeface="Open Sans"/>
              <a:cs typeface="Open Sans"/>
            </a:endParaRPr>
          </a:p>
          <a:p>
            <a:r>
              <a:rPr lang="it-IT" dirty="0">
                <a:ea typeface="Open Sans"/>
                <a:cs typeface="Open Sans"/>
              </a:rPr>
              <a:t>Invece per i commenti multi riga viene utilizzato (</a:t>
            </a:r>
            <a:r>
              <a:rPr lang="it-IT" dirty="0">
                <a:solidFill>
                  <a:srgbClr val="00B050"/>
                </a:solidFill>
                <a:ea typeface="Open Sans"/>
                <a:cs typeface="Open Sans"/>
              </a:rPr>
              <a:t>/*</a:t>
            </a:r>
            <a:r>
              <a:rPr lang="it-IT" dirty="0">
                <a:solidFill>
                  <a:schemeClr val="dk1"/>
                </a:solidFill>
                <a:ea typeface="Open Sans"/>
                <a:cs typeface="Open Sans"/>
              </a:rPr>
              <a:t>)</a:t>
            </a:r>
            <a:r>
              <a:rPr lang="it-IT" dirty="0">
                <a:solidFill>
                  <a:schemeClr val="dk1"/>
                </a:solidFill>
                <a:ea typeface="Open Sans"/>
                <a:cs typeface="Open Sans"/>
                <a:sym typeface="Open Sans"/>
              </a:rPr>
              <a:t> inizio del commento e  (</a:t>
            </a:r>
            <a:r>
              <a:rPr lang="it-IT" dirty="0">
                <a:solidFill>
                  <a:srgbClr val="00B050"/>
                </a:solidFill>
                <a:ea typeface="Open Sans"/>
                <a:cs typeface="Open Sans"/>
                <a:sym typeface="Open Sans"/>
              </a:rPr>
              <a:t>*/</a:t>
            </a:r>
            <a:r>
              <a:rPr lang="it-IT" dirty="0">
                <a:solidFill>
                  <a:schemeClr val="dk1"/>
                </a:solidFill>
                <a:ea typeface="Open Sans"/>
                <a:cs typeface="Open Sans"/>
                <a:sym typeface="Open Sans"/>
              </a:rPr>
              <a:t>)  fine del commento.</a:t>
            </a:r>
            <a:endParaRPr lang="it-IT" dirty="0">
              <a:solidFill>
                <a:schemeClr val="dk1"/>
              </a:solidFill>
              <a:ea typeface="Open Sans"/>
              <a:cs typeface="Open Sans"/>
            </a:endParaRPr>
          </a:p>
          <a:p>
            <a:r>
              <a:rPr lang="it-IT" dirty="0">
                <a:ea typeface="Open Sans"/>
                <a:cs typeface="Open Sans"/>
              </a:rPr>
              <a:t>Esempio commento singola riga:</a:t>
            </a:r>
            <a:br>
              <a:rPr lang="it-IT" dirty="0">
                <a:ea typeface="Open Sans"/>
                <a:cs typeface="Open Sans"/>
              </a:rPr>
            </a:br>
            <a:endParaRPr lang="it-IT">
              <a:solidFill>
                <a:schemeClr val="dk1"/>
              </a:solidFill>
              <a:ea typeface="Open Sans"/>
              <a:cs typeface="Open Sans"/>
            </a:endParaRPr>
          </a:p>
          <a:p>
            <a:r>
              <a:rPr lang="it-IT" dirty="0">
                <a:solidFill>
                  <a:srgbClr val="00B050"/>
                </a:solidFill>
                <a:ea typeface="Open Sans"/>
              </a:rPr>
              <a:t>//</a:t>
            </a:r>
            <a:r>
              <a:rPr lang="it-IT" dirty="0" err="1">
                <a:solidFill>
                  <a:srgbClr val="00B0F0"/>
                </a:solidFill>
                <a:ea typeface="Open Sans"/>
              </a:rPr>
              <a:t>let</a:t>
            </a:r>
            <a:r>
              <a:rPr lang="it-IT" dirty="0">
                <a:solidFill>
                  <a:srgbClr val="00B0F0"/>
                </a:solidFill>
                <a:ea typeface="Open Sans"/>
              </a:rPr>
              <a:t> </a:t>
            </a:r>
            <a:r>
              <a:rPr lang="it-IT" dirty="0">
                <a:solidFill>
                  <a:schemeClr val="tx1">
                    <a:lumMod val="85000"/>
                    <a:lumOff val="15000"/>
                  </a:schemeClr>
                </a:solidFill>
                <a:ea typeface="Open Sans"/>
              </a:rPr>
              <a:t>nome: </a:t>
            </a:r>
            <a:r>
              <a:rPr lang="it-IT" dirty="0" err="1">
                <a:solidFill>
                  <a:schemeClr val="tx1">
                    <a:lumMod val="85000"/>
                    <a:lumOff val="15000"/>
                  </a:schemeClr>
                </a:solidFill>
                <a:ea typeface="Open Sans"/>
              </a:rPr>
              <a:t>string</a:t>
            </a:r>
            <a:r>
              <a:rPr lang="it-IT" dirty="0">
                <a:solidFill>
                  <a:schemeClr val="tx1">
                    <a:lumMod val="85000"/>
                    <a:lumOff val="15000"/>
                  </a:schemeClr>
                </a:solidFill>
                <a:ea typeface="Open Sans"/>
              </a:rPr>
              <a:t> = '</a:t>
            </a:r>
            <a:r>
              <a:rPr lang="it-IT" dirty="0" err="1">
                <a:solidFill>
                  <a:schemeClr val="tx1">
                    <a:lumMod val="85000"/>
                    <a:lumOff val="15000"/>
                  </a:schemeClr>
                </a:solidFill>
                <a:ea typeface="Open Sans"/>
              </a:rPr>
              <a:t>fabio</a:t>
            </a:r>
            <a:r>
              <a:rPr lang="it-IT" dirty="0">
                <a:solidFill>
                  <a:schemeClr val="tx1">
                    <a:lumMod val="85000"/>
                    <a:lumOff val="15000"/>
                  </a:schemeClr>
                </a:solidFill>
                <a:ea typeface="Open Sans"/>
              </a:rPr>
              <a:t>';</a:t>
            </a:r>
            <a:br>
              <a:rPr lang="it-IT" dirty="0">
                <a:solidFill>
                  <a:schemeClr val="dk1"/>
                </a:solidFill>
                <a:ea typeface="Open Sans"/>
                <a:cs typeface="Open Sans"/>
              </a:rPr>
            </a:br>
            <a:endParaRPr lang="it-IT">
              <a:solidFill>
                <a:schemeClr val="dk1"/>
              </a:solidFill>
              <a:ea typeface="Open Sans"/>
              <a:cs typeface="Open Sans"/>
            </a:endParaRP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B91EF4BA-F38E-41EF-917C-9D736F01BA78}"/>
              </a:ext>
            </a:extLst>
          </p:cNvPr>
          <p:cNvSpPr txBox="1"/>
          <p:nvPr/>
        </p:nvSpPr>
        <p:spPr>
          <a:xfrm>
            <a:off x="4839702" y="1538537"/>
            <a:ext cx="2743199" cy="35394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>
                <a:solidFill>
                  <a:srgbClr val="FF0000"/>
                </a:solidFill>
              </a:rPr>
              <a:t>Che cosa sono i commenti del codice</a:t>
            </a:r>
          </a:p>
          <a:p>
            <a:endParaRPr lang="it-IT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it-IT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 commenti sono caratteri che si inseriscono all'interno del codice che possono essere a singola riga (//) o a multi riga (/* inizio commento */ fine commento) comunicando che quella parte di codice andrà ignorata e quindi non compilata.</a:t>
            </a:r>
          </a:p>
          <a:p>
            <a:endParaRPr lang="it-IT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it-IT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Esempio commento multi riga:</a:t>
            </a:r>
            <a:br>
              <a:rPr lang="it-IT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it-IT" dirty="0">
                <a:solidFill>
                  <a:srgbClr val="00B050"/>
                </a:solidFill>
              </a:rPr>
              <a:t>/*</a:t>
            </a:r>
            <a:r>
              <a:rPr lang="it-IT" dirty="0" err="1">
                <a:solidFill>
                  <a:srgbClr val="00B0F0"/>
                </a:solidFill>
              </a:rPr>
              <a:t>let</a:t>
            </a:r>
            <a:r>
              <a:rPr lang="it-IT" dirty="0">
                <a:solidFill>
                  <a:srgbClr val="00B0F0"/>
                </a:solidFill>
              </a:rPr>
              <a:t> </a:t>
            </a:r>
            <a:r>
              <a:rPr lang="it-IT" dirty="0">
                <a:solidFill>
                  <a:schemeClr val="tx1">
                    <a:lumMod val="85000"/>
                    <a:lumOff val="15000"/>
                  </a:schemeClr>
                </a:solidFill>
              </a:rPr>
              <a:t>nome: </a:t>
            </a:r>
            <a:r>
              <a:rPr lang="it-IT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string</a:t>
            </a:r>
            <a:r>
              <a:rPr lang="it-IT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= '</a:t>
            </a:r>
            <a:r>
              <a:rPr lang="it-IT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fabio</a:t>
            </a:r>
            <a:r>
              <a:rPr lang="it-IT" dirty="0">
                <a:solidFill>
                  <a:schemeClr val="tx1">
                    <a:lumMod val="85000"/>
                    <a:lumOff val="15000"/>
                  </a:schemeClr>
                </a:solidFill>
              </a:rPr>
              <a:t>';</a:t>
            </a:r>
          </a:p>
          <a:p>
            <a:r>
              <a:rPr lang="it-IT" dirty="0">
                <a:solidFill>
                  <a:schemeClr val="tx1">
                    <a:lumMod val="85000"/>
                    <a:lumOff val="15000"/>
                  </a:schemeClr>
                </a:solidFill>
              </a:rPr>
              <a:t>  </a:t>
            </a:r>
            <a:r>
              <a:rPr lang="it-IT" dirty="0" err="1">
                <a:solidFill>
                  <a:srgbClr val="00B0F0"/>
                </a:solidFill>
              </a:rPr>
              <a:t>let</a:t>
            </a:r>
            <a:r>
              <a:rPr lang="it-IT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colore: </a:t>
            </a:r>
            <a:r>
              <a:rPr lang="it-IT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string</a:t>
            </a:r>
            <a:r>
              <a:rPr lang="it-IT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= 'rosso';</a:t>
            </a:r>
          </a:p>
          <a:p>
            <a:r>
              <a:rPr lang="it-IT" dirty="0">
                <a:solidFill>
                  <a:srgbClr val="00B050"/>
                </a:solidFill>
              </a:rPr>
              <a:t>*/</a:t>
            </a:r>
          </a:p>
        </p:txBody>
      </p:sp>
    </p:spTree>
    <p:extLst>
      <p:ext uri="{BB962C8B-B14F-4D97-AF65-F5344CB8AC3E}">
        <p14:creationId xmlns:p14="http://schemas.microsoft.com/office/powerpoint/2010/main" val="34760082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"/>
          <p:cNvSpPr txBox="1"/>
          <p:nvPr/>
        </p:nvSpPr>
        <p:spPr>
          <a:xfrm>
            <a:off x="360000" y="4697100"/>
            <a:ext cx="666900" cy="12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it-IT" sz="600" b="0" i="0" u="none" strike="noStrike" cap="none">
                <a:solidFill>
                  <a:srgbClr val="111314"/>
                </a:solidFill>
                <a:latin typeface="Open Sans"/>
                <a:ea typeface="Open Sans"/>
                <a:cs typeface="Open Sans"/>
                <a:sym typeface="Open Sans"/>
              </a:rPr>
              <a:t>epicodeschool</a:t>
            </a:r>
            <a:endParaRPr sz="600" b="0" i="0" u="none" strike="noStrike" cap="none">
              <a:solidFill>
                <a:srgbClr val="111314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26" name="Google Shape;126;p4"/>
          <p:cNvPicPr preferRelativeResize="0"/>
          <p:nvPr/>
        </p:nvPicPr>
        <p:blipFill rotWithShape="1">
          <a:blip r:embed="rId3">
            <a:alphaModFix/>
          </a:blip>
          <a:srcRect l="1700" r="1700"/>
          <a:stretch/>
        </p:blipFill>
        <p:spPr>
          <a:xfrm>
            <a:off x="356775" y="360000"/>
            <a:ext cx="674802" cy="21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4"/>
          <p:cNvSpPr txBox="1"/>
          <p:nvPr/>
        </p:nvSpPr>
        <p:spPr>
          <a:xfrm>
            <a:off x="299842" y="568882"/>
            <a:ext cx="3306600" cy="4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it-IT" sz="24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Typescript</a:t>
            </a:r>
            <a:endParaRPr sz="2400" b="1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8" name="Google Shape;128;p4"/>
          <p:cNvSpPr txBox="1"/>
          <p:nvPr/>
        </p:nvSpPr>
        <p:spPr>
          <a:xfrm>
            <a:off x="359999" y="1038974"/>
            <a:ext cx="4685400" cy="2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it-IT" sz="16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Sintassi</a:t>
            </a:r>
            <a:endParaRPr sz="1600" b="1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9" name="Google Shape;12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it-IT"/>
              <a:t>13</a:t>
            </a:fld>
            <a:endParaRPr/>
          </a:p>
        </p:txBody>
      </p:sp>
      <p:pic>
        <p:nvPicPr>
          <p:cNvPr id="3" name="Immagine 3" descr="Immagine che contiene testo&#10;&#10;Descrizione generata automaticamente">
            <a:extLst>
              <a:ext uri="{FF2B5EF4-FFF2-40B4-BE49-F238E27FC236}">
                <a16:creationId xmlns:a16="http://schemas.microsoft.com/office/drawing/2014/main" id="{5BA6BD04-6F82-43D1-9C6F-0AB4CE51D5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860" y="1319522"/>
            <a:ext cx="5202155" cy="3241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3566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aaaeabd082_0_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it-IT"/>
              <a:t>14</a:t>
            </a:fld>
            <a:endParaRPr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84ACADCC-41B9-400A-AA0C-4C7F6992D60E}"/>
              </a:ext>
            </a:extLst>
          </p:cNvPr>
          <p:cNvSpPr txBox="1"/>
          <p:nvPr/>
        </p:nvSpPr>
        <p:spPr>
          <a:xfrm>
            <a:off x="1282867" y="2162676"/>
            <a:ext cx="719488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2800" dirty="0" err="1"/>
              <a:t>Operatori,costrutti</a:t>
            </a:r>
            <a:r>
              <a:rPr lang="it-IT" sz="2800" dirty="0"/>
              <a:t> di condizione e iterazione</a:t>
            </a:r>
          </a:p>
        </p:txBody>
      </p:sp>
    </p:spTree>
    <p:extLst>
      <p:ext uri="{BB962C8B-B14F-4D97-AF65-F5344CB8AC3E}">
        <p14:creationId xmlns:p14="http://schemas.microsoft.com/office/powerpoint/2010/main" val="11730018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"/>
          <p:cNvSpPr txBox="1"/>
          <p:nvPr/>
        </p:nvSpPr>
        <p:spPr>
          <a:xfrm>
            <a:off x="322401" y="591441"/>
            <a:ext cx="3306600" cy="4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it-IT" sz="24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Typescript</a:t>
            </a:r>
            <a:endParaRPr sz="2400" b="1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p5"/>
          <p:cNvSpPr txBox="1"/>
          <p:nvPr/>
        </p:nvSpPr>
        <p:spPr>
          <a:xfrm>
            <a:off x="359999" y="1129210"/>
            <a:ext cx="4685400" cy="2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it-IT" sz="16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Operatori</a:t>
            </a:r>
            <a:endParaRPr sz="1600" b="1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0" name="Google Shape;140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it-IT"/>
              <a:t>15</a:t>
            </a:fld>
            <a:endParaRPr/>
          </a:p>
        </p:txBody>
      </p:sp>
      <p:sp>
        <p:nvSpPr>
          <p:cNvPr id="141" name="Google Shape;141;p5"/>
          <p:cNvSpPr txBox="1"/>
          <p:nvPr/>
        </p:nvSpPr>
        <p:spPr>
          <a:xfrm>
            <a:off x="131183" y="1410509"/>
            <a:ext cx="3944100" cy="27790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b="0" i="0" u="none" strike="noStrike" cap="none" dirty="0">
                <a:solidFill>
                  <a:srgbClr val="FF0000"/>
                </a:solidFill>
                <a:ea typeface="Open Sans"/>
                <a:cs typeface="Open Sans"/>
                <a:sym typeface="Open Sans"/>
              </a:rPr>
              <a:t>Operatori aritmetici</a:t>
            </a:r>
            <a:endParaRPr lang="it-IT" b="0" i="0" u="none" strike="noStrike" cap="none" dirty="0">
              <a:solidFill>
                <a:srgbClr val="FF0000"/>
              </a:solidFill>
              <a:ea typeface="Open Sans"/>
              <a:cs typeface="Open Sans"/>
            </a:endParaRPr>
          </a:p>
          <a:p>
            <a:pPr marL="152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b="0" i="0" u="none" strike="noStrike" cap="none" dirty="0">
              <a:solidFill>
                <a:srgbClr val="FF0000"/>
              </a:solidFill>
              <a:ea typeface="Open Sans"/>
              <a:cs typeface="Open Sans"/>
            </a:endParaRPr>
          </a:p>
          <a:p>
            <a:pPr marL="152400"/>
            <a:r>
              <a:rPr lang="it-IT" b="0" i="0" u="none" strike="noStrike" cap="none" dirty="0">
                <a:solidFill>
                  <a:schemeClr val="dk1"/>
                </a:solidFill>
                <a:ea typeface="Open Sans"/>
                <a:cs typeface="Open Sans"/>
                <a:sym typeface="Open Sans"/>
              </a:rPr>
              <a:t>+  addizione</a:t>
            </a:r>
            <a:br>
              <a:rPr lang="it-IT" b="0" i="0" u="none" strike="noStrike" cap="none" dirty="0">
                <a:ea typeface="Open Sans"/>
                <a:cs typeface="Open Sans"/>
              </a:rPr>
            </a:br>
            <a:r>
              <a:rPr lang="it-IT" b="0" i="0" u="none" strike="noStrike" cap="none" dirty="0">
                <a:solidFill>
                  <a:schemeClr val="dk1"/>
                </a:solidFill>
                <a:ea typeface="Open Sans"/>
                <a:cs typeface="Open Sans"/>
                <a:sym typeface="Open Sans"/>
              </a:rPr>
              <a:t>- sottrazione</a:t>
            </a:r>
            <a:br>
              <a:rPr lang="it-IT" b="0" i="0" u="none" strike="noStrike" cap="none" dirty="0">
                <a:ea typeface="Open Sans"/>
                <a:cs typeface="Open Sans"/>
              </a:rPr>
            </a:br>
            <a:r>
              <a:rPr lang="it-IT" b="0" i="0" u="none" strike="noStrike" cap="none" dirty="0">
                <a:solidFill>
                  <a:schemeClr val="dk1"/>
                </a:solidFill>
                <a:ea typeface="Open Sans"/>
                <a:cs typeface="Open Sans"/>
                <a:sym typeface="Open Sans"/>
              </a:rPr>
              <a:t>* prodotto</a:t>
            </a:r>
            <a:br>
              <a:rPr lang="it-IT" b="0" i="0" u="none" strike="noStrike" cap="none" dirty="0">
                <a:ea typeface="Open Sans"/>
                <a:cs typeface="Open Sans"/>
              </a:rPr>
            </a:br>
            <a:r>
              <a:rPr lang="it-IT" b="0" i="0" u="none" strike="noStrike" cap="none" dirty="0">
                <a:solidFill>
                  <a:schemeClr val="dk1"/>
                </a:solidFill>
                <a:ea typeface="Open Sans"/>
                <a:cs typeface="Open Sans"/>
                <a:sym typeface="Open Sans"/>
              </a:rPr>
              <a:t>/ divisione</a:t>
            </a:r>
            <a:br>
              <a:rPr lang="it-IT" b="0" i="0" u="none" strike="noStrike" cap="none" dirty="0">
                <a:ea typeface="Open Sans"/>
                <a:cs typeface="Open Sans"/>
              </a:rPr>
            </a:br>
            <a:r>
              <a:rPr lang="it-IT" b="0" i="0" u="none" strike="noStrike" cap="none" dirty="0">
                <a:solidFill>
                  <a:schemeClr val="dk1"/>
                </a:solidFill>
                <a:ea typeface="Open Sans"/>
                <a:cs typeface="Open Sans"/>
                <a:sym typeface="Open Sans"/>
              </a:rPr>
              <a:t>% modulo</a:t>
            </a:r>
            <a:br>
              <a:rPr lang="it-IT" b="0" i="0" u="none" strike="noStrike" cap="none" dirty="0">
                <a:ea typeface="Open Sans"/>
                <a:cs typeface="Open Sans"/>
              </a:rPr>
            </a:br>
            <a:endParaRPr lang="it-IT" dirty="0">
              <a:solidFill>
                <a:schemeClr val="dk1"/>
              </a:solidFill>
              <a:ea typeface="Open Sans"/>
              <a:cs typeface="Open Sans"/>
            </a:endParaRPr>
          </a:p>
          <a:p>
            <a:pPr marL="152400"/>
            <a:br>
              <a:rPr lang="it-IT" b="0" i="0" u="none" strike="noStrike" cap="none" dirty="0">
                <a:ea typeface="Open Sans"/>
                <a:cs typeface="Open Sans"/>
              </a:rPr>
            </a:br>
            <a:r>
              <a:rPr lang="it-IT" b="0" i="0" u="none" strike="noStrike" cap="none" dirty="0">
                <a:solidFill>
                  <a:srgbClr val="FF0000"/>
                </a:solidFill>
                <a:ea typeface="Open Sans"/>
                <a:cs typeface="Open Sans"/>
                <a:sym typeface="Open Sans"/>
              </a:rPr>
              <a:t>Espressione con operatori ternari</a:t>
            </a:r>
            <a:endParaRPr b="0" i="0" u="none" strike="noStrike" cap="none" dirty="0">
              <a:solidFill>
                <a:srgbClr val="FF0000"/>
              </a:solidFill>
              <a:ea typeface="Open Sans"/>
              <a:cs typeface="Open Sans"/>
            </a:endParaRPr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i="0" u="none" strike="noStrike" cap="none" dirty="0">
              <a:solidFill>
                <a:srgbClr val="000000"/>
              </a:solidFill>
              <a:ea typeface="Open Sans"/>
              <a:cs typeface="Open Sans"/>
            </a:endParaRPr>
          </a:p>
          <a:p>
            <a:pPr marL="152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b="0" i="0" u="none" strike="noStrike" cap="none" dirty="0" err="1">
                <a:solidFill>
                  <a:srgbClr val="00B0F0"/>
                </a:solidFill>
                <a:ea typeface="Open Sans"/>
                <a:cs typeface="Open Sans"/>
                <a:sym typeface="Open Sans"/>
              </a:rPr>
              <a:t>let</a:t>
            </a:r>
            <a:r>
              <a:rPr lang="it-IT" b="0" i="0" u="none" strike="noStrike" cap="none" dirty="0">
                <a:solidFill>
                  <a:srgbClr val="000000"/>
                </a:solidFill>
                <a:ea typeface="Open Sans"/>
                <a:cs typeface="Open Sans"/>
                <a:sym typeface="Open Sans"/>
              </a:rPr>
              <a:t> </a:t>
            </a:r>
            <a:r>
              <a:rPr lang="it-IT" b="0" i="0" u="none" strike="noStrike" cap="none" dirty="0" err="1">
                <a:solidFill>
                  <a:srgbClr val="000000"/>
                </a:solidFill>
                <a:ea typeface="Open Sans"/>
                <a:cs typeface="Open Sans"/>
                <a:sym typeface="Open Sans"/>
              </a:rPr>
              <a:t>exp</a:t>
            </a:r>
            <a:r>
              <a:rPr lang="it-IT" b="0" i="0" u="none" strike="noStrike" cap="none" dirty="0">
                <a:solidFill>
                  <a:srgbClr val="000000"/>
                </a:solidFill>
                <a:ea typeface="Open Sans"/>
                <a:cs typeface="Open Sans"/>
                <a:sym typeface="Open Sans"/>
              </a:rPr>
              <a:t>= 5&lt;3?</a:t>
            </a:r>
            <a:r>
              <a:rPr lang="it-IT" b="1" i="0" u="none" strike="noStrike" cap="none" dirty="0">
                <a:solidFill>
                  <a:srgbClr val="7030A0"/>
                </a:solidFill>
                <a:ea typeface="Open Sans"/>
                <a:cs typeface="Open Sans"/>
                <a:sym typeface="Open Sans"/>
              </a:rPr>
              <a:t>true</a:t>
            </a:r>
            <a:r>
              <a:rPr lang="it-IT" b="0" i="0" u="none" strike="noStrike" cap="none" dirty="0">
                <a:solidFill>
                  <a:srgbClr val="000000"/>
                </a:solidFill>
                <a:ea typeface="Open Sans"/>
                <a:cs typeface="Open Sans"/>
                <a:sym typeface="Open Sans"/>
              </a:rPr>
              <a:t>:</a:t>
            </a:r>
            <a:r>
              <a:rPr lang="it-IT" b="1" i="0" u="none" strike="noStrike" cap="none" dirty="0">
                <a:solidFill>
                  <a:srgbClr val="7030A0"/>
                </a:solidFill>
                <a:ea typeface="Open Sans"/>
                <a:cs typeface="Open Sans"/>
                <a:sym typeface="Open Sans"/>
              </a:rPr>
              <a:t>false</a:t>
            </a:r>
            <a:endParaRPr dirty="0"/>
          </a:p>
          <a:p>
            <a:pPr marL="152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1" i="0" u="none" strike="noStrike" cap="none">
              <a:solidFill>
                <a:srgbClr val="7030A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2" name="Google Shape;142;p5"/>
          <p:cNvSpPr txBox="1"/>
          <p:nvPr/>
        </p:nvSpPr>
        <p:spPr>
          <a:xfrm>
            <a:off x="4378964" y="1450160"/>
            <a:ext cx="3697942" cy="3108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 b="0" i="0" u="none" strike="noStrike" cap="none" dirty="0">
                <a:solidFill>
                  <a:srgbClr val="FF0000"/>
                </a:solidFill>
                <a:ea typeface="Open Sans"/>
                <a:cs typeface="Open Sans"/>
                <a:sym typeface="Open Sans"/>
              </a:rPr>
              <a:t>Operatori di confronto</a:t>
            </a:r>
            <a:endParaRPr lang="it-IT" sz="1400" b="0" i="0" u="none" strike="noStrike" cap="none">
              <a:solidFill>
                <a:srgbClr val="FF0000"/>
              </a:solidFill>
              <a:ea typeface="Open Sans"/>
              <a:cs typeface="Open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ea typeface="Open Sans"/>
              <a:cs typeface="Open Sans"/>
            </a:endParaRPr>
          </a:p>
          <a:p>
            <a:r>
              <a:rPr lang="it-IT" sz="1400" b="0" i="0" u="none" strike="noStrike" cap="none" dirty="0">
                <a:solidFill>
                  <a:srgbClr val="000000"/>
                </a:solidFill>
                <a:ea typeface="Open Sans"/>
                <a:cs typeface="Open Sans"/>
                <a:sym typeface="Open Sans"/>
              </a:rPr>
              <a:t>&lt;  minore</a:t>
            </a:r>
            <a:br>
              <a:rPr lang="it-IT" sz="1400" b="0" i="0" u="none" strike="noStrike" cap="none" dirty="0">
                <a:ea typeface="Open Sans"/>
                <a:cs typeface="Open Sans"/>
              </a:rPr>
            </a:br>
            <a:r>
              <a:rPr lang="it-IT" sz="1400" b="0" i="0" u="none" strike="noStrike" cap="none" dirty="0">
                <a:solidFill>
                  <a:srgbClr val="000000"/>
                </a:solidFill>
                <a:ea typeface="Open Sans"/>
                <a:cs typeface="Open Sans"/>
                <a:sym typeface="Open Sans"/>
              </a:rPr>
              <a:t>&gt; maggiore</a:t>
            </a:r>
            <a:br>
              <a:rPr lang="it-IT" sz="1400" b="0" i="0" u="none" strike="noStrike" cap="none" dirty="0">
                <a:ea typeface="Open Sans"/>
                <a:cs typeface="Open Sans"/>
              </a:rPr>
            </a:br>
            <a:r>
              <a:rPr lang="it-IT" sz="1400" b="0" i="0" u="none" strike="noStrike" cap="none" dirty="0">
                <a:solidFill>
                  <a:srgbClr val="000000"/>
                </a:solidFill>
                <a:ea typeface="Open Sans"/>
                <a:cs typeface="Open Sans"/>
                <a:sym typeface="Open Sans"/>
              </a:rPr>
              <a:t>&lt;= minore uguale</a:t>
            </a:r>
            <a:br>
              <a:rPr lang="it-IT" sz="1400" b="0" i="0" u="none" strike="noStrike" cap="none" dirty="0">
                <a:ea typeface="Open Sans"/>
                <a:cs typeface="Open Sans"/>
              </a:rPr>
            </a:br>
            <a:r>
              <a:rPr lang="it-IT" sz="1400" b="0" i="0" u="none" strike="noStrike" cap="none" dirty="0">
                <a:solidFill>
                  <a:srgbClr val="000000"/>
                </a:solidFill>
                <a:ea typeface="Open Sans"/>
                <a:cs typeface="Open Sans"/>
                <a:sym typeface="Open Sans"/>
              </a:rPr>
              <a:t>&gt;= maggiore uguale</a:t>
            </a:r>
            <a:br>
              <a:rPr lang="it-IT" sz="1400" b="0" i="0" u="none" strike="noStrike" cap="none" dirty="0">
                <a:ea typeface="Open Sans"/>
                <a:cs typeface="Open Sans"/>
              </a:rPr>
            </a:br>
            <a:r>
              <a:rPr lang="it-IT" sz="1400" b="0" i="0" u="none" strike="noStrike" cap="none" dirty="0">
                <a:solidFill>
                  <a:srgbClr val="000000"/>
                </a:solidFill>
                <a:ea typeface="Open Sans"/>
                <a:cs typeface="Open Sans"/>
                <a:sym typeface="Open Sans"/>
              </a:rPr>
              <a:t>!= diverso da</a:t>
            </a:r>
            <a:br>
              <a:rPr lang="it-IT" sz="1400" b="0" i="0" u="none" strike="noStrike" cap="none" dirty="0">
                <a:ea typeface="Open Sans"/>
                <a:cs typeface="Open Sans"/>
              </a:rPr>
            </a:br>
            <a:r>
              <a:rPr lang="it-IT" sz="1400" b="0" i="0" u="none" strike="noStrike" cap="none" dirty="0">
                <a:solidFill>
                  <a:srgbClr val="000000"/>
                </a:solidFill>
                <a:ea typeface="Open Sans"/>
                <a:cs typeface="Open Sans"/>
                <a:sym typeface="Open Sans"/>
              </a:rPr>
              <a:t>== uguale a</a:t>
            </a:r>
            <a:br>
              <a:rPr lang="it-IT" sz="1400" b="0" i="0" u="none" strike="noStrike" cap="none" dirty="0">
                <a:ea typeface="Open Sans"/>
                <a:cs typeface="Open Sans"/>
              </a:rPr>
            </a:br>
            <a:br>
              <a:rPr lang="it-IT" dirty="0">
                <a:ea typeface="Open Sans"/>
                <a:cs typeface="Open Sans"/>
              </a:rPr>
            </a:br>
            <a:r>
              <a:rPr lang="it-IT" sz="1400" b="0" i="0" u="none" strike="noStrike" cap="none" dirty="0">
                <a:solidFill>
                  <a:srgbClr val="FF0000"/>
                </a:solidFill>
                <a:ea typeface="Open Sans"/>
                <a:cs typeface="Open Sans"/>
                <a:sym typeface="Open Sans"/>
              </a:rPr>
              <a:t>Operatori logici </a:t>
            </a:r>
            <a:br>
              <a:rPr lang="it-IT" sz="1400" b="0" i="0" u="none" strike="noStrike" cap="none" dirty="0">
                <a:ea typeface="Open Sans"/>
                <a:cs typeface="Open Sans"/>
              </a:rPr>
            </a:br>
            <a:br>
              <a:rPr lang="it-IT" sz="1400" b="0" i="0" u="none" strike="noStrike" cap="none" dirty="0">
                <a:ea typeface="Open Sans"/>
                <a:cs typeface="Open Sans"/>
              </a:rPr>
            </a:br>
            <a:r>
              <a:rPr lang="it-IT" sz="1400" b="0" i="0" u="none" strike="noStrike" cap="none" dirty="0">
                <a:solidFill>
                  <a:srgbClr val="000000"/>
                </a:solidFill>
                <a:ea typeface="Open Sans"/>
                <a:cs typeface="Open Sans"/>
                <a:sym typeface="Open Sans"/>
              </a:rPr>
              <a:t>&amp;&amp;  AND</a:t>
            </a:r>
            <a:br>
              <a:rPr lang="it-IT" sz="1400" b="0" i="0" u="none" strike="noStrike" cap="none" dirty="0">
                <a:ea typeface="Open Sans"/>
                <a:cs typeface="Open Sans"/>
              </a:rPr>
            </a:br>
            <a:r>
              <a:rPr lang="it-IT" sz="1400" b="0" i="0" u="none" strike="noStrike" cap="none" dirty="0">
                <a:solidFill>
                  <a:srgbClr val="000000"/>
                </a:solidFill>
                <a:ea typeface="Open Sans"/>
                <a:cs typeface="Open Sans"/>
                <a:sym typeface="Open Sans"/>
              </a:rPr>
              <a:t>||   OR</a:t>
            </a:r>
            <a:br>
              <a:rPr lang="it-IT" sz="1400" b="0" i="0" u="none" strike="noStrike" cap="none" dirty="0">
                <a:ea typeface="Open Sans"/>
                <a:cs typeface="Open Sans"/>
              </a:rPr>
            </a:br>
            <a:r>
              <a:rPr lang="it-IT" sz="1400" b="0" i="0" u="none" strike="noStrike" cap="none" dirty="0">
                <a:solidFill>
                  <a:srgbClr val="000000"/>
                </a:solidFill>
                <a:ea typeface="Open Sans"/>
                <a:cs typeface="Open Sans"/>
                <a:sym typeface="Open Sans"/>
              </a:rPr>
              <a:t>!      NEGATO</a:t>
            </a:r>
            <a:endParaRPr sz="1400" b="0" i="0" u="none" strike="noStrike" cap="none" dirty="0">
              <a:solidFill>
                <a:srgbClr val="000000"/>
              </a:solidFill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"/>
          <p:cNvSpPr txBox="1"/>
          <p:nvPr/>
        </p:nvSpPr>
        <p:spPr>
          <a:xfrm>
            <a:off x="322402" y="644080"/>
            <a:ext cx="3306600" cy="4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it-IT" sz="24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Typescript</a:t>
            </a:r>
            <a:endParaRPr sz="2400" b="1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0" name="Google Shape;150;p7"/>
          <p:cNvSpPr txBox="1"/>
          <p:nvPr/>
        </p:nvSpPr>
        <p:spPr>
          <a:xfrm>
            <a:off x="284801" y="1249526"/>
            <a:ext cx="4685400" cy="2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 Strutture di condizione</a:t>
            </a:r>
            <a:endParaRPr sz="1600" b="1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1" name="Google Shape;15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it-IT"/>
              <a:t>16</a:t>
            </a:fld>
            <a:endParaRPr/>
          </a:p>
        </p:txBody>
      </p:sp>
      <p:sp>
        <p:nvSpPr>
          <p:cNvPr id="152" name="Google Shape;152;p7"/>
          <p:cNvSpPr txBox="1"/>
          <p:nvPr/>
        </p:nvSpPr>
        <p:spPr>
          <a:xfrm>
            <a:off x="216023" y="1510709"/>
            <a:ext cx="3944100" cy="2546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 b="0" i="0" u="none" strike="noStrike" cap="none" dirty="0" err="1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If</a:t>
            </a:r>
            <a:r>
              <a:rPr lang="it-IT" sz="1600" b="0" i="0" u="none" strike="noStrike" cap="none" dirty="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-else  else-</a:t>
            </a:r>
            <a:r>
              <a:rPr lang="it-IT" sz="1600" b="0" i="0" u="none" strike="noStrike" cap="none" dirty="0" err="1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if</a:t>
            </a:r>
            <a:endParaRPr sz="1600" b="0" i="0" u="none" strike="noStrike" cap="none" dirty="0" err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152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000" b="0" i="0" u="none" strike="noStrike" cap="none" dirty="0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152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 cap="none" dirty="0" err="1">
                <a:solidFill>
                  <a:srgbClr val="C944A4"/>
                </a:solidFill>
                <a:latin typeface="Open Sans"/>
                <a:ea typeface="Open Sans"/>
                <a:cs typeface="Open Sans"/>
                <a:sym typeface="Open Sans"/>
              </a:rPr>
              <a:t>If</a:t>
            </a:r>
            <a:r>
              <a:rPr lang="it-IT" sz="1200" b="0" i="0" u="none" strike="noStrike" cap="none" dirty="0">
                <a:solidFill>
                  <a:srgbClr val="C944A4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it-IT" sz="1200" b="0" i="0" u="none" strike="noStrike" cap="none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(50==50&amp;&amp;30&lt;60)</a:t>
            </a:r>
            <a:r>
              <a:rPr lang="it-IT" sz="1200" b="0" i="0" u="none" strike="noStrike" cap="none" dirty="0">
                <a:solidFill>
                  <a:srgbClr val="C944A4"/>
                </a:solidFill>
                <a:latin typeface="Open Sans"/>
                <a:ea typeface="Open Sans"/>
                <a:cs typeface="Open Sans"/>
                <a:sym typeface="Open Sans"/>
              </a:rPr>
              <a:t>{</a:t>
            </a:r>
            <a:endParaRPr sz="1200" b="0" i="0" u="none" strike="noStrike" cap="none" dirty="0">
              <a:solidFill>
                <a:srgbClr val="FF0000"/>
              </a:solidFill>
              <a:latin typeface="Open Sans"/>
              <a:ea typeface="Open Sans"/>
              <a:cs typeface="Open Sans"/>
            </a:endParaRPr>
          </a:p>
          <a:p>
            <a:pPr marL="152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 dirty="0">
              <a:solidFill>
                <a:srgbClr val="C944A4"/>
              </a:solidFill>
              <a:latin typeface="Open Sans"/>
              <a:ea typeface="Open Sans"/>
              <a:cs typeface="Open Sans"/>
            </a:endParaRPr>
          </a:p>
          <a:p>
            <a:pPr marL="152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 cap="none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console.log</a:t>
            </a:r>
            <a:r>
              <a:rPr lang="it-IT" sz="12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(</a:t>
            </a:r>
            <a:r>
              <a:rPr lang="it-IT" sz="1200" dirty="0" err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true</a:t>
            </a:r>
            <a:r>
              <a:rPr lang="it-IT" sz="1200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)</a:t>
            </a:r>
            <a:endParaRPr sz="1200" dirty="0">
              <a:solidFill>
                <a:schemeClr val="dk1"/>
              </a:solidFill>
            </a:endParaRPr>
          </a:p>
          <a:p>
            <a:pPr marL="152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 cap="none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}</a:t>
            </a:r>
            <a:br>
              <a:rPr lang="it-IT" sz="1200" b="0" i="0" u="none" strike="noStrike" cap="none" dirty="0">
                <a:latin typeface="Open Sans"/>
                <a:ea typeface="Open Sans"/>
                <a:cs typeface="Open Sans"/>
              </a:rPr>
            </a:br>
            <a:r>
              <a:rPr lang="it-IT" sz="1200" b="0" i="0" u="none" strike="noStrike" cap="none" dirty="0">
                <a:solidFill>
                  <a:srgbClr val="C944A4"/>
                </a:solidFill>
                <a:latin typeface="Open Sans"/>
                <a:ea typeface="Open Sans"/>
                <a:cs typeface="Open Sans"/>
                <a:sym typeface="Open Sans"/>
              </a:rPr>
              <a:t>else</a:t>
            </a:r>
            <a:r>
              <a:rPr lang="it-IT" sz="1200" b="0" i="0" u="none" strike="noStrike" cap="none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{</a:t>
            </a:r>
            <a:endParaRPr sz="1200" dirty="0">
              <a:solidFill>
                <a:schemeClr val="dk1"/>
              </a:solidFill>
            </a:endParaRPr>
          </a:p>
          <a:p>
            <a:pPr marL="152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 cap="none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console.log(false)</a:t>
            </a:r>
            <a:endParaRPr sz="1200" dirty="0">
              <a:solidFill>
                <a:schemeClr val="dk1"/>
              </a:solidFill>
            </a:endParaRPr>
          </a:p>
          <a:p>
            <a:pPr marL="152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 cap="none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}</a:t>
            </a:r>
            <a:endParaRPr sz="1200" dirty="0">
              <a:solidFill>
                <a:schemeClr val="dk1"/>
              </a:solidFill>
            </a:endParaRPr>
          </a:p>
          <a:p>
            <a:pPr marL="152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 cap="none" dirty="0" err="1">
                <a:solidFill>
                  <a:srgbClr val="C944A4"/>
                </a:solidFill>
                <a:latin typeface="Open Sans"/>
                <a:ea typeface="Open Sans"/>
                <a:cs typeface="Open Sans"/>
                <a:sym typeface="Open Sans"/>
              </a:rPr>
              <a:t>If</a:t>
            </a:r>
            <a:r>
              <a:rPr lang="it-IT" sz="1200" b="0" i="0" u="none" strike="noStrike" cap="none" dirty="0">
                <a:solidFill>
                  <a:srgbClr val="C944A4"/>
                </a:solidFill>
                <a:latin typeface="Open Sans"/>
                <a:ea typeface="Open Sans"/>
                <a:cs typeface="Open Sans"/>
                <a:sym typeface="Open Sans"/>
              </a:rPr>
              <a:t> </a:t>
            </a:r>
            <a:r>
              <a:rPr lang="it-IT" sz="1200" b="0" i="0" u="none" strike="noStrike" cap="none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(50==50&amp;&amp;30&lt;60)</a:t>
            </a:r>
            <a:r>
              <a:rPr lang="it-IT" sz="1200" b="0" i="0" u="none" strike="noStrike" cap="none" dirty="0">
                <a:solidFill>
                  <a:srgbClr val="C944A4"/>
                </a:solidFill>
                <a:latin typeface="Open Sans"/>
                <a:ea typeface="Open Sans"/>
                <a:cs typeface="Open Sans"/>
                <a:sym typeface="Open Sans"/>
              </a:rPr>
              <a:t>{</a:t>
            </a:r>
            <a:endParaRPr sz="1200" b="0" i="0" u="none" strike="noStrike" cap="none" dirty="0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pPr marL="152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 dirty="0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pPr marL="152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 cap="none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console.log</a:t>
            </a:r>
            <a:r>
              <a:rPr lang="it-IT" sz="1200" b="0" i="0" u="none" strike="noStrike" cap="none" dirty="0">
                <a:solidFill>
                  <a:srgbClr val="C944A4"/>
                </a:solidFill>
                <a:latin typeface="Open Sans"/>
                <a:ea typeface="Open Sans"/>
                <a:cs typeface="Open Sans"/>
                <a:sym typeface="Open Sans"/>
              </a:rPr>
              <a:t>(</a:t>
            </a:r>
            <a:r>
              <a:rPr lang="it-IT" sz="1200" b="0" i="0" u="none" strike="noStrike" cap="none" dirty="0" err="1">
                <a:solidFill>
                  <a:srgbClr val="C944A4"/>
                </a:solidFill>
                <a:latin typeface="Open Sans"/>
                <a:ea typeface="Open Sans"/>
                <a:cs typeface="Open Sans"/>
                <a:sym typeface="Open Sans"/>
              </a:rPr>
              <a:t>true</a:t>
            </a:r>
            <a:r>
              <a:rPr lang="it-IT" sz="1200" b="0" i="0" u="none" strike="noStrike" cap="none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)</a:t>
            </a:r>
            <a:endParaRPr sz="1200" dirty="0">
              <a:solidFill>
                <a:schemeClr val="dk1"/>
              </a:solidFill>
            </a:endParaRPr>
          </a:p>
          <a:p>
            <a:pPr marL="152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 cap="none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}</a:t>
            </a:r>
            <a:br>
              <a:rPr lang="it-IT" sz="1200" b="0" i="0" u="none" strike="noStrike" cap="none" dirty="0">
                <a:latin typeface="Open Sans"/>
                <a:ea typeface="Open Sans"/>
                <a:cs typeface="Open Sans"/>
              </a:rPr>
            </a:br>
            <a:r>
              <a:rPr lang="it-IT" sz="1200" b="0" i="0" u="none" strike="noStrike" cap="none" dirty="0">
                <a:solidFill>
                  <a:srgbClr val="C944A4"/>
                </a:solidFill>
                <a:latin typeface="Open Sans"/>
                <a:ea typeface="Open Sans"/>
                <a:cs typeface="Open Sans"/>
                <a:sym typeface="Open Sans"/>
              </a:rPr>
              <a:t>else</a:t>
            </a:r>
            <a:r>
              <a:rPr lang="it-IT" sz="1200" b="0" i="0" u="none" strike="noStrike" cap="none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 </a:t>
            </a:r>
            <a:r>
              <a:rPr lang="it-IT" sz="1200" b="0" i="0" u="none" strike="noStrike" cap="none" dirty="0">
                <a:solidFill>
                  <a:srgbClr val="C944A4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it-IT" sz="1200" b="0" i="0" u="none" strike="noStrike" cap="none" dirty="0" err="1">
                <a:solidFill>
                  <a:srgbClr val="C944A4"/>
                </a:solidFill>
                <a:latin typeface="Open Sans"/>
                <a:ea typeface="Open Sans"/>
                <a:cs typeface="Open Sans"/>
                <a:sym typeface="Open Sans"/>
              </a:rPr>
              <a:t>if</a:t>
            </a:r>
            <a:r>
              <a:rPr lang="it-IT" sz="1200" b="0" i="0" u="none" strike="noStrike" cap="none" dirty="0">
                <a:solidFill>
                  <a:srgbClr val="C944A4"/>
                </a:solidFill>
                <a:latin typeface="Open Sans"/>
                <a:ea typeface="Open Sans"/>
                <a:cs typeface="Open Sans"/>
                <a:sym typeface="Open Sans"/>
              </a:rPr>
              <a:t> (30==20||50!=20)</a:t>
            </a:r>
            <a:r>
              <a:rPr lang="it-IT" sz="1200" b="0" i="0" u="none" strike="noStrike" cap="none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{</a:t>
            </a:r>
            <a:endParaRPr sz="1200" b="0" i="0" u="none" strike="noStrike" cap="none" dirty="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>
            <a:pPr marL="152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 cap="none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console.log</a:t>
            </a:r>
            <a:r>
              <a:rPr lang="it-IT" sz="1200" b="0" i="0" u="none" strike="noStrike" cap="none" dirty="0">
                <a:solidFill>
                  <a:srgbClr val="C944A4"/>
                </a:solidFill>
                <a:latin typeface="Open Sans"/>
                <a:ea typeface="Open Sans"/>
                <a:cs typeface="Open Sans"/>
                <a:sym typeface="Open Sans"/>
              </a:rPr>
              <a:t>(false</a:t>
            </a:r>
            <a:r>
              <a:rPr lang="it-IT" sz="1200" b="0" i="0" u="none" strike="noStrike" cap="none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)</a:t>
            </a:r>
            <a:endParaRPr sz="1200" b="0" i="0" u="none" strike="noStrike" cap="none" dirty="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  <a:p>
            <a:pPr marL="152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 cap="none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}</a:t>
            </a:r>
            <a:br>
              <a:rPr lang="it-IT" sz="1600" b="0" i="0" u="none" strike="noStrike" cap="none" dirty="0">
                <a:latin typeface="Open Sans"/>
                <a:ea typeface="Open Sans"/>
                <a:cs typeface="Open Sans"/>
              </a:rPr>
            </a:br>
            <a:endParaRPr sz="1600" b="0" i="0" u="none" strike="noStrike" cap="none" dirty="0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152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1" i="0" u="none" strike="noStrike" cap="none" dirty="0">
              <a:solidFill>
                <a:srgbClr val="7030A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3" name="Google Shape;153;p7"/>
          <p:cNvSpPr txBox="1"/>
          <p:nvPr/>
        </p:nvSpPr>
        <p:spPr>
          <a:xfrm>
            <a:off x="3356279" y="1547916"/>
            <a:ext cx="1975923" cy="36317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 b="0" i="0" u="none" strike="noStrike" cap="none" dirty="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Switch-case</a:t>
            </a:r>
            <a:endParaRPr sz="1400" b="0" i="0" u="none" strike="noStrike" cap="none" dirty="0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 dirty="0">
              <a:solidFill>
                <a:srgbClr val="FF0000"/>
              </a:solidFill>
              <a:latin typeface="Open Sans"/>
              <a:ea typeface="Open Sans"/>
              <a:cs typeface="Open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 cap="none" dirty="0">
                <a:solidFill>
                  <a:srgbClr val="C944A4"/>
                </a:solidFill>
                <a:latin typeface="Arial"/>
                <a:ea typeface="Arial"/>
                <a:cs typeface="Arial"/>
                <a:sym typeface="Arial"/>
              </a:rPr>
              <a:t>switch</a:t>
            </a:r>
            <a:r>
              <a:rPr lang="it-IT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(new Date().</a:t>
            </a:r>
            <a:r>
              <a:rPr lang="it-IT" sz="12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getDay</a:t>
            </a:r>
            <a:r>
              <a:rPr lang="it-IT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()) {</a:t>
            </a:r>
            <a:endParaRPr sz="12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 cap="none" dirty="0" err="1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let</a:t>
            </a:r>
            <a:r>
              <a:rPr lang="it-IT" sz="1200" b="0" i="0" u="none" strike="noStrike" cap="none" dirty="0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it-IT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day;</a:t>
            </a:r>
            <a:endParaRPr sz="12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br>
              <a:rPr lang="it-IT" sz="1200" b="0" i="0" u="none" strike="noStrike" cap="none" dirty="0">
                <a:latin typeface="Arial"/>
                <a:ea typeface="Arial"/>
                <a:cs typeface="Arial"/>
              </a:rPr>
            </a:br>
            <a:r>
              <a:rPr lang="it-IT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 case 0:</a:t>
            </a:r>
            <a:br>
              <a:rPr lang="it-IT" sz="1200" b="0" i="0" u="none" strike="noStrike" cap="none" dirty="0">
                <a:latin typeface="Arial"/>
                <a:ea typeface="Arial"/>
                <a:cs typeface="Arial"/>
              </a:rPr>
            </a:br>
            <a:r>
              <a:rPr lang="it-IT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 day = "Sunday";</a:t>
            </a:r>
            <a:br>
              <a:rPr lang="it-IT" sz="1200" b="0" i="0" u="none" strike="noStrike" cap="none" dirty="0">
                <a:latin typeface="Arial"/>
                <a:ea typeface="Arial"/>
                <a:cs typeface="Arial"/>
              </a:rPr>
            </a:br>
            <a:r>
              <a:rPr lang="it-IT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   break;</a:t>
            </a:r>
            <a:br>
              <a:rPr lang="it-IT" sz="1200" b="0" i="0" u="none" strike="noStrike" cap="none" dirty="0">
                <a:latin typeface="Arial"/>
                <a:ea typeface="Arial"/>
                <a:cs typeface="Arial"/>
              </a:rPr>
            </a:br>
            <a:r>
              <a:rPr lang="it-IT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 case 1:</a:t>
            </a:r>
            <a:br>
              <a:rPr lang="it-IT" sz="1200" b="0" i="0" u="none" strike="noStrike" cap="none" dirty="0">
                <a:latin typeface="Arial"/>
                <a:ea typeface="Arial"/>
                <a:cs typeface="Arial"/>
              </a:rPr>
            </a:br>
            <a:r>
              <a:rPr lang="it-IT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 day = "</a:t>
            </a:r>
            <a:r>
              <a:rPr lang="it-IT" sz="12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Monday</a:t>
            </a:r>
            <a:r>
              <a:rPr lang="it-IT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";</a:t>
            </a:r>
            <a:br>
              <a:rPr lang="it-IT" sz="1200" b="0" i="0" u="none" strike="noStrike" cap="none" dirty="0">
                <a:latin typeface="Arial"/>
                <a:ea typeface="Arial"/>
                <a:cs typeface="Arial"/>
              </a:rPr>
            </a:br>
            <a:r>
              <a:rPr lang="it-IT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   break;</a:t>
            </a:r>
            <a:br>
              <a:rPr lang="it-IT" sz="1200" b="0" i="0" u="none" strike="noStrike" cap="none" dirty="0">
                <a:latin typeface="Arial"/>
                <a:ea typeface="Arial"/>
                <a:cs typeface="Arial"/>
              </a:rPr>
            </a:br>
            <a:r>
              <a:rPr lang="it-IT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r>
              <a:rPr lang="it-IT" sz="1200" dirty="0"/>
              <a:t> default</a:t>
            </a:r>
            <a:r>
              <a:rPr lang="it-IT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br>
              <a:rPr lang="it-IT" sz="1200" b="0" i="0" u="none" strike="noStrike" cap="none" dirty="0">
                <a:latin typeface="Arial"/>
                <a:ea typeface="Arial"/>
                <a:cs typeface="Arial"/>
              </a:rPr>
            </a:br>
            <a:r>
              <a:rPr lang="it-IT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</a:t>
            </a:r>
            <a:r>
              <a:rPr lang="it-IT" sz="1200" dirty="0"/>
              <a:t>console.log('</a:t>
            </a:r>
            <a:r>
              <a:rPr lang="it-IT" sz="1200" dirty="0" err="1"/>
              <a:t>not</a:t>
            </a:r>
            <a:r>
              <a:rPr lang="it-IT" sz="1200" dirty="0"/>
              <a:t> </a:t>
            </a:r>
            <a:r>
              <a:rPr lang="it-IT" sz="1200" dirty="0" err="1"/>
              <a:t>found</a:t>
            </a:r>
            <a:r>
              <a:rPr lang="it-IT" sz="1200" dirty="0"/>
              <a:t>');</a:t>
            </a:r>
            <a:endParaRPr sz="1200" b="0" i="0" u="none" strike="noStrike" cap="none" dirty="0">
              <a:solidFill>
                <a:srgbClr val="000000"/>
              </a:solidFill>
              <a:latin typeface="Open Sans"/>
              <a:ea typeface="Open Sans"/>
              <a:cs typeface="Open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console.log(day)</a:t>
            </a:r>
            <a:br>
              <a:rPr lang="it-IT" sz="1000" b="0" i="0" u="none" strike="noStrike" cap="none" dirty="0">
                <a:latin typeface="Arial"/>
                <a:ea typeface="Arial"/>
                <a:cs typeface="Arial"/>
              </a:rPr>
            </a:br>
            <a:r>
              <a:rPr lang="it-IT" sz="1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 </a:t>
            </a:r>
            <a:br>
              <a:rPr lang="it-IT" sz="1400" b="0" i="0" u="none" strike="noStrike" cap="none" dirty="0">
                <a:latin typeface="Open Sans"/>
                <a:ea typeface="Open Sans"/>
                <a:cs typeface="Open Sans"/>
              </a:rPr>
            </a:b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0DC4F018-6D54-425A-82C0-A990FBAD5F3D}"/>
              </a:ext>
            </a:extLst>
          </p:cNvPr>
          <p:cNvSpPr txBox="1"/>
          <p:nvPr/>
        </p:nvSpPr>
        <p:spPr>
          <a:xfrm>
            <a:off x="6072939" y="1583657"/>
            <a:ext cx="2743199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200" dirty="0" err="1">
                <a:solidFill>
                  <a:srgbClr val="7030A0"/>
                </a:solidFill>
              </a:rPr>
              <a:t>If</a:t>
            </a:r>
            <a:r>
              <a:rPr lang="it-IT" sz="1200" dirty="0">
                <a:solidFill>
                  <a:srgbClr val="7030A0"/>
                </a:solidFill>
              </a:rPr>
              <a:t>- else  else-</a:t>
            </a:r>
            <a:r>
              <a:rPr lang="it-IT" sz="1200" dirty="0" err="1">
                <a:solidFill>
                  <a:srgbClr val="7030A0"/>
                </a:solidFill>
              </a:rPr>
              <a:t>if</a:t>
            </a:r>
            <a:r>
              <a:rPr lang="it-IT" sz="1200" dirty="0"/>
              <a:t>: sono comandi che vengono utilizzati per inserire dei controlli all'interno del codice per valutare una o più espressioni:</a:t>
            </a:r>
            <a:br>
              <a:rPr lang="it-IT" sz="1200" dirty="0"/>
            </a:br>
            <a:r>
              <a:rPr lang="it-IT" sz="1200" dirty="0" err="1">
                <a:solidFill>
                  <a:srgbClr val="7030A0"/>
                </a:solidFill>
              </a:rPr>
              <a:t>if</a:t>
            </a:r>
            <a:r>
              <a:rPr lang="it-IT" sz="1200" dirty="0">
                <a:solidFill>
                  <a:srgbClr val="7030A0"/>
                </a:solidFill>
              </a:rPr>
              <a:t> </a:t>
            </a:r>
            <a:r>
              <a:rPr lang="it-IT" sz="1200" dirty="0"/>
              <a:t>= se</a:t>
            </a:r>
            <a:br>
              <a:rPr lang="it-IT" sz="1200" dirty="0"/>
            </a:br>
            <a:r>
              <a:rPr lang="it-IT" sz="1200" dirty="0">
                <a:solidFill>
                  <a:srgbClr val="7030A0"/>
                </a:solidFill>
              </a:rPr>
              <a:t>else</a:t>
            </a:r>
            <a:r>
              <a:rPr lang="it-IT" sz="1200" dirty="0"/>
              <a:t> = altrimenti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325DD763-6654-4318-80A1-9A5E9BCC87C3}"/>
              </a:ext>
            </a:extLst>
          </p:cNvPr>
          <p:cNvSpPr txBox="1"/>
          <p:nvPr/>
        </p:nvSpPr>
        <p:spPr>
          <a:xfrm>
            <a:off x="6072939" y="2892089"/>
            <a:ext cx="2743199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200" dirty="0" err="1">
                <a:solidFill>
                  <a:srgbClr val="7030A0"/>
                </a:solidFill>
              </a:rPr>
              <a:t>switch-case</a:t>
            </a:r>
            <a:r>
              <a:rPr lang="it-IT" sz="1200" dirty="0" err="1"/>
              <a:t>:il</a:t>
            </a:r>
            <a:r>
              <a:rPr lang="it-IT" sz="1200" dirty="0"/>
              <a:t> comando switch valuta l’espressione, confronta il valore dell’espressione con le clausole case, qualora non trovasse il valore aspettato (0,1) utilizza l’operatore default. </a:t>
            </a:r>
            <a:endParaRPr lang="it-IT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"/>
          <p:cNvSpPr txBox="1"/>
          <p:nvPr/>
        </p:nvSpPr>
        <p:spPr>
          <a:xfrm>
            <a:off x="307362" y="568882"/>
            <a:ext cx="3306600" cy="4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it-IT" sz="24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Typescript</a:t>
            </a:r>
            <a:endParaRPr sz="2400" b="1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0" name="Google Shape;150;p7"/>
          <p:cNvSpPr txBox="1"/>
          <p:nvPr/>
        </p:nvSpPr>
        <p:spPr>
          <a:xfrm>
            <a:off x="277282" y="1069053"/>
            <a:ext cx="4685400" cy="2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 Strutture di condizione</a:t>
            </a:r>
            <a:endParaRPr sz="1600" b="1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1" name="Google Shape;15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it-IT"/>
              <a:t>17</a:t>
            </a:fld>
            <a:endParaRPr/>
          </a:p>
        </p:txBody>
      </p:sp>
      <p:pic>
        <p:nvPicPr>
          <p:cNvPr id="4" name="Immagine 4" descr="Immagine che contiene testo, monitor, screenshot, schermo&#10;&#10;Descrizione generata automaticamente">
            <a:extLst>
              <a:ext uri="{FF2B5EF4-FFF2-40B4-BE49-F238E27FC236}">
                <a16:creationId xmlns:a16="http://schemas.microsoft.com/office/drawing/2014/main" id="{9C1602FA-1E1A-4AFD-941A-883B41500A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301" y="1424191"/>
            <a:ext cx="5510463" cy="3235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8870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"/>
          <p:cNvSpPr txBox="1"/>
          <p:nvPr/>
        </p:nvSpPr>
        <p:spPr>
          <a:xfrm>
            <a:off x="307362" y="568882"/>
            <a:ext cx="3306600" cy="4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it-IT" sz="24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Typescript</a:t>
            </a:r>
            <a:endParaRPr sz="2400" b="1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0" name="Google Shape;150;p7"/>
          <p:cNvSpPr txBox="1"/>
          <p:nvPr/>
        </p:nvSpPr>
        <p:spPr>
          <a:xfrm>
            <a:off x="269762" y="1069053"/>
            <a:ext cx="4685400" cy="2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 Strutture di condizione</a:t>
            </a:r>
            <a:endParaRPr sz="1600" b="1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1" name="Google Shape;15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it-IT"/>
              <a:t>18</a:t>
            </a:fld>
            <a:endParaRPr/>
          </a:p>
        </p:txBody>
      </p:sp>
      <p:pic>
        <p:nvPicPr>
          <p:cNvPr id="2" name="Immagine 2" descr="Immagine che contiene testo, screenshot, monitor&#10;&#10;Descrizione generata automaticamente">
            <a:extLst>
              <a:ext uri="{FF2B5EF4-FFF2-40B4-BE49-F238E27FC236}">
                <a16:creationId xmlns:a16="http://schemas.microsoft.com/office/drawing/2014/main" id="{E7AE46CC-DF48-4725-AEAA-BACC5EF84F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302" y="1356749"/>
            <a:ext cx="5525502" cy="3362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13066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"/>
          <p:cNvSpPr txBox="1"/>
          <p:nvPr/>
        </p:nvSpPr>
        <p:spPr>
          <a:xfrm>
            <a:off x="307362" y="568882"/>
            <a:ext cx="3306600" cy="4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it-IT" sz="24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Typescript</a:t>
            </a:r>
            <a:endParaRPr sz="2400" b="1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0" name="Google Shape;150;p7"/>
          <p:cNvSpPr txBox="1"/>
          <p:nvPr/>
        </p:nvSpPr>
        <p:spPr>
          <a:xfrm>
            <a:off x="307361" y="1069053"/>
            <a:ext cx="4685400" cy="2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 Strutture di condizione</a:t>
            </a:r>
            <a:endParaRPr sz="1600" b="1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1" name="Google Shape;15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it-IT"/>
              <a:t>19</a:t>
            </a:fld>
            <a:endParaRPr/>
          </a:p>
        </p:txBody>
      </p:sp>
      <p:pic>
        <p:nvPicPr>
          <p:cNvPr id="3" name="Immagine 3" descr="Immagine che contiene testo&#10;&#10;Descrizione generata automaticamente">
            <a:extLst>
              <a:ext uri="{FF2B5EF4-FFF2-40B4-BE49-F238E27FC236}">
                <a16:creationId xmlns:a16="http://schemas.microsoft.com/office/drawing/2014/main" id="{E6E2E48B-13AD-47E9-A0BE-B820B0A81B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940" y="1348993"/>
            <a:ext cx="5457824" cy="3340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164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8"/>
          <p:cNvSpPr txBox="1"/>
          <p:nvPr/>
        </p:nvSpPr>
        <p:spPr>
          <a:xfrm>
            <a:off x="360000" y="636560"/>
            <a:ext cx="3306600" cy="4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it-IT" sz="24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Typescript</a:t>
            </a:r>
            <a:endParaRPr sz="2400" b="1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1" name="Google Shape;161;p8"/>
          <p:cNvSpPr txBox="1"/>
          <p:nvPr/>
        </p:nvSpPr>
        <p:spPr>
          <a:xfrm>
            <a:off x="329920" y="1174329"/>
            <a:ext cx="4685400" cy="2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 Strutture di iterazione</a:t>
            </a:r>
            <a:endParaRPr sz="1600" b="1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2" name="Google Shape;162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it-IT"/>
              <a:t>20</a:t>
            </a:fld>
            <a:endParaRPr/>
          </a:p>
        </p:txBody>
      </p:sp>
      <p:sp>
        <p:nvSpPr>
          <p:cNvPr id="163" name="Google Shape;163;p8"/>
          <p:cNvSpPr txBox="1"/>
          <p:nvPr/>
        </p:nvSpPr>
        <p:spPr>
          <a:xfrm>
            <a:off x="146222" y="1455628"/>
            <a:ext cx="1695700" cy="2861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 b="0" i="0" u="none" strike="noStrike" cap="none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do-while</a:t>
            </a:r>
            <a:endParaRPr sz="1400" b="0" i="0" u="none" strike="noStrike" cap="none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152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000" b="0" i="0" u="none" strike="noStrike" cap="none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 let c:number = 1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do{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console.log(c); 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c+=3;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52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 while (c&lt;10);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52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it-IT" sz="16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</a:br>
            <a:endParaRPr sz="1600" b="0" i="0" u="none" strike="noStrike" cap="none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152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1" i="0" u="none" strike="noStrike" cap="none">
              <a:solidFill>
                <a:srgbClr val="7030A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4" name="Google Shape;164;p8"/>
          <p:cNvSpPr txBox="1"/>
          <p:nvPr/>
        </p:nvSpPr>
        <p:spPr>
          <a:xfrm>
            <a:off x="2130563" y="1495279"/>
            <a:ext cx="1810500" cy="32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 b="0" i="0" u="none" strike="noStrike" cap="none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while</a:t>
            </a:r>
            <a:endParaRPr sz="1400" b="0" i="0" u="none" strike="noStrike" cap="none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let c</a:t>
            </a:r>
            <a:r>
              <a:rPr lang="it-IT"/>
              <a:t>:number=</a:t>
            </a:r>
            <a:r>
              <a:rPr lang="it-IT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0; </a:t>
            </a:r>
            <a:endParaRPr sz="1400" b="0" i="0" u="none" strike="noStrike" cap="none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while (c&lt;18){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c+=2;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console.log(c);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it-IT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it-IT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 </a:t>
            </a:r>
            <a:br>
              <a:rPr lang="it-IT" sz="14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5" name="Google Shape;165;p8"/>
          <p:cNvSpPr txBox="1"/>
          <p:nvPr/>
        </p:nvSpPr>
        <p:spPr>
          <a:xfrm>
            <a:off x="6050380" y="1922045"/>
            <a:ext cx="27432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6" name="Google Shape;166;p8"/>
          <p:cNvSpPr txBox="1"/>
          <p:nvPr/>
        </p:nvSpPr>
        <p:spPr>
          <a:xfrm>
            <a:off x="3942819" y="1495278"/>
            <a:ext cx="2374469" cy="2769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 b="0" i="0" u="none" strike="noStrike" cap="none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For</a:t>
            </a:r>
            <a:endParaRPr sz="1400" b="0" i="0" u="none" strike="noStrike" cap="none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 (let a=0;a&lt;10;a++){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 (a==4){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continue;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console.log(a);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it-IT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it-IT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 </a:t>
            </a:r>
            <a:br>
              <a:rPr lang="it-IT" sz="14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7" name="Google Shape;167;p8"/>
          <p:cNvSpPr txBox="1"/>
          <p:nvPr/>
        </p:nvSpPr>
        <p:spPr>
          <a:xfrm>
            <a:off x="6283491" y="1455820"/>
            <a:ext cx="2743199" cy="289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it-IT" sz="1400" b="0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do-</a:t>
            </a:r>
            <a:r>
              <a:rPr lang="it-IT" sz="1400" b="0" i="0" u="none" strike="noStrike" cap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while</a:t>
            </a:r>
            <a:r>
              <a:rPr lang="it-IT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entra nel ciclo almeno una volta se un istruzione sarà false.</a:t>
            </a:r>
            <a:endParaRPr lang="it-IT" dirty="0"/>
          </a:p>
          <a:p>
            <a:endParaRPr lang="it-IT" dirty="0"/>
          </a:p>
          <a:p>
            <a:br>
              <a:rPr lang="it-IT" sz="1400" b="0" i="0" u="none" strike="noStrike" cap="none" dirty="0">
                <a:latin typeface="Arial"/>
                <a:ea typeface="Arial"/>
                <a:cs typeface="Arial"/>
              </a:rPr>
            </a:br>
            <a:r>
              <a:rPr lang="it-IT" sz="1400" b="0" i="0" u="none" strike="noStrike" cap="none" dirty="0" err="1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while</a:t>
            </a:r>
            <a:r>
              <a:rPr lang="it-IT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 itera </a:t>
            </a:r>
            <a:r>
              <a:rPr lang="it-IT" sz="14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finchè</a:t>
            </a:r>
            <a:r>
              <a:rPr lang="it-IT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sarà </a:t>
            </a:r>
            <a:r>
              <a:rPr lang="it-IT" sz="14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true</a:t>
            </a:r>
            <a:r>
              <a:rPr lang="it-IT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lang="it-IT" dirty="0"/>
          </a:p>
          <a:p>
            <a:endParaRPr lang="it-IT" dirty="0"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it-IT" sz="1400" b="0" i="0" u="none" strike="noStrike" cap="none" dirty="0">
                <a:latin typeface="Arial"/>
                <a:ea typeface="Arial"/>
                <a:cs typeface="Arial"/>
              </a:rPr>
            </a:br>
            <a:r>
              <a:rPr lang="it-IT" sz="1400" b="0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for</a:t>
            </a:r>
            <a:r>
              <a:rPr lang="it-IT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incrementa o decrementa un istruzione con il valore di confronto, il continue andrà ad ignorare tale istruzione che si trova nell'</a:t>
            </a:r>
            <a:r>
              <a:rPr lang="it-IT" sz="14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8"/>
          <p:cNvSpPr txBox="1"/>
          <p:nvPr/>
        </p:nvSpPr>
        <p:spPr>
          <a:xfrm>
            <a:off x="360000" y="568883"/>
            <a:ext cx="3306600" cy="4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it-IT" sz="24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Typescript</a:t>
            </a:r>
            <a:endParaRPr sz="2400" b="1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1" name="Google Shape;161;p8"/>
          <p:cNvSpPr txBox="1"/>
          <p:nvPr/>
        </p:nvSpPr>
        <p:spPr>
          <a:xfrm>
            <a:off x="292321" y="1069053"/>
            <a:ext cx="4685400" cy="2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 Strutture di iterazione</a:t>
            </a:r>
            <a:endParaRPr sz="1600" b="1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2" name="Google Shape;162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it-IT"/>
              <a:t>21</a:t>
            </a:fld>
            <a:endParaRPr/>
          </a:p>
        </p:txBody>
      </p:sp>
      <p:sp>
        <p:nvSpPr>
          <p:cNvPr id="165" name="Google Shape;165;p8"/>
          <p:cNvSpPr txBox="1"/>
          <p:nvPr/>
        </p:nvSpPr>
        <p:spPr>
          <a:xfrm>
            <a:off x="6050380" y="1922045"/>
            <a:ext cx="27432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3" name="Immagine 3" descr="Immagine che contiene testo, screenshot, monitor, schermo&#10;&#10;Descrizione generata automaticamente">
            <a:extLst>
              <a:ext uri="{FF2B5EF4-FFF2-40B4-BE49-F238E27FC236}">
                <a16:creationId xmlns:a16="http://schemas.microsoft.com/office/drawing/2014/main" id="{4F837EB1-7546-42C6-BB7F-48A03B3871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861" y="1387111"/>
            <a:ext cx="5480384" cy="3301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1860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aaaeabd082_0_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it-IT"/>
              <a:t>22</a:t>
            </a:fld>
            <a:endParaRPr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84ACADCC-41B9-400A-AA0C-4C7F6992D60E}"/>
              </a:ext>
            </a:extLst>
          </p:cNvPr>
          <p:cNvSpPr txBox="1"/>
          <p:nvPr/>
        </p:nvSpPr>
        <p:spPr>
          <a:xfrm>
            <a:off x="2282992" y="2200275"/>
            <a:ext cx="5179593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3200" dirty="0"/>
              <a:t>     </a:t>
            </a:r>
            <a:r>
              <a:rPr lang="it-IT" sz="2800"/>
              <a:t> Oggetti </a:t>
            </a:r>
            <a:r>
              <a:rPr lang="it-IT" sz="2800" err="1"/>
              <a:t>Typescript</a:t>
            </a:r>
            <a:endParaRPr lang="it-IT" sz="2800"/>
          </a:p>
        </p:txBody>
      </p:sp>
    </p:spTree>
    <p:extLst>
      <p:ext uri="{BB962C8B-B14F-4D97-AF65-F5344CB8AC3E}">
        <p14:creationId xmlns:p14="http://schemas.microsoft.com/office/powerpoint/2010/main" val="8510736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9"/>
          <p:cNvSpPr txBox="1"/>
          <p:nvPr/>
        </p:nvSpPr>
        <p:spPr>
          <a:xfrm>
            <a:off x="322401" y="659120"/>
            <a:ext cx="3306600" cy="4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it-IT" sz="24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Typescript</a:t>
            </a:r>
            <a:endParaRPr sz="2400" b="1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5" name="Google Shape;175;p9"/>
          <p:cNvSpPr txBox="1"/>
          <p:nvPr/>
        </p:nvSpPr>
        <p:spPr>
          <a:xfrm>
            <a:off x="322400" y="1251738"/>
            <a:ext cx="6219426" cy="1772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Tipi di dato</a:t>
            </a:r>
            <a:endParaRPr sz="1600" b="1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6" name="Google Shape;176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it-IT"/>
              <a:t>23</a:t>
            </a:fld>
            <a:endParaRPr/>
          </a:p>
        </p:txBody>
      </p:sp>
      <p:graphicFrame>
        <p:nvGraphicFramePr>
          <p:cNvPr id="2" name="Tabella 2">
            <a:extLst>
              <a:ext uri="{FF2B5EF4-FFF2-40B4-BE49-F238E27FC236}">
                <a16:creationId xmlns:a16="http://schemas.microsoft.com/office/drawing/2014/main" id="{95366E34-3978-4214-B65F-C12BEA15DE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409847"/>
              </p:ext>
            </p:extLst>
          </p:nvPr>
        </p:nvGraphicFramePr>
        <p:xfrm>
          <a:off x="330868" y="1534026"/>
          <a:ext cx="3851670" cy="3007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51670">
                  <a:extLst>
                    <a:ext uri="{9D8B030D-6E8A-4147-A177-3AD203B41FA5}">
                      <a16:colId xmlns:a16="http://schemas.microsoft.com/office/drawing/2014/main" val="3105673828"/>
                    </a:ext>
                  </a:extLst>
                </a:gridCol>
              </a:tblGrid>
              <a:tr h="375957">
                <a:tc>
                  <a:txBody>
                    <a:bodyPr/>
                    <a:lstStyle/>
                    <a:p>
                      <a:r>
                        <a:rPr lang="it-IT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Datatypes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8979935"/>
                  </a:ext>
                </a:extLst>
              </a:tr>
              <a:tr h="375957">
                <a:tc>
                  <a:txBody>
                    <a:bodyPr/>
                    <a:lstStyle/>
                    <a:p>
                      <a:r>
                        <a:rPr lang="it-IT" dirty="0" err="1"/>
                        <a:t>string</a:t>
                      </a:r>
                      <a:r>
                        <a:rPr lang="it-IT" dirty="0"/>
                        <a:t> – </a:t>
                      </a:r>
                      <a:r>
                        <a:rPr lang="it-IT" dirty="0" err="1"/>
                        <a:t>let</a:t>
                      </a:r>
                      <a:r>
                        <a:rPr lang="it-IT" dirty="0"/>
                        <a:t> </a:t>
                      </a:r>
                      <a:r>
                        <a:rPr lang="it-IT" dirty="0" err="1"/>
                        <a:t>nome:string</a:t>
                      </a:r>
                      <a:r>
                        <a:rPr lang="it-IT" dirty="0"/>
                        <a:t> = ' </a:t>
                      </a:r>
                      <a:r>
                        <a:rPr lang="it-IT" dirty="0" err="1"/>
                        <a:t>fabio</a:t>
                      </a:r>
                      <a:r>
                        <a:rPr lang="it-IT" dirty="0"/>
                        <a:t>'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5789521"/>
                  </a:ext>
                </a:extLst>
              </a:tr>
              <a:tr h="375957">
                <a:tc>
                  <a:txBody>
                    <a:bodyPr/>
                    <a:lstStyle/>
                    <a:p>
                      <a:r>
                        <a:rPr lang="it-IT" dirty="0" err="1"/>
                        <a:t>number</a:t>
                      </a:r>
                      <a:r>
                        <a:rPr lang="it-IT" dirty="0"/>
                        <a:t>- </a:t>
                      </a:r>
                      <a:r>
                        <a:rPr lang="it-IT" dirty="0" err="1"/>
                        <a:t>let</a:t>
                      </a:r>
                      <a:r>
                        <a:rPr lang="it-IT" dirty="0"/>
                        <a:t> index: </a:t>
                      </a:r>
                      <a:r>
                        <a:rPr lang="it-IT" dirty="0" err="1"/>
                        <a:t>number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4537940"/>
                  </a:ext>
                </a:extLst>
              </a:tr>
              <a:tr h="375957">
                <a:tc>
                  <a:txBody>
                    <a:bodyPr/>
                    <a:lstStyle/>
                    <a:p>
                      <a:r>
                        <a:rPr lang="it-IT" dirty="0" err="1"/>
                        <a:t>boolean</a:t>
                      </a:r>
                      <a:r>
                        <a:rPr lang="it-IT" dirty="0"/>
                        <a:t>- </a:t>
                      </a:r>
                      <a:r>
                        <a:rPr lang="it-IT" dirty="0" err="1"/>
                        <a:t>let</a:t>
                      </a:r>
                      <a:r>
                        <a:rPr lang="it-IT" dirty="0"/>
                        <a:t> go = </a:t>
                      </a:r>
                      <a:r>
                        <a:rPr lang="it-IT" dirty="0" err="1"/>
                        <a:t>true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3411583"/>
                  </a:ext>
                </a:extLst>
              </a:tr>
              <a:tr h="375957">
                <a:tc>
                  <a:txBody>
                    <a:bodyPr/>
                    <a:lstStyle/>
                    <a:p>
                      <a:r>
                        <a:rPr lang="it-IT" dirty="0" err="1"/>
                        <a:t>unknown</a:t>
                      </a:r>
                      <a:r>
                        <a:rPr lang="it-IT" dirty="0"/>
                        <a:t>- </a:t>
                      </a:r>
                      <a:r>
                        <a:rPr lang="it-IT" dirty="0" err="1"/>
                        <a:t>let</a:t>
                      </a:r>
                      <a:r>
                        <a:rPr lang="it-IT" dirty="0"/>
                        <a:t> case: </a:t>
                      </a:r>
                      <a:r>
                        <a:rPr lang="it-IT" dirty="0" err="1"/>
                        <a:t>unknown</a:t>
                      </a:r>
                      <a:r>
                        <a:rPr lang="it-IT" dirty="0"/>
                        <a:t> = 23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0258454"/>
                  </a:ext>
                </a:extLst>
              </a:tr>
              <a:tr h="375957">
                <a:tc>
                  <a:txBody>
                    <a:bodyPr/>
                    <a:lstStyle/>
                    <a:p>
                      <a:r>
                        <a:rPr lang="it-IT" dirty="0" err="1"/>
                        <a:t>void</a:t>
                      </a:r>
                      <a:r>
                        <a:rPr lang="it-IT" dirty="0"/>
                        <a:t>- tipo applicato a metodi non </a:t>
                      </a:r>
                      <a:r>
                        <a:rPr lang="it-IT" dirty="0" err="1"/>
                        <a:t>type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0157904"/>
                  </a:ext>
                </a:extLst>
              </a:tr>
              <a:tr h="375957">
                <a:tc>
                  <a:txBody>
                    <a:bodyPr/>
                    <a:lstStyle/>
                    <a:p>
                      <a:r>
                        <a:rPr lang="it-IT" dirty="0" err="1"/>
                        <a:t>never</a:t>
                      </a:r>
                      <a:r>
                        <a:rPr lang="it-IT" dirty="0"/>
                        <a:t>- tipo che non avrà un </a:t>
                      </a:r>
                      <a:r>
                        <a:rPr lang="it-IT" dirty="0" err="1"/>
                        <a:t>return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974454"/>
                  </a:ext>
                </a:extLst>
              </a:tr>
              <a:tr h="375957">
                <a:tc>
                  <a:txBody>
                    <a:bodyPr/>
                    <a:lstStyle/>
                    <a:p>
                      <a:endParaRPr lang="it-IT" dirty="0" err="1"/>
                    </a:p>
                  </a:txBody>
                  <a:tcPr>
                    <a:lnT w="12700">
                      <a:solidFill>
                        <a:schemeClr val="tx1"/>
                      </a:solidFill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245496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9"/>
          <p:cNvSpPr txBox="1"/>
          <p:nvPr/>
        </p:nvSpPr>
        <p:spPr>
          <a:xfrm>
            <a:off x="314882" y="568883"/>
            <a:ext cx="3306600" cy="4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it-IT" sz="24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Typescript</a:t>
            </a:r>
            <a:endParaRPr sz="2400" b="1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5" name="Google Shape;175;p9"/>
          <p:cNvSpPr txBox="1"/>
          <p:nvPr/>
        </p:nvSpPr>
        <p:spPr>
          <a:xfrm>
            <a:off x="359999" y="1108863"/>
            <a:ext cx="6219426" cy="1772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Tipi di dato</a:t>
            </a:r>
            <a:endParaRPr sz="1600" b="1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6" name="Google Shape;176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it-IT"/>
              <a:t>24</a:t>
            </a:fld>
            <a:endParaRPr/>
          </a:p>
        </p:txBody>
      </p:sp>
      <p:pic>
        <p:nvPicPr>
          <p:cNvPr id="2" name="Immagine 2" descr="Immagine che contiene testo, screenshot, monitor, schermo&#10;&#10;Descrizione generata automaticamente">
            <a:extLst>
              <a:ext uri="{FF2B5EF4-FFF2-40B4-BE49-F238E27FC236}">
                <a16:creationId xmlns:a16="http://schemas.microsoft.com/office/drawing/2014/main" id="{BC2AE2E6-C4D7-4D1D-A9EB-B5D77C38DB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821" y="1372210"/>
            <a:ext cx="5533022" cy="3354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960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4"/>
          <p:cNvSpPr txBox="1"/>
          <p:nvPr/>
        </p:nvSpPr>
        <p:spPr>
          <a:xfrm>
            <a:off x="329921" y="651600"/>
            <a:ext cx="3306600" cy="4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it-IT" sz="24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Typescript</a:t>
            </a:r>
            <a:endParaRPr sz="2400" b="1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7" name="Google Shape;187;p24"/>
          <p:cNvSpPr txBox="1"/>
          <p:nvPr/>
        </p:nvSpPr>
        <p:spPr>
          <a:xfrm>
            <a:off x="359999" y="1259258"/>
            <a:ext cx="6219426" cy="1772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string</a:t>
            </a:r>
            <a:endParaRPr sz="1600" b="1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8" name="Google Shape;188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it-IT"/>
              <a:t>25</a:t>
            </a:fld>
            <a:endParaRPr/>
          </a:p>
        </p:txBody>
      </p:sp>
      <p:graphicFrame>
        <p:nvGraphicFramePr>
          <p:cNvPr id="4" name="Tabella 4">
            <a:extLst>
              <a:ext uri="{FF2B5EF4-FFF2-40B4-BE49-F238E27FC236}">
                <a16:creationId xmlns:a16="http://schemas.microsoft.com/office/drawing/2014/main" id="{50AFE902-DE21-4DBB-8474-3659A9143B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6885410"/>
              </p:ext>
            </p:extLst>
          </p:nvPr>
        </p:nvGraphicFramePr>
        <p:xfrm>
          <a:off x="313149" y="2293828"/>
          <a:ext cx="4663439" cy="240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63439">
                  <a:extLst>
                    <a:ext uri="{9D8B030D-6E8A-4147-A177-3AD203B41FA5}">
                      <a16:colId xmlns:a16="http://schemas.microsoft.com/office/drawing/2014/main" val="3950678093"/>
                    </a:ext>
                  </a:extLst>
                </a:gridCol>
              </a:tblGrid>
              <a:tr h="20520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it-IT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Metodi </a:t>
                      </a:r>
                      <a:r>
                        <a:rPr lang="it-IT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string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3421650"/>
                  </a:ext>
                </a:extLst>
              </a:tr>
              <a:tr h="231942">
                <a:tc>
                  <a:txBody>
                    <a:bodyPr/>
                    <a:lstStyle/>
                    <a:p>
                      <a:r>
                        <a:rPr lang="it-IT" sz="1200" b="1" dirty="0" err="1"/>
                        <a:t>concat</a:t>
                      </a:r>
                      <a:r>
                        <a:rPr lang="it-IT" sz="1200" b="1" dirty="0"/>
                        <a:t>-</a:t>
                      </a:r>
                      <a:r>
                        <a:rPr lang="it-IT" sz="1200" dirty="0"/>
                        <a:t>concatena più stringhe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8890638"/>
                  </a:ext>
                </a:extLst>
              </a:tr>
              <a:tr h="231942">
                <a:tc>
                  <a:txBody>
                    <a:bodyPr/>
                    <a:lstStyle/>
                    <a:p>
                      <a:r>
                        <a:rPr lang="it-IT" sz="1200" b="1" dirty="0" err="1"/>
                        <a:t>length</a:t>
                      </a:r>
                      <a:r>
                        <a:rPr lang="it-IT" sz="1200" b="1" dirty="0"/>
                        <a:t>-</a:t>
                      </a:r>
                      <a:r>
                        <a:rPr lang="it-IT" sz="1200" dirty="0"/>
                        <a:t>ritorna la lunghezza di una stringa</a:t>
                      </a:r>
                      <a:endParaRPr lang="it-IT" sz="1200" dirty="0" err="1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3405685"/>
                  </a:ext>
                </a:extLst>
              </a:tr>
              <a:tr h="231942">
                <a:tc>
                  <a:txBody>
                    <a:bodyPr/>
                    <a:lstStyle/>
                    <a:p>
                      <a:r>
                        <a:rPr lang="it-IT" sz="1200" b="1" dirty="0"/>
                        <a:t>trim-</a:t>
                      </a:r>
                      <a:r>
                        <a:rPr lang="it-IT" sz="1200" dirty="0"/>
                        <a:t>rimuove gli spazi a </a:t>
                      </a:r>
                      <a:r>
                        <a:rPr lang="it-IT" sz="1200" dirty="0" err="1"/>
                        <a:t>sx</a:t>
                      </a:r>
                      <a:r>
                        <a:rPr lang="it-IT" sz="1200" dirty="0"/>
                        <a:t> e dx di una stringa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9001774"/>
                  </a:ext>
                </a:extLst>
              </a:tr>
              <a:tr h="231942">
                <a:tc>
                  <a:txBody>
                    <a:bodyPr/>
                    <a:lstStyle/>
                    <a:p>
                      <a:r>
                        <a:rPr lang="it-IT" sz="1200" b="1" dirty="0" err="1"/>
                        <a:t>replace</a:t>
                      </a:r>
                      <a:r>
                        <a:rPr lang="it-IT" sz="1200" b="1" dirty="0"/>
                        <a:t>-</a:t>
                      </a:r>
                      <a:r>
                        <a:rPr lang="it-IT" sz="1200" dirty="0"/>
                        <a:t>sostituisce una stringa o un carattere</a:t>
                      </a:r>
                      <a:endParaRPr lang="it-IT" sz="1200" dirty="0" err="1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916894"/>
                  </a:ext>
                </a:extLst>
              </a:tr>
              <a:tr h="231942">
                <a:tc>
                  <a:txBody>
                    <a:bodyPr/>
                    <a:lstStyle/>
                    <a:p>
                      <a:r>
                        <a:rPr lang="it-IT" sz="1200" b="1" dirty="0"/>
                        <a:t>slice-</a:t>
                      </a:r>
                      <a:r>
                        <a:rPr lang="it-IT" sz="1200" dirty="0"/>
                        <a:t>estrae una sezione di una stringa e restituisce una nuova stringa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3465242"/>
                  </a:ext>
                </a:extLst>
              </a:tr>
              <a:tr h="231942">
                <a:tc>
                  <a:txBody>
                    <a:bodyPr/>
                    <a:lstStyle/>
                    <a:p>
                      <a:r>
                        <a:rPr lang="it-IT" sz="1200" b="1" dirty="0" err="1"/>
                        <a:t>toLowerCase</a:t>
                      </a:r>
                      <a:r>
                        <a:rPr lang="it-IT" sz="1200" b="1" dirty="0"/>
                        <a:t>-</a:t>
                      </a:r>
                      <a:r>
                        <a:rPr lang="it-IT" sz="1200" dirty="0"/>
                        <a:t>trasforma una stringa da maiuscolo in minuscolo</a:t>
                      </a:r>
                      <a:endParaRPr lang="it-IT" sz="1200" dirty="0" err="1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4584768"/>
                  </a:ext>
                </a:extLst>
              </a:tr>
              <a:tr h="231942">
                <a:tc>
                  <a:txBody>
                    <a:bodyPr/>
                    <a:lstStyle/>
                    <a:p>
                      <a:r>
                        <a:rPr lang="it-IT" sz="1200" b="1" dirty="0" err="1"/>
                        <a:t>toUpperCase</a:t>
                      </a:r>
                      <a:r>
                        <a:rPr lang="it-IT" sz="1200" b="1" dirty="0"/>
                        <a:t>-</a:t>
                      </a:r>
                      <a:r>
                        <a:rPr lang="it-IT" sz="1200" dirty="0"/>
                        <a:t>trasforma una stringa da minuscolo a maiuscolo</a:t>
                      </a:r>
                      <a:endParaRPr lang="it-IT" sz="1200" dirty="0" err="1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5889417"/>
                  </a:ext>
                </a:extLst>
              </a:tr>
            </a:tbl>
          </a:graphicData>
        </a:graphic>
      </p:graphicFrame>
      <p:sp>
        <p:nvSpPr>
          <p:cNvPr id="6" name="CasellaDiTesto 5">
            <a:extLst>
              <a:ext uri="{FF2B5EF4-FFF2-40B4-BE49-F238E27FC236}">
                <a16:creationId xmlns:a16="http://schemas.microsoft.com/office/drawing/2014/main" id="{D18EDB48-A5B7-4F05-A866-EFA2052838FD}"/>
              </a:ext>
            </a:extLst>
          </p:cNvPr>
          <p:cNvSpPr txBox="1"/>
          <p:nvPr/>
        </p:nvSpPr>
        <p:spPr>
          <a:xfrm>
            <a:off x="269248" y="1562745"/>
            <a:ext cx="3307179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200" dirty="0"/>
              <a:t>Così come in </a:t>
            </a:r>
            <a:r>
              <a:rPr lang="it-IT" sz="1200" dirty="0" err="1"/>
              <a:t>Javascript</a:t>
            </a:r>
            <a:r>
              <a:rPr lang="it-IT" sz="1200" dirty="0"/>
              <a:t> anche </a:t>
            </a:r>
            <a:r>
              <a:rPr lang="it-IT" sz="1200" dirty="0" err="1"/>
              <a:t>Typescript</a:t>
            </a:r>
            <a:r>
              <a:rPr lang="it-IT" sz="1200" dirty="0"/>
              <a:t> si vale di alcuni  metodi per la manipolazione delle stringhe.</a:t>
            </a:r>
            <a:br>
              <a:rPr lang="it-IT" sz="1200" dirty="0"/>
            </a:br>
            <a:br>
              <a:rPr lang="it-IT" sz="1200" dirty="0"/>
            </a:br>
            <a:endParaRPr lang="it-IT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5"/>
          <p:cNvSpPr txBox="1"/>
          <p:nvPr/>
        </p:nvSpPr>
        <p:spPr>
          <a:xfrm>
            <a:off x="314881" y="644080"/>
            <a:ext cx="3306600" cy="4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it-IT" sz="24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Typescript</a:t>
            </a:r>
            <a:endParaRPr sz="2400" b="1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7" name="Google Shape;197;p25"/>
          <p:cNvSpPr txBox="1"/>
          <p:nvPr/>
        </p:nvSpPr>
        <p:spPr>
          <a:xfrm>
            <a:off x="359998" y="1289336"/>
            <a:ext cx="6219426" cy="1772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 b="1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Math</a:t>
            </a:r>
            <a:endParaRPr sz="1600" b="1" i="0" u="none" strike="noStrike" cap="none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8" name="Google Shape;198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it-IT"/>
              <a:t>26</a:t>
            </a:fld>
            <a:endParaRPr/>
          </a:p>
        </p:txBody>
      </p:sp>
      <p:graphicFrame>
        <p:nvGraphicFramePr>
          <p:cNvPr id="2" name="Tabella 2">
            <a:extLst>
              <a:ext uri="{FF2B5EF4-FFF2-40B4-BE49-F238E27FC236}">
                <a16:creationId xmlns:a16="http://schemas.microsoft.com/office/drawing/2014/main" id="{903A3236-ACB9-4251-B722-E558713E72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6657137"/>
              </p:ext>
            </p:extLst>
          </p:nvPr>
        </p:nvGraphicFramePr>
        <p:xfrm>
          <a:off x="2841842" y="1808445"/>
          <a:ext cx="5120640" cy="31422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124089941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1188954758"/>
                    </a:ext>
                  </a:extLst>
                </a:gridCol>
              </a:tblGrid>
              <a:tr h="310288">
                <a:tc>
                  <a:txBody>
                    <a:bodyPr/>
                    <a:lstStyle/>
                    <a:p>
                      <a:r>
                        <a:rPr lang="it-IT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Object Math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it-IT" sz="1400" b="1" i="0" u="none" strike="noStrike" noProof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/>
                        </a:rPr>
                        <a:t>Caratteristiche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4623337"/>
                  </a:ext>
                </a:extLst>
              </a:tr>
              <a:tr h="42312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it-IT" dirty="0" err="1"/>
                        <a:t>abs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sz="1100" dirty="0"/>
                        <a:t>ritorna il valore assoluto passato come parametro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4490517"/>
                  </a:ext>
                </a:extLst>
              </a:tr>
              <a:tr h="319690">
                <a:tc>
                  <a:txBody>
                    <a:bodyPr/>
                    <a:lstStyle/>
                    <a:p>
                      <a:r>
                        <a:rPr lang="it-IT" dirty="0" err="1"/>
                        <a:t>floor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sz="1100" dirty="0"/>
                        <a:t>forza il decimale al numero più piccolo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6948166"/>
                  </a:ext>
                </a:extLst>
              </a:tr>
              <a:tr h="611173">
                <a:tc>
                  <a:txBody>
                    <a:bodyPr/>
                    <a:lstStyle/>
                    <a:p>
                      <a:r>
                        <a:rPr lang="it-IT" dirty="0"/>
                        <a:t>round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sz="1100" dirty="0"/>
                        <a:t>arrotonda l'argomento al valore successivo se la parte frazionaria è maggiore di 5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3489245"/>
                  </a:ext>
                </a:extLst>
              </a:tr>
              <a:tr h="423120">
                <a:tc>
                  <a:txBody>
                    <a:bodyPr/>
                    <a:lstStyle/>
                    <a:p>
                      <a:r>
                        <a:rPr lang="it-IT" dirty="0" err="1"/>
                        <a:t>pow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sz="1100" dirty="0"/>
                        <a:t>esponenziale del primo numero passato in ingresso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8545505"/>
                  </a:ext>
                </a:extLst>
              </a:tr>
              <a:tr h="300885">
                <a:tc>
                  <a:txBody>
                    <a:bodyPr/>
                    <a:lstStyle/>
                    <a:p>
                      <a:r>
                        <a:rPr lang="it-IT" dirty="0"/>
                        <a:t>random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sz="1100" dirty="0"/>
                        <a:t>genera numeri casuali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7878112"/>
                  </a:ext>
                </a:extLst>
              </a:tr>
              <a:tr h="310288">
                <a:tc>
                  <a:txBody>
                    <a:bodyPr/>
                    <a:lstStyle/>
                    <a:p>
                      <a:r>
                        <a:rPr lang="it-IT" dirty="0" err="1"/>
                        <a:t>ceil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sz="1100" dirty="0"/>
                        <a:t>forza il decimale al numero più grande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2313147"/>
                  </a:ext>
                </a:extLst>
              </a:tr>
              <a:tr h="432522">
                <a:tc>
                  <a:txBody>
                    <a:bodyPr/>
                    <a:lstStyle/>
                    <a:p>
                      <a:r>
                        <a:rPr lang="it-IT" dirty="0" err="1"/>
                        <a:t>sqrt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sz="1100" dirty="0"/>
                        <a:t>radice quadrata del numero passato come parametro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021964"/>
                  </a:ext>
                </a:extLst>
              </a:tr>
            </a:tbl>
          </a:graphicData>
        </a:graphic>
      </p:graphicFrame>
      <p:sp>
        <p:nvSpPr>
          <p:cNvPr id="3" name="CasellaDiTesto 2">
            <a:extLst>
              <a:ext uri="{FF2B5EF4-FFF2-40B4-BE49-F238E27FC236}">
                <a16:creationId xmlns:a16="http://schemas.microsoft.com/office/drawing/2014/main" id="{AE56FF6E-3FB3-4E60-8707-120EB9652FB6}"/>
              </a:ext>
            </a:extLst>
          </p:cNvPr>
          <p:cNvSpPr txBox="1"/>
          <p:nvPr/>
        </p:nvSpPr>
        <p:spPr>
          <a:xfrm>
            <a:off x="192814" y="1780199"/>
            <a:ext cx="2437878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 err="1"/>
              <a:t>L'object</a:t>
            </a:r>
            <a:r>
              <a:rPr lang="it-IT" dirty="0"/>
              <a:t> </a:t>
            </a:r>
            <a:r>
              <a:rPr lang="it-IT" dirty="0" err="1"/>
              <a:t>math</a:t>
            </a:r>
            <a:r>
              <a:rPr lang="it-IT" dirty="0"/>
              <a:t> predispone alcuni metodi per operazioni numeriche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5"/>
          <p:cNvSpPr txBox="1"/>
          <p:nvPr/>
        </p:nvSpPr>
        <p:spPr>
          <a:xfrm>
            <a:off x="314881" y="644080"/>
            <a:ext cx="3306600" cy="4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it-IT" sz="24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Typescript</a:t>
            </a:r>
            <a:endParaRPr sz="2400" b="1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7" name="Google Shape;197;p25"/>
          <p:cNvSpPr txBox="1"/>
          <p:nvPr/>
        </p:nvSpPr>
        <p:spPr>
          <a:xfrm>
            <a:off x="359998" y="1289336"/>
            <a:ext cx="6219426" cy="1772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 b="1" dirty="0">
                <a:solidFill>
                  <a:schemeClr val="dk1"/>
                </a:solidFill>
                <a:latin typeface="Open Sans"/>
                <a:ea typeface="Open Sans"/>
                <a:cs typeface="Open Sans"/>
              </a:rPr>
              <a:t>Date</a:t>
            </a:r>
            <a:endParaRPr lang="it-IT" sz="1600" b="1" i="0" u="none" strike="noStrike" cap="none" dirty="0">
              <a:solidFill>
                <a:schemeClr val="dk1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198" name="Google Shape;198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it-IT"/>
              <a:t>27</a:t>
            </a:fld>
            <a:endParaRPr/>
          </a:p>
        </p:txBody>
      </p:sp>
      <p:graphicFrame>
        <p:nvGraphicFramePr>
          <p:cNvPr id="2" name="Tabella 2">
            <a:extLst>
              <a:ext uri="{FF2B5EF4-FFF2-40B4-BE49-F238E27FC236}">
                <a16:creationId xmlns:a16="http://schemas.microsoft.com/office/drawing/2014/main" id="{903A3236-ACB9-4251-B722-E558713E72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8716170"/>
              </p:ext>
            </p:extLst>
          </p:nvPr>
        </p:nvGraphicFramePr>
        <p:xfrm>
          <a:off x="3235542" y="1852808"/>
          <a:ext cx="5120640" cy="296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124089941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1188954758"/>
                    </a:ext>
                  </a:extLst>
                </a:gridCol>
              </a:tblGrid>
              <a:tr h="366587">
                <a:tc>
                  <a:txBody>
                    <a:bodyPr/>
                    <a:lstStyle/>
                    <a:p>
                      <a:r>
                        <a:rPr lang="it-IT" dirty="0" err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Constructor</a:t>
                      </a:r>
                      <a:r>
                        <a:rPr lang="it-IT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 Date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it-IT" sz="1400" b="1" i="0" u="none" strike="noStrike" noProof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rial"/>
                        </a:rPr>
                        <a:t>Caratteristiche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46233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it-IT" dirty="0" err="1"/>
                        <a:t>getDay-setDay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sz="1100" dirty="0"/>
                        <a:t>metodo di lettura e scrittura di day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4490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 err="1"/>
                        <a:t>getFullYear-setFullYear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it-IT" sz="1100" b="0" i="0" u="none" strike="noStrike" noProof="0" dirty="0">
                          <a:latin typeface="Arial"/>
                        </a:rPr>
                        <a:t>metodo di lettura e scrittura di full </a:t>
                      </a:r>
                      <a:r>
                        <a:rPr lang="it-IT" sz="1100" b="0" i="0" u="none" strike="noStrike" noProof="0" dirty="0" err="1">
                          <a:latin typeface="Arial"/>
                        </a:rPr>
                        <a:t>year</a:t>
                      </a:r>
                      <a:endParaRPr lang="it-IT" sz="1100" dirty="0" err="1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69481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 err="1"/>
                        <a:t>getHours-setHours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it-IT" sz="1100" b="0" i="0" u="none" strike="noStrike" noProof="0" dirty="0">
                          <a:latin typeface="Arial"/>
                        </a:rPr>
                        <a:t>metodo di lettura e scrittura di hours</a:t>
                      </a:r>
                      <a:endParaRPr lang="it-IT" sz="1100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34892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 err="1"/>
                        <a:t>getMonth-setMonth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it-IT" sz="1100" b="0" i="0" u="none" strike="noStrike" noProof="0" dirty="0">
                          <a:latin typeface="Arial"/>
                        </a:rPr>
                        <a:t>metodo di lettura e scrittura di </a:t>
                      </a:r>
                      <a:r>
                        <a:rPr lang="it-IT" sz="1100" b="0" i="0" u="none" strike="noStrike" noProof="0" dirty="0" err="1">
                          <a:latin typeface="Arial"/>
                        </a:rPr>
                        <a:t>month</a:t>
                      </a:r>
                      <a:endParaRPr lang="it-IT" sz="1100" dirty="0" err="1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8545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 err="1"/>
                        <a:t>getMinutes-setMinutes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it-IT" sz="1100" b="0" i="0" u="none" strike="noStrike" noProof="0" dirty="0">
                          <a:latin typeface="Arial"/>
                        </a:rPr>
                        <a:t>metodo di lettura e scrittura di minutes</a:t>
                      </a:r>
                      <a:endParaRPr lang="it-IT" sz="1100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78781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 err="1"/>
                        <a:t>getTime-setTime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it-IT" sz="1100" b="0" i="0" u="none" strike="noStrike" noProof="0" dirty="0">
                          <a:latin typeface="Arial"/>
                        </a:rPr>
                        <a:t>metodo di lettura e scrittura di time</a:t>
                      </a:r>
                      <a:endParaRPr lang="it-IT" sz="1100" dirty="0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23131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 err="1"/>
                        <a:t>getDate-setDate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sz="1100" dirty="0"/>
                        <a:t>metodo di lettura e scrittura di date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021964"/>
                  </a:ext>
                </a:extLst>
              </a:tr>
            </a:tbl>
          </a:graphicData>
        </a:graphic>
      </p:graphicFrame>
      <p:sp>
        <p:nvSpPr>
          <p:cNvPr id="3" name="CasellaDiTesto 2">
            <a:extLst>
              <a:ext uri="{FF2B5EF4-FFF2-40B4-BE49-F238E27FC236}">
                <a16:creationId xmlns:a16="http://schemas.microsoft.com/office/drawing/2014/main" id="{5CB8B9B5-1C9D-4124-B65B-5B1582239887}"/>
              </a:ext>
            </a:extLst>
          </p:cNvPr>
          <p:cNvSpPr txBox="1"/>
          <p:nvPr/>
        </p:nvSpPr>
        <p:spPr>
          <a:xfrm>
            <a:off x="275222" y="1839328"/>
            <a:ext cx="2743199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dirty="0" err="1"/>
              <a:t>Constructor</a:t>
            </a:r>
            <a:r>
              <a:rPr lang="it-IT" dirty="0"/>
              <a:t> Date predispone molti metodi per settare o leggere valori temporali</a:t>
            </a:r>
          </a:p>
        </p:txBody>
      </p:sp>
    </p:spTree>
    <p:extLst>
      <p:ext uri="{BB962C8B-B14F-4D97-AF65-F5344CB8AC3E}">
        <p14:creationId xmlns:p14="http://schemas.microsoft.com/office/powerpoint/2010/main" val="27582945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5"/>
          <p:cNvSpPr txBox="1"/>
          <p:nvPr/>
        </p:nvSpPr>
        <p:spPr>
          <a:xfrm>
            <a:off x="314881" y="598962"/>
            <a:ext cx="3306600" cy="4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it-IT" sz="24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Typescript</a:t>
            </a:r>
            <a:endParaRPr sz="2400" b="1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7" name="Google Shape;197;p25"/>
          <p:cNvSpPr txBox="1"/>
          <p:nvPr/>
        </p:nvSpPr>
        <p:spPr>
          <a:xfrm>
            <a:off x="359998" y="1146460"/>
            <a:ext cx="6219426" cy="1772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Math-Date</a:t>
            </a:r>
            <a:endParaRPr sz="1600" b="1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8" name="Google Shape;198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it-IT"/>
              <a:t>28</a:t>
            </a:fld>
            <a:endParaRPr/>
          </a:p>
        </p:txBody>
      </p:sp>
      <p:pic>
        <p:nvPicPr>
          <p:cNvPr id="2" name="Immagine 2" descr="Immagine che contiene testo&#10;&#10;Descrizione generata automaticamente">
            <a:extLst>
              <a:ext uri="{FF2B5EF4-FFF2-40B4-BE49-F238E27FC236}">
                <a16:creationId xmlns:a16="http://schemas.microsoft.com/office/drawing/2014/main" id="{60B0943D-2EEB-45EC-B313-4D8D16FE25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940" y="1446750"/>
            <a:ext cx="5360067" cy="3280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66421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314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it-IT"/>
              <a:t>29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1288</Words>
  <Application>Microsoft Macintosh PowerPoint</Application>
  <PresentationFormat>Presentazione su schermo (16:9)</PresentationFormat>
  <Paragraphs>241</Paragraphs>
  <Slides>29</Slides>
  <Notes>29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29</vt:i4>
      </vt:variant>
    </vt:vector>
  </HeadingPairs>
  <TitlesOfParts>
    <vt:vector size="35" baseType="lpstr">
      <vt:lpstr>Arial</vt:lpstr>
      <vt:lpstr>Consolas</vt:lpstr>
      <vt:lpstr>Calibri</vt:lpstr>
      <vt:lpstr>Open Sans</vt:lpstr>
      <vt:lpstr>Montserrat</vt:lpstr>
      <vt:lpstr>Simple Light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cp:lastModifiedBy>Fabio</cp:lastModifiedBy>
  <cp:revision>1223</cp:revision>
  <dcterms:modified xsi:type="dcterms:W3CDTF">2026-01-07T22:11:01Z</dcterms:modified>
</cp:coreProperties>
</file>