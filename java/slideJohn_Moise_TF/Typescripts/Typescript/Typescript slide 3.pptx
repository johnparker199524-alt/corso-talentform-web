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67" r:id="rId3"/>
    <p:sldId id="284" r:id="rId4"/>
    <p:sldId id="257" r:id="rId5"/>
    <p:sldId id="281" r:id="rId6"/>
    <p:sldId id="282" r:id="rId7"/>
    <p:sldId id="258" r:id="rId8"/>
    <p:sldId id="285" r:id="rId9"/>
    <p:sldId id="268" r:id="rId10"/>
    <p:sldId id="283" r:id="rId11"/>
    <p:sldId id="259" r:id="rId12"/>
    <p:sldId id="272" r:id="rId13"/>
    <p:sldId id="275" r:id="rId14"/>
    <p:sldId id="273" r:id="rId15"/>
    <p:sldId id="271" r:id="rId16"/>
    <p:sldId id="260" r:id="rId17"/>
    <p:sldId id="276" r:id="rId18"/>
    <p:sldId id="277" r:id="rId19"/>
    <p:sldId id="278" r:id="rId20"/>
    <p:sldId id="270" r:id="rId21"/>
    <p:sldId id="263" r:id="rId22"/>
    <p:sldId id="264" r:id="rId23"/>
    <p:sldId id="280" r:id="rId24"/>
    <p:sldId id="261" r:id="rId25"/>
    <p:sldId id="279" r:id="rId26"/>
    <p:sldId id="262" r:id="rId27"/>
    <p:sldId id="265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Montserrat Light" pitchFamily="2" charset="77"/>
      <p:regular r:id="rId38"/>
      <p:bold r:id="rId39"/>
      <p:italic r:id="rId40"/>
      <p:boldItalic r:id="rId41"/>
    </p:embeddedFont>
    <p:embeddedFont>
      <p:font typeface="Montserrat SemiBold" pitchFamily="2" charset="77"/>
      <p:regular r:id="rId42"/>
      <p:bold r:id="rId43"/>
      <p:italic r:id="rId44"/>
      <p:boldItalic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Open Sans ExtraBold" panose="020B0606030504020204" pitchFamily="34" charset="0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7">
          <p15:clr>
            <a:srgbClr val="9AA0A6"/>
          </p15:clr>
        </p15:guide>
        <p15:guide id="2" pos="227">
          <p15:clr>
            <a:srgbClr val="9AA0A6"/>
          </p15:clr>
        </p15:guide>
        <p15:guide id="3" pos="5533">
          <p15:clr>
            <a:srgbClr val="9AA0A6"/>
          </p15:clr>
        </p15:guide>
        <p15:guide id="4" orient="horz" pos="1153">
          <p15:clr>
            <a:srgbClr val="9AA0A6"/>
          </p15:clr>
        </p15:guide>
        <p15:guide id="5" orient="horz" pos="624">
          <p15:clr>
            <a:srgbClr val="9AA0A6"/>
          </p15:clr>
        </p15:guide>
        <p15:guide id="6" orient="horz" pos="938">
          <p15:clr>
            <a:srgbClr val="9AA0A6"/>
          </p15:clr>
        </p15:guide>
        <p15:guide id="7" orient="horz" pos="1387">
          <p15:clr>
            <a:srgbClr val="9AA0A6"/>
          </p15:clr>
        </p15:guide>
        <p15:guide id="8" orient="horz" pos="460">
          <p15:clr>
            <a:srgbClr val="9AA0A6"/>
          </p15:clr>
        </p15:guide>
        <p15:guide id="9" orient="horz" pos="1845">
          <p15:clr>
            <a:srgbClr val="9AA0A6"/>
          </p15:clr>
        </p15:guide>
        <p15:guide id="10" orient="horz" pos="2769">
          <p15:clr>
            <a:srgbClr val="9AA0A6"/>
          </p15:clr>
        </p15:guide>
        <p15:guide id="11" orient="horz" pos="2991">
          <p15:clr>
            <a:srgbClr val="9AA0A6"/>
          </p15:clr>
        </p15:guide>
        <p15:guide id="12" pos="2880">
          <p15:clr>
            <a:srgbClr val="9AA0A6"/>
          </p15:clr>
        </p15:guide>
        <p15:guide id="13" pos="1553">
          <p15:clr>
            <a:srgbClr val="9AA0A6"/>
          </p15:clr>
        </p15:guide>
        <p15:guide id="14" pos="4008">
          <p15:clr>
            <a:srgbClr val="9AA0A6"/>
          </p15:clr>
        </p15:guide>
        <p15:guide id="15" pos="2217">
          <p15:clr>
            <a:srgbClr val="9AA0A6"/>
          </p15:clr>
        </p15:guide>
        <p15:guide id="16" pos="3742">
          <p15:clr>
            <a:srgbClr val="9AA0A6"/>
          </p15:clr>
        </p15:guide>
        <p15:guide id="17" pos="890">
          <p15:clr>
            <a:srgbClr val="9AA0A6"/>
          </p15:clr>
        </p15:guide>
        <p15:guide id="18" pos="4870">
          <p15:clr>
            <a:srgbClr val="9AA0A6"/>
          </p15:clr>
        </p15:guide>
        <p15:guide id="19" pos="2993">
          <p15:clr>
            <a:srgbClr val="9AA0A6"/>
          </p15:clr>
        </p15:guide>
        <p15:guide id="20" pos="2755">
          <p15:clr>
            <a:srgbClr val="9AA0A6"/>
          </p15:clr>
        </p15:guide>
        <p15:guide id="21" pos="1885">
          <p15:clr>
            <a:srgbClr val="9AA0A6"/>
          </p15:clr>
        </p15:guide>
        <p15:guide id="22" pos="3875">
          <p15:clr>
            <a:srgbClr val="9AA0A6"/>
          </p15:clr>
        </p15:guide>
        <p15:guide id="23" pos="1719">
          <p15:clr>
            <a:srgbClr val="9AA0A6"/>
          </p15:clr>
        </p15:guide>
        <p15:guide id="24" pos="547">
          <p15:clr>
            <a:srgbClr val="9AA0A6"/>
          </p15:clr>
        </p15:guide>
        <p15:guide id="25" orient="horz" pos="2155">
          <p15:clr>
            <a:srgbClr val="9AA0A6"/>
          </p15:clr>
        </p15:guide>
        <p15:guide id="26" pos="397">
          <p15:clr>
            <a:srgbClr val="9AA0A6"/>
          </p15:clr>
        </p15:guide>
        <p15:guide id="27" orient="horz" pos="1045">
          <p15:clr>
            <a:srgbClr val="9AA0A6"/>
          </p15:clr>
        </p15:guide>
        <p15:guide id="28" orient="horz" pos="357">
          <p15:clr>
            <a:srgbClr val="9AA0A6"/>
          </p15:clr>
        </p15:guide>
        <p15:guide id="29" orient="horz" pos="1542">
          <p15:clr>
            <a:srgbClr val="9AA0A6"/>
          </p15:clr>
        </p15:guide>
        <p15:guide id="30" orient="horz" pos="1004">
          <p15:clr>
            <a:srgbClr val="9AA0A6"/>
          </p15:clr>
        </p15:guide>
        <p15:guide id="31" pos="296">
          <p15:clr>
            <a:srgbClr val="9AA0A6"/>
          </p15:clr>
        </p15:guide>
        <p15:guide id="32" pos="1058">
          <p15:clr>
            <a:srgbClr val="9AA0A6"/>
          </p15:clr>
        </p15:guide>
        <p15:guide id="33" pos="2071">
          <p15:clr>
            <a:srgbClr val="9AA0A6"/>
          </p15:clr>
        </p15:guide>
        <p15:guide id="34" orient="horz" pos="757">
          <p15:clr>
            <a:srgbClr val="9AA0A6"/>
          </p15:clr>
        </p15:guide>
        <p15:guide id="35" orient="horz" pos="58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hjZWlhIj3f2TkjQMScbRLNxwvH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FB6369-2246-4FD1-89E7-8DA666078096}" v="41" dt="2021-08-10T15:49:38.664"/>
    <p1510:client id="{3C52E457-4584-4D52-BE28-A1A837BB72BF}" v="117" dt="2021-08-10T10:35:23.432"/>
    <p1510:client id="{46B5B98D-5BE5-4037-926E-D93563A9FF9D}" v="568" dt="2021-07-31T16:15:52.165"/>
    <p1510:client id="{49F3088F-511A-419B-BB97-A3D3C2876C1A}" v="37" dt="2021-07-23T07:43:59.147"/>
    <p1510:client id="{5D511289-8DE2-4A4E-A369-7B34E7DD8C4E}" v="142" dt="2021-07-30T21:11:03.343"/>
    <p1510:client id="{7FA4FEBF-1EE8-4ECA-802A-B31532495B30}" v="93" dt="2021-07-22T20:22:27.461"/>
    <p1510:client id="{9557F721-A033-4F3C-B329-6E929C5D8DFD}" v="31" dt="2021-08-07T12:12:01.201"/>
    <p1510:client id="{CA2313FF-D272-4E35-8094-6AE3575D7132}" v="71" dt="2021-07-31T14:37:16"/>
    <p1510:client id="{E39B69C9-EB8B-4B15-A474-1A0C0426778B}" v="35" dt="2021-07-31T17:00:27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5"/>
  </p:normalViewPr>
  <p:slideViewPr>
    <p:cSldViewPr snapToGrid="0">
      <p:cViewPr varScale="1">
        <p:scale>
          <a:sx n="156" d="100"/>
          <a:sy n="156" d="100"/>
        </p:scale>
        <p:origin x="488" y="168"/>
      </p:cViewPr>
      <p:guideLst>
        <p:guide orient="horz" pos="227"/>
        <p:guide pos="227"/>
        <p:guide pos="5533"/>
        <p:guide orient="horz" pos="1153"/>
        <p:guide orient="horz" pos="624"/>
        <p:guide orient="horz" pos="938"/>
        <p:guide orient="horz" pos="1387"/>
        <p:guide orient="horz" pos="460"/>
        <p:guide orient="horz" pos="1845"/>
        <p:guide orient="horz" pos="2769"/>
        <p:guide orient="horz" pos="2991"/>
        <p:guide pos="2880"/>
        <p:guide pos="1553"/>
        <p:guide pos="4008"/>
        <p:guide pos="2217"/>
        <p:guide pos="3742"/>
        <p:guide pos="890"/>
        <p:guide pos="4870"/>
        <p:guide pos="2993"/>
        <p:guide pos="2755"/>
        <p:guide pos="1885"/>
        <p:guide pos="3875"/>
        <p:guide pos="1719"/>
        <p:guide pos="547"/>
        <p:guide orient="horz" pos="2155"/>
        <p:guide pos="397"/>
        <p:guide orient="horz" pos="1045"/>
        <p:guide orient="horz" pos="357"/>
        <p:guide orient="horz" pos="1542"/>
        <p:guide orient="horz" pos="1004"/>
        <p:guide pos="296"/>
        <p:guide pos="1058"/>
        <p:guide pos="2071"/>
        <p:guide orient="horz" pos="757"/>
        <p:guide orient="horz" pos="5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font" Target="fonts/font2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2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font" Target="fonts/font20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font" Target="fonts/font23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5352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9869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0644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658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684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6255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971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7920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713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1318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7034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0033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96092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6016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33799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4871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51843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-Meet the Crew Slide">
  <p:cSld name="13-Meet the Crew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>
            <a:spLocks noGrp="1"/>
          </p:cNvSpPr>
          <p:nvPr>
            <p:ph type="pic" idx="2"/>
          </p:nvPr>
        </p:nvSpPr>
        <p:spPr>
          <a:xfrm>
            <a:off x="1060235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>
            <a:spLocks noGrp="1"/>
          </p:cNvSpPr>
          <p:nvPr>
            <p:ph type="pic" idx="3"/>
          </p:nvPr>
        </p:nvSpPr>
        <p:spPr>
          <a:xfrm>
            <a:off x="3049596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>
            <a:spLocks noGrp="1"/>
          </p:cNvSpPr>
          <p:nvPr>
            <p:ph type="pic" idx="4"/>
          </p:nvPr>
        </p:nvSpPr>
        <p:spPr>
          <a:xfrm>
            <a:off x="5038958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>
            <a:spLocks noGrp="1"/>
          </p:cNvSpPr>
          <p:nvPr>
            <p:ph type="pic" idx="5"/>
          </p:nvPr>
        </p:nvSpPr>
        <p:spPr>
          <a:xfrm>
            <a:off x="7028318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/>
          <p:nvPr/>
        </p:nvSpPr>
        <p:spPr>
          <a:xfrm>
            <a:off x="123324" y="2496729"/>
            <a:ext cx="317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 sz="1000" b="1" i="0" u="none" strike="noStrike" cap="none">
                <a:solidFill>
                  <a:schemeClr val="accent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‹N›</a:t>
            </a:fld>
            <a:endParaRPr sz="1000" b="1" i="0" u="none" strike="noStrike" cap="none">
              <a:solidFill>
                <a:schemeClr val="accent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6">
          <p15:clr>
            <a:srgbClr val="FBAE40"/>
          </p15:clr>
        </p15:guide>
        <p15:guide id="2" pos="5364">
          <p15:clr>
            <a:srgbClr val="FBAE40"/>
          </p15:clr>
        </p15:guide>
        <p15:guide id="3" orient="horz" pos="2850">
          <p15:clr>
            <a:srgbClr val="FBAE40"/>
          </p15:clr>
        </p15:guide>
        <p15:guide id="4" orient="horz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/>
        </p:nvSpPr>
        <p:spPr>
          <a:xfrm>
            <a:off x="342975" y="3749334"/>
            <a:ext cx="76704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it-IT" sz="3300" b="0" i="0" u="none" strike="noStrike" cap="none" dirty="0" err="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Typescript</a:t>
            </a:r>
            <a:endParaRPr sz="3300" b="0" i="0" u="none" strike="noStrike" cap="none" dirty="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342975" y="3462734"/>
            <a:ext cx="44796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364867" y="4198158"/>
            <a:ext cx="76704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dirty="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Docente:</a:t>
            </a:r>
            <a:r>
              <a:rPr lang="it-IT" sz="2000" dirty="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– Fabio Di </a:t>
            </a:r>
            <a:r>
              <a:rPr lang="it-IT" sz="20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Gloria</a:t>
            </a:r>
            <a:r>
              <a:rPr lang="it-IT" sz="2000" b="0" i="0" u="none" strike="noStrike" cap="non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 SLIDE 3</a:t>
            </a:r>
            <a:endParaRPr sz="2000" b="0" i="0" u="none" strike="noStrike" cap="none" dirty="0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414241" y="2331199"/>
            <a:ext cx="8606276" cy="68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  <a:ea typeface="Consolas"/>
                <a:cs typeface="Consolas"/>
                <a:sym typeface="Consolas"/>
              </a:rPr>
              <a:t>                    Proprietà e relazioni tra classi</a:t>
            </a:r>
            <a:r>
              <a:rPr lang="it-IT" sz="1600" b="0" i="0" u="none" strike="noStrike" cap="none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 </a:t>
            </a:r>
            <a:r>
              <a:rPr lang="it-IT" sz="1400" b="0" i="0" u="none" strike="noStrike" cap="none" dirty="0">
                <a:solidFill>
                  <a:srgbClr val="FF0000"/>
                </a:solidFill>
                <a:ea typeface="Open Sans"/>
                <a:cs typeface="Open Sans"/>
                <a:sym typeface="Open Sans"/>
              </a:rPr>
              <a:t>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6721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/>
        </p:nvSpPr>
        <p:spPr>
          <a:xfrm>
            <a:off x="362580" y="538935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360200" y="1069970"/>
            <a:ext cx="7454874" cy="210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Proprietà </a:t>
            </a:r>
            <a:r>
              <a:rPr lang="it-IT" sz="16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read</a:t>
            </a: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6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only</a:t>
            </a: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-getter and </a:t>
            </a: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setter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  <p:sp>
        <p:nvSpPr>
          <p:cNvPr id="75" name="Google Shape;75;p7"/>
          <p:cNvSpPr txBox="1"/>
          <p:nvPr/>
        </p:nvSpPr>
        <p:spPr>
          <a:xfrm>
            <a:off x="325427" y="1739175"/>
            <a:ext cx="5254098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700"/>
            </a:pP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proprietà </a:t>
            </a:r>
            <a:r>
              <a:rPr lang="it-IT" sz="2000" b="0" i="0" u="none" strike="noStrike" cap="none" baseline="30000" dirty="0" err="1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it-IT" sz="2000" b="0" i="0" u="none" strike="noStrike" cap="none" baseline="30000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2000" b="0" i="0" u="none" strike="noStrike" cap="none" baseline="30000" dirty="0" err="1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è una caratteristica di </a:t>
            </a:r>
            <a:r>
              <a:rPr lang="it-IT" sz="2000" b="0" i="0" u="none" strike="noStrike" cap="none" baseline="30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che può essere referenziata ma non inizializzata dal costruttore e viene definita di sola lettura.</a:t>
            </a:r>
            <a:br>
              <a:rPr lang="it-IT" sz="2000" b="0" i="0" u="none" strike="noStrike" cap="none" baseline="30000" dirty="0">
                <a:latin typeface="Arial"/>
                <a:ea typeface="Arial"/>
                <a:cs typeface="Arial"/>
              </a:rPr>
            </a:br>
            <a:r>
              <a:rPr lang="it-IT" sz="2000" b="0" i="0" u="none" strike="noStrike" cap="none" baseline="30000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lang="it-IT" sz="2000" b="0" i="0" u="none" strike="noStrike" cap="none" baseline="30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it-IT" sz="2000" b="0" i="0" u="none" strike="noStrike" cap="none" baseline="300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set </a:t>
            </a: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sono proprietà che vengono applicate a metodi di lettura (</a:t>
            </a:r>
            <a:r>
              <a:rPr lang="it-IT" sz="2000" b="0" i="0" u="none" strike="noStrike" cap="none" baseline="30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quando ad esempio il metodo avrà un </a:t>
            </a:r>
            <a:r>
              <a:rPr lang="it-IT" sz="2000" b="0" i="0" u="none" strike="noStrike" cap="none" baseline="30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mentre scrittura (set) </a:t>
            </a:r>
            <a:r>
              <a:rPr lang="it-IT" sz="2000" baseline="30000" dirty="0"/>
              <a:t>sarà di tipo </a:t>
            </a:r>
            <a:r>
              <a:rPr lang="it-IT" sz="2000" baseline="30000" dirty="0" err="1"/>
              <a:t>void</a:t>
            </a:r>
            <a:r>
              <a:rPr lang="it-IT" sz="2000" baseline="30000" dirty="0"/>
              <a:t> e potrà essere utile per gestire un controllo o un eccezione oppure referenziare  </a:t>
            </a:r>
            <a:r>
              <a:rPr lang="it-IT" sz="20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 inizializzare </a:t>
            </a:r>
            <a:r>
              <a:rPr lang="it-IT" sz="2000" baseline="30000" dirty="0"/>
              <a:t>una proprietà.</a:t>
            </a:r>
            <a:endParaRPr lang="it-IT"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947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/>
        </p:nvSpPr>
        <p:spPr>
          <a:xfrm>
            <a:off x="362580" y="538935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360200" y="1069970"/>
            <a:ext cx="7454874" cy="210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super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354400" y="1618602"/>
            <a:ext cx="438206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comando </a:t>
            </a:r>
            <a:r>
              <a:rPr lang="it-IT" b="0" i="0" u="none" strike="noStrike" cap="none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lang="it-IT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viene utilizzato nel paradigma dell'ereditarietà quando ad esempio nella sottoclasse voglio utilizzare e referenziare proprietà o metodi appartenenti alla superclasse una volta definito il costruttore della classe.</a:t>
            </a:r>
            <a:endParaRPr lang="it-IT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362560" y="2788115"/>
            <a:ext cx="4472739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Esempio: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B </a:t>
            </a: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extends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{</a:t>
            </a:r>
            <a:endParaRPr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r:string,</a:t>
            </a:r>
            <a:r>
              <a:rPr lang="it-IT" sz="1200" b="0" i="0" u="none" strike="noStrike" cap="none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readonly</a:t>
            </a:r>
            <a:r>
              <a:rPr lang="it-IT" sz="1200" b="0" i="0" u="none" strike="noStrike" cap="non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n:number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(r)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dirty="0">
                <a:solidFill>
                  <a:schemeClr val="dk1"/>
                </a:solidFill>
              </a:rPr>
              <a:t>}}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= new B('rosso');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312821" y="31920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303940" y="900023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Consolas"/>
              </a:rPr>
              <a:t>Read </a:t>
            </a:r>
            <a:r>
              <a:rPr lang="it-IT" sz="16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Consolas"/>
              </a:rPr>
              <a:t>only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  <p:pic>
        <p:nvPicPr>
          <p:cNvPr id="3" name="Immagine 3" descr="Immagine che contiene testo, screenshot, monitor, nero&#10;&#10;Descrizione generata automaticamente">
            <a:extLst>
              <a:ext uri="{FF2B5EF4-FFF2-40B4-BE49-F238E27FC236}">
                <a16:creationId xmlns:a16="http://schemas.microsoft.com/office/drawing/2014/main" id="{8185D6B5-7AE0-459B-92CA-92D4835F8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356750"/>
            <a:ext cx="5612643" cy="336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5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266498" y="206538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266498" y="828558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Consolas"/>
              </a:rPr>
              <a:t>Get</a:t>
            </a: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Consolas"/>
              </a:rPr>
              <a:t> e Set</a:t>
            </a:r>
            <a:r>
              <a:rPr lang="it-IT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6</a:t>
            </a:fld>
            <a:endParaRPr/>
          </a:p>
        </p:txBody>
      </p:sp>
      <p:pic>
        <p:nvPicPr>
          <p:cNvPr id="2" name="Immagine 3" descr="Immagine che contiene testo, screenshot, monitor&#10;&#10;Descrizione generata automaticamente">
            <a:extLst>
              <a:ext uri="{FF2B5EF4-FFF2-40B4-BE49-F238E27FC236}">
                <a16:creationId xmlns:a16="http://schemas.microsoft.com/office/drawing/2014/main" id="{59DE0C07-E306-4FDF-BA84-2600B7877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326482"/>
            <a:ext cx="5730307" cy="33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4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221411" y="18796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221411" y="851584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Relazione tra classi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221411" y="1796191"/>
            <a:ext cx="4279253" cy="2287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800"/>
            </a:pP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Nella programmazione ad oggetti, spesso una classe si interfaccia con una o più classi, interagendo per scambiare informazioni o per </a:t>
            </a:r>
            <a:r>
              <a:rPr lang="it-IT" sz="1800" baseline="30000" dirty="0"/>
              <a:t>invocare l’esecuzione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 un metodo.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800"/>
            </a:pP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comunicazioni che intercorrono tra classi consentono di identificare il tipo </a:t>
            </a:r>
            <a:r>
              <a:rPr lang="it-IT" sz="1800" baseline="30000" dirty="0"/>
              <a:t>di relazione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che intercorre tra esse.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318023" y="645783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315769" y="1363562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Relazione tra classi</a:t>
            </a:r>
            <a:r>
              <a:rPr lang="it-IT" sz="1600" b="1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2664737" y="1938860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Associazione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8"/>
          <p:cNvSpPr txBox="1"/>
          <p:nvPr/>
        </p:nvSpPr>
        <p:spPr>
          <a:xfrm>
            <a:off x="5701376" y="1949026"/>
            <a:ext cx="2743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Aggregazione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ha una relazione di aggregazione tra due classi A e B se un’istanza di A è possibile accedere ad un’istanza di B e B è una proprietà di 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2664274" y="3209682"/>
            <a:ext cx="445770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Composizione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composizione è un tipo più forte di aggregazione ed implica vincoli precisi: le classi che sono parte non possono esistere senza la classe principale (cioè la classe intero).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200"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 esempio, un’istanza della classe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RigaOrdine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 senso solo se legata </a:t>
            </a:r>
            <a:r>
              <a:rPr lang="it-IT" sz="1200" dirty="0"/>
              <a:t>ad un’istanza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della classe Ordine.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1038784" y="2088895"/>
            <a:ext cx="361389" cy="2941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332813" y="3055845"/>
            <a:ext cx="361389" cy="29415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1727945" y="3055844"/>
            <a:ext cx="361389" cy="30255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BA7C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8"/>
          <p:cNvCxnSpPr/>
          <p:nvPr/>
        </p:nvCxnSpPr>
        <p:spPr>
          <a:xfrm>
            <a:off x="1433792" y="2492749"/>
            <a:ext cx="437029" cy="537882"/>
          </a:xfrm>
          <a:prstGeom prst="straightConnector1">
            <a:avLst/>
          </a:prstGeom>
          <a:noFill/>
          <a:ln w="9525" cap="flat" cmpd="sng">
            <a:solidFill>
              <a:srgbClr val="FDA7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" name="Google Shape;95;p8"/>
          <p:cNvCxnSpPr/>
          <p:nvPr/>
        </p:nvCxnSpPr>
        <p:spPr>
          <a:xfrm flipH="1">
            <a:off x="551330" y="2408705"/>
            <a:ext cx="487455" cy="714375"/>
          </a:xfrm>
          <a:prstGeom prst="straightConnector1">
            <a:avLst/>
          </a:prstGeom>
          <a:noFill/>
          <a:ln w="9525" cap="flat" cmpd="sng">
            <a:solidFill>
              <a:srgbClr val="FDA7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8"/>
          <p:cNvSpPr txBox="1"/>
          <p:nvPr/>
        </p:nvSpPr>
        <p:spPr>
          <a:xfrm>
            <a:off x="2662518" y="2242297"/>
            <a:ext cx="2743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ha una relazione di associazione tra due classi A e B se da un’istanza di A è possibile accedere ad un’istanza di 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7262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6C5F679-B606-4AEB-A3DD-5B55BFCBCF5E}"/>
              </a:ext>
            </a:extLst>
          </p:cNvPr>
          <p:cNvSpPr txBox="1"/>
          <p:nvPr/>
        </p:nvSpPr>
        <p:spPr>
          <a:xfrm>
            <a:off x="305301" y="1425742"/>
            <a:ext cx="2743199" cy="3062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solidFill>
                  <a:srgbClr val="FF0000"/>
                </a:solidFill>
              </a:rPr>
              <a:t>Associazione</a:t>
            </a:r>
          </a:p>
          <a:p>
            <a:endParaRPr lang="it-IT" sz="1200" dirty="0"/>
          </a:p>
          <a:p>
            <a:r>
              <a:rPr lang="it-IT" sz="1100" dirty="0"/>
              <a:t>L’Associazione la relazione più intuitiva e più diffusa.</a:t>
            </a:r>
          </a:p>
          <a:p>
            <a:r>
              <a:rPr lang="it-IT" sz="1100" dirty="0"/>
              <a:t>Si ha una relazione di associazione tra due classi A e B se da un’istanza di A è possibile accedere ad un’istanza di B.</a:t>
            </a:r>
          </a:p>
          <a:p>
            <a:r>
              <a:rPr lang="it-IT" sz="1100" dirty="0"/>
              <a:t>Esempio: un utente può avere più numeri di telefono.</a:t>
            </a:r>
          </a:p>
          <a:p>
            <a:r>
              <a:rPr lang="it-IT" sz="1100" dirty="0"/>
              <a:t>All’associazione è possibile assegnare un nome (ad </a:t>
            </a:r>
            <a:r>
              <a:rPr lang="it-IT" sz="1100" dirty="0" err="1"/>
              <a:t>es</a:t>
            </a:r>
            <a:r>
              <a:rPr lang="it-IT" sz="1100" dirty="0"/>
              <a:t> «possiede») e darle</a:t>
            </a:r>
          </a:p>
          <a:p>
            <a:r>
              <a:rPr lang="it-IT" sz="1100" dirty="0"/>
              <a:t>una direzione, che indica il verso in cui avviene la navigazione tra le classi.</a:t>
            </a:r>
          </a:p>
          <a:p>
            <a:r>
              <a:rPr lang="it-IT" sz="1100" dirty="0"/>
              <a:t>Se la navigazione è bidirezionale non è necessario inserire le frecce.</a:t>
            </a:r>
          </a:p>
          <a:p>
            <a:endParaRPr lang="it-IT" sz="1100" dirty="0"/>
          </a:p>
          <a:p>
            <a:r>
              <a:rPr lang="it-IT" sz="1100" dirty="0"/>
              <a:t>User                       Phone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05E99F2-C45C-478E-8209-C1D98FA9CF4E}"/>
              </a:ext>
            </a:extLst>
          </p:cNvPr>
          <p:cNvSpPr txBox="1"/>
          <p:nvPr/>
        </p:nvSpPr>
        <p:spPr>
          <a:xfrm>
            <a:off x="267703" y="658729"/>
            <a:ext cx="274319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400" dirty="0" err="1"/>
              <a:t>Typescript</a:t>
            </a:r>
            <a:endParaRPr lang="it-IT" sz="24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9B490FA-52A1-4BED-8F99-F7FCD57EF525}"/>
              </a:ext>
            </a:extLst>
          </p:cNvPr>
          <p:cNvSpPr txBox="1"/>
          <p:nvPr/>
        </p:nvSpPr>
        <p:spPr>
          <a:xfrm>
            <a:off x="3200400" y="1472187"/>
            <a:ext cx="274320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Aggregazione</a:t>
            </a:r>
            <a:endParaRPr lang="en-US" sz="1600">
              <a:solidFill>
                <a:srgbClr val="FF0000"/>
              </a:solidFill>
            </a:endParaRPr>
          </a:p>
          <a:p>
            <a:endParaRPr lang="en-US" sz="1200" dirty="0"/>
          </a:p>
          <a:p>
            <a:r>
              <a:rPr lang="en-US" sz="1100" dirty="0" err="1"/>
              <a:t>L’aggregazione</a:t>
            </a:r>
            <a:r>
              <a:rPr lang="en-US" sz="1100" dirty="0"/>
              <a:t> è una forma di </a:t>
            </a:r>
            <a:r>
              <a:rPr lang="en-US" sz="1100" dirty="0" err="1"/>
              <a:t>associazione</a:t>
            </a:r>
            <a:r>
              <a:rPr lang="en-US" sz="1100" dirty="0"/>
              <a:t> </a:t>
            </a:r>
            <a:r>
              <a:rPr lang="en-US" sz="1100" dirty="0" err="1"/>
              <a:t>più</a:t>
            </a:r>
            <a:r>
              <a:rPr lang="en-US" sz="1100" dirty="0"/>
              <a:t> forte.</a:t>
            </a:r>
          </a:p>
          <a:p>
            <a:r>
              <a:rPr lang="en-US" sz="1100" dirty="0"/>
              <a:t>Si </a:t>
            </a:r>
            <a:r>
              <a:rPr lang="en-US" sz="1100" dirty="0" err="1"/>
              <a:t>ha</a:t>
            </a:r>
            <a:r>
              <a:rPr lang="en-US" sz="1100" dirty="0"/>
              <a:t> una </a:t>
            </a:r>
            <a:r>
              <a:rPr lang="en-US" sz="1100" dirty="0" err="1"/>
              <a:t>relazione</a:t>
            </a:r>
            <a:r>
              <a:rPr lang="en-US" sz="1100" dirty="0"/>
              <a:t> di </a:t>
            </a:r>
            <a:r>
              <a:rPr lang="en-US" sz="1100" dirty="0" err="1"/>
              <a:t>aggregazione</a:t>
            </a:r>
            <a:r>
              <a:rPr lang="en-US" sz="1100" dirty="0"/>
              <a:t> </a:t>
            </a:r>
            <a:r>
              <a:rPr lang="en-US" sz="1100" dirty="0" err="1"/>
              <a:t>tra</a:t>
            </a:r>
            <a:r>
              <a:rPr lang="en-US" sz="1100" dirty="0"/>
              <a:t> due </a:t>
            </a:r>
            <a:r>
              <a:rPr lang="en-US" sz="1100" dirty="0" err="1"/>
              <a:t>classi</a:t>
            </a:r>
            <a:r>
              <a:rPr lang="en-US" sz="1100" dirty="0"/>
              <a:t> A e B se </a:t>
            </a:r>
            <a:r>
              <a:rPr lang="en-US" sz="1100" dirty="0" err="1"/>
              <a:t>un’istanza</a:t>
            </a:r>
            <a:r>
              <a:rPr lang="en-US" sz="1100" dirty="0"/>
              <a:t> di A è </a:t>
            </a:r>
            <a:r>
              <a:rPr lang="en-US" sz="1100" dirty="0" err="1"/>
              <a:t>possibile</a:t>
            </a:r>
            <a:r>
              <a:rPr lang="en-US" sz="1100" dirty="0"/>
              <a:t> </a:t>
            </a:r>
            <a:r>
              <a:rPr lang="en-US" sz="1100" dirty="0" err="1"/>
              <a:t>accedere</a:t>
            </a:r>
            <a:r>
              <a:rPr lang="en-US" sz="1100" dirty="0"/>
              <a:t> ad </a:t>
            </a:r>
            <a:r>
              <a:rPr lang="en-US" sz="1100" dirty="0" err="1"/>
              <a:t>un’istanza</a:t>
            </a:r>
            <a:r>
              <a:rPr lang="en-US" sz="1100" dirty="0"/>
              <a:t> di B e B è una </a:t>
            </a:r>
            <a:r>
              <a:rPr lang="en-US" sz="1100" dirty="0" err="1"/>
              <a:t>proprietà</a:t>
            </a:r>
            <a:r>
              <a:rPr lang="en-US" sz="1100" dirty="0"/>
              <a:t> di A.</a:t>
            </a:r>
          </a:p>
          <a:p>
            <a:endParaRPr lang="en-US" sz="1100" dirty="0"/>
          </a:p>
          <a:p>
            <a:r>
              <a:rPr lang="en-US" sz="1100" dirty="0"/>
              <a:t>Questa </a:t>
            </a:r>
            <a:r>
              <a:rPr lang="en-US" sz="1100" dirty="0" err="1"/>
              <a:t>relazione</a:t>
            </a:r>
            <a:r>
              <a:rPr lang="en-US" sz="1100" dirty="0"/>
              <a:t> indica </a:t>
            </a:r>
            <a:r>
              <a:rPr lang="en-US" sz="1100" dirty="0" err="1"/>
              <a:t>che</a:t>
            </a:r>
            <a:r>
              <a:rPr lang="en-US" sz="1100" dirty="0"/>
              <a:t> una </a:t>
            </a:r>
            <a:r>
              <a:rPr lang="en-US" sz="1100" dirty="0" err="1"/>
              <a:t>classe</a:t>
            </a:r>
            <a:r>
              <a:rPr lang="en-US" sz="1100" dirty="0"/>
              <a:t> (</a:t>
            </a:r>
            <a:r>
              <a:rPr lang="en-US" sz="1100" dirty="0" err="1"/>
              <a:t>che</a:t>
            </a:r>
            <a:r>
              <a:rPr lang="en-US" sz="1100" dirty="0"/>
              <a:t> </a:t>
            </a:r>
            <a:r>
              <a:rPr lang="en-US" sz="1100" dirty="0" err="1"/>
              <a:t>chiamiamo</a:t>
            </a:r>
            <a:r>
              <a:rPr lang="en-US" sz="1100" dirty="0"/>
              <a:t> </a:t>
            </a:r>
            <a:r>
              <a:rPr lang="en-US" sz="1100" dirty="0" err="1"/>
              <a:t>intero</a:t>
            </a:r>
            <a:r>
              <a:rPr lang="en-US" sz="1100" dirty="0"/>
              <a:t>) </a:t>
            </a:r>
            <a:r>
              <a:rPr lang="en-US" sz="1100" dirty="0" err="1"/>
              <a:t>contiene</a:t>
            </a:r>
            <a:r>
              <a:rPr lang="en-US" sz="1100" dirty="0"/>
              <a:t> una o </a:t>
            </a:r>
            <a:r>
              <a:rPr lang="en-US" sz="1100" dirty="0" err="1"/>
              <a:t>più</a:t>
            </a:r>
            <a:r>
              <a:rPr lang="en-US" sz="1100" dirty="0"/>
              <a:t> </a:t>
            </a:r>
            <a:r>
              <a:rPr lang="en-US" sz="1100" dirty="0" err="1"/>
              <a:t>classi</a:t>
            </a:r>
            <a:r>
              <a:rPr lang="en-US" sz="1100" dirty="0"/>
              <a:t> (</a:t>
            </a:r>
            <a:r>
              <a:rPr lang="en-US" sz="1100" dirty="0" err="1"/>
              <a:t>che</a:t>
            </a:r>
            <a:r>
              <a:rPr lang="en-US" sz="1100" dirty="0"/>
              <a:t> </a:t>
            </a:r>
            <a:r>
              <a:rPr lang="en-US" sz="1100" dirty="0" err="1"/>
              <a:t>chiamiamo</a:t>
            </a:r>
            <a:r>
              <a:rPr lang="en-US" sz="1100" dirty="0"/>
              <a:t> parti) </a:t>
            </a:r>
            <a:r>
              <a:rPr lang="en-US" sz="1100" dirty="0" err="1"/>
              <a:t>che</a:t>
            </a:r>
            <a:r>
              <a:rPr lang="en-US" sz="1100" dirty="0"/>
              <a:t> </a:t>
            </a:r>
            <a:r>
              <a:rPr lang="en-US" sz="1100" dirty="0" err="1"/>
              <a:t>sono</a:t>
            </a:r>
            <a:r>
              <a:rPr lang="en-US" sz="1100" dirty="0"/>
              <a:t> </a:t>
            </a:r>
            <a:r>
              <a:rPr lang="en-US" sz="1100" dirty="0" err="1"/>
              <a:t>attributi</a:t>
            </a:r>
            <a:r>
              <a:rPr lang="en-US" sz="1100" dirty="0"/>
              <a:t>.</a:t>
            </a:r>
          </a:p>
          <a:p>
            <a:endParaRPr lang="en-US" sz="1100" dirty="0"/>
          </a:p>
          <a:p>
            <a:r>
              <a:rPr lang="en-US" sz="1100" dirty="0" err="1"/>
              <a:t>Esempio</a:t>
            </a:r>
            <a:r>
              <a:rPr lang="en-US" sz="1100" dirty="0"/>
              <a:t>: la </a:t>
            </a:r>
            <a:r>
              <a:rPr lang="en-US" sz="1100" dirty="0" err="1"/>
              <a:t>classe</a:t>
            </a:r>
            <a:r>
              <a:rPr lang="en-US" sz="1100" dirty="0"/>
              <a:t> Azienda (</a:t>
            </a:r>
            <a:r>
              <a:rPr lang="en-US" sz="1100" dirty="0" err="1"/>
              <a:t>che</a:t>
            </a:r>
            <a:r>
              <a:rPr lang="en-US" sz="1100" dirty="0"/>
              <a:t> </a:t>
            </a:r>
            <a:r>
              <a:rPr lang="en-US" sz="1100" dirty="0" err="1"/>
              <a:t>costituisce</a:t>
            </a:r>
            <a:r>
              <a:rPr lang="en-US" sz="1100" dirty="0"/>
              <a:t> </a:t>
            </a:r>
            <a:r>
              <a:rPr lang="en-US" sz="1100" dirty="0" err="1"/>
              <a:t>l'intero</a:t>
            </a:r>
            <a:r>
              <a:rPr lang="en-US" sz="1100" dirty="0"/>
              <a:t>) </a:t>
            </a:r>
            <a:r>
              <a:rPr lang="en-US" sz="1100" dirty="0" err="1"/>
              <a:t>aggrega</a:t>
            </a:r>
            <a:r>
              <a:rPr lang="en-US" sz="1100" dirty="0"/>
              <a:t> la </a:t>
            </a:r>
            <a:r>
              <a:rPr lang="en-US" sz="1100" dirty="0" err="1"/>
              <a:t>classe</a:t>
            </a:r>
            <a:r>
              <a:rPr lang="en-US" sz="1100" dirty="0"/>
              <a:t> </a:t>
            </a:r>
            <a:r>
              <a:rPr lang="en-US" sz="1100" dirty="0" err="1"/>
              <a:t>Utente</a:t>
            </a:r>
            <a:r>
              <a:rPr lang="en-US" sz="1100" dirty="0"/>
              <a:t> (</a:t>
            </a:r>
            <a:r>
              <a:rPr lang="en-US" sz="1100" dirty="0" err="1"/>
              <a:t>che</a:t>
            </a:r>
            <a:r>
              <a:rPr lang="en-US" sz="1100" dirty="0"/>
              <a:t> </a:t>
            </a:r>
            <a:r>
              <a:rPr lang="en-US" sz="1100" dirty="0" err="1"/>
              <a:t>costituisce</a:t>
            </a:r>
            <a:r>
              <a:rPr lang="en-US" sz="1100" dirty="0"/>
              <a:t> la </a:t>
            </a:r>
            <a:r>
              <a:rPr lang="en-US" sz="1100" dirty="0" err="1"/>
              <a:t>parte</a:t>
            </a:r>
            <a:r>
              <a:rPr lang="en-US" sz="1100" dirty="0"/>
              <a:t>), </a:t>
            </a:r>
            <a:r>
              <a:rPr lang="en-US" sz="1100" dirty="0" err="1"/>
              <a:t>perché</a:t>
            </a:r>
            <a:r>
              <a:rPr lang="en-US" sz="1100" dirty="0"/>
              <a:t> </a:t>
            </a:r>
            <a:r>
              <a:rPr lang="en-US" sz="1100" dirty="0" err="1"/>
              <a:t>un’azienda</a:t>
            </a:r>
            <a:r>
              <a:rPr lang="en-US" sz="1100" dirty="0"/>
              <a:t> è </a:t>
            </a:r>
            <a:r>
              <a:rPr lang="en-US" sz="1100" dirty="0" err="1"/>
              <a:t>composta</a:t>
            </a:r>
            <a:r>
              <a:rPr lang="en-US" sz="1100" dirty="0"/>
              <a:t> da </a:t>
            </a:r>
            <a:r>
              <a:rPr lang="en-US" sz="1100" dirty="0" err="1"/>
              <a:t>persone</a:t>
            </a:r>
            <a:r>
              <a:rPr lang="en-US" sz="1100" dirty="0"/>
              <a:t>.</a:t>
            </a:r>
          </a:p>
          <a:p>
            <a:endParaRPr lang="en-US" sz="1100" dirty="0"/>
          </a:p>
          <a:p>
            <a:r>
              <a:rPr lang="en-US" sz="1100" dirty="0"/>
              <a:t>Azienda                         </a:t>
            </a:r>
            <a:r>
              <a:rPr lang="en-US" sz="1100" dirty="0" err="1"/>
              <a:t>Utente</a:t>
            </a:r>
            <a:endParaRPr lang="en-US" sz="110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75B7679-7FF7-41D8-B6D4-9BBA002A1416}"/>
              </a:ext>
            </a:extLst>
          </p:cNvPr>
          <p:cNvSpPr txBox="1"/>
          <p:nvPr/>
        </p:nvSpPr>
        <p:spPr>
          <a:xfrm>
            <a:off x="6275088" y="1472186"/>
            <a:ext cx="2743200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Composizione</a:t>
            </a:r>
            <a:endParaRPr lang="en-US" sz="1600">
              <a:solidFill>
                <a:srgbClr val="FF0000"/>
              </a:solidFill>
            </a:endParaRP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/>
              <a:t>La </a:t>
            </a:r>
            <a:r>
              <a:rPr lang="en-US" sz="1200" dirty="0" err="1"/>
              <a:t>composizione</a:t>
            </a:r>
            <a:r>
              <a:rPr lang="en-US" sz="1200" dirty="0"/>
              <a:t> è un </a:t>
            </a:r>
            <a:r>
              <a:rPr lang="en-US" sz="1200" dirty="0" err="1"/>
              <a:t>tipo</a:t>
            </a:r>
            <a:r>
              <a:rPr lang="en-US" sz="1200" dirty="0"/>
              <a:t> </a:t>
            </a:r>
            <a:r>
              <a:rPr lang="en-US" sz="1200" dirty="0" err="1"/>
              <a:t>più</a:t>
            </a:r>
            <a:r>
              <a:rPr lang="en-US" sz="1200" dirty="0"/>
              <a:t> forte di </a:t>
            </a:r>
            <a:r>
              <a:rPr lang="en-US" sz="1200" dirty="0" err="1"/>
              <a:t>aggregazione</a:t>
            </a:r>
            <a:r>
              <a:rPr lang="en-US" sz="1200" dirty="0"/>
              <a:t> ed </a:t>
            </a:r>
            <a:r>
              <a:rPr lang="en-US" sz="1200" dirty="0" err="1"/>
              <a:t>implica</a:t>
            </a:r>
            <a:r>
              <a:rPr lang="en-US" sz="1200" dirty="0"/>
              <a:t> </a:t>
            </a:r>
            <a:r>
              <a:rPr lang="en-US" sz="1200" dirty="0" err="1"/>
              <a:t>vincoli</a:t>
            </a:r>
            <a:r>
              <a:rPr lang="en-US" sz="1200" dirty="0"/>
              <a:t> </a:t>
            </a:r>
            <a:r>
              <a:rPr lang="en-US" sz="1200" dirty="0" err="1"/>
              <a:t>precisi</a:t>
            </a:r>
            <a:r>
              <a:rPr lang="en-US" sz="1200" dirty="0"/>
              <a:t>: le </a:t>
            </a:r>
            <a:r>
              <a:rPr lang="en-US" sz="1200" dirty="0" err="1"/>
              <a:t>classi</a:t>
            </a:r>
            <a:r>
              <a:rPr lang="en-US" sz="1200" dirty="0"/>
              <a:t> </a:t>
            </a:r>
            <a:r>
              <a:rPr lang="en-US" sz="1200" dirty="0" err="1"/>
              <a:t>che</a:t>
            </a:r>
            <a:r>
              <a:rPr lang="en-US" sz="1200" dirty="0"/>
              <a:t> </a:t>
            </a:r>
            <a:r>
              <a:rPr lang="en-US" sz="1200" dirty="0" err="1"/>
              <a:t>sono</a:t>
            </a:r>
            <a:r>
              <a:rPr lang="en-US" sz="1200" dirty="0"/>
              <a:t> </a:t>
            </a:r>
            <a:r>
              <a:rPr lang="en-US" sz="1200" dirty="0" err="1"/>
              <a:t>parte</a:t>
            </a:r>
            <a:r>
              <a:rPr lang="en-US" sz="1200" dirty="0"/>
              <a:t> non </a:t>
            </a:r>
            <a:r>
              <a:rPr lang="en-US" sz="1200" dirty="0" err="1"/>
              <a:t>possono</a:t>
            </a:r>
            <a:r>
              <a:rPr lang="en-US" sz="1200" dirty="0"/>
              <a:t> </a:t>
            </a:r>
            <a:r>
              <a:rPr lang="en-US" sz="1200" dirty="0" err="1"/>
              <a:t>esistere</a:t>
            </a:r>
            <a:r>
              <a:rPr lang="en-US" sz="1200" dirty="0"/>
              <a:t> senza la </a:t>
            </a:r>
            <a:r>
              <a:rPr lang="en-US" sz="1200" dirty="0" err="1"/>
              <a:t>classe</a:t>
            </a:r>
            <a:r>
              <a:rPr lang="en-US" sz="1200" dirty="0"/>
              <a:t> </a:t>
            </a:r>
            <a:r>
              <a:rPr lang="en-US" sz="1200" dirty="0" err="1"/>
              <a:t>principale</a:t>
            </a:r>
            <a:r>
              <a:rPr lang="en-US" sz="1200" dirty="0"/>
              <a:t> (</a:t>
            </a:r>
            <a:r>
              <a:rPr lang="en-US" sz="1200" dirty="0" err="1"/>
              <a:t>cioè</a:t>
            </a:r>
            <a:r>
              <a:rPr lang="en-US" sz="1200" dirty="0"/>
              <a:t> la </a:t>
            </a:r>
            <a:r>
              <a:rPr lang="en-US" sz="1200" dirty="0" err="1"/>
              <a:t>classe</a:t>
            </a:r>
            <a:r>
              <a:rPr lang="en-US" sz="1200" dirty="0"/>
              <a:t> </a:t>
            </a:r>
            <a:r>
              <a:rPr lang="en-US" sz="1200" dirty="0" err="1"/>
              <a:t>intero</a:t>
            </a:r>
            <a:r>
              <a:rPr lang="en-US" sz="1200" dirty="0"/>
              <a:t>).</a:t>
            </a:r>
            <a:endParaRPr lang="en-US" dirty="0"/>
          </a:p>
          <a:p>
            <a:endParaRPr lang="en-US" sz="1200" dirty="0"/>
          </a:p>
          <a:p>
            <a:r>
              <a:rPr lang="en-US" sz="1200" dirty="0"/>
              <a:t>Ad </a:t>
            </a:r>
            <a:r>
              <a:rPr lang="en-US" sz="1200" dirty="0" err="1"/>
              <a:t>esempio</a:t>
            </a:r>
            <a:r>
              <a:rPr lang="en-US" sz="1200" dirty="0"/>
              <a:t>, </a:t>
            </a:r>
            <a:r>
              <a:rPr lang="en-US" sz="1200" dirty="0" err="1"/>
              <a:t>un’istanza</a:t>
            </a:r>
            <a:r>
              <a:rPr lang="en-US" sz="1200" dirty="0"/>
              <a:t> </a:t>
            </a:r>
            <a:r>
              <a:rPr lang="en-US" sz="1200" dirty="0" err="1"/>
              <a:t>della</a:t>
            </a:r>
            <a:r>
              <a:rPr lang="en-US" sz="1200" dirty="0"/>
              <a:t> </a:t>
            </a:r>
            <a:r>
              <a:rPr lang="en-US" sz="1200" dirty="0" err="1"/>
              <a:t>classe</a:t>
            </a:r>
            <a:r>
              <a:rPr lang="en-US" sz="1200" dirty="0"/>
              <a:t> </a:t>
            </a:r>
            <a:r>
              <a:rPr lang="en-US" sz="1200" dirty="0" err="1"/>
              <a:t>RigaOrdine</a:t>
            </a:r>
            <a:r>
              <a:rPr lang="en-US" sz="1200" dirty="0"/>
              <a:t> ha senso solo se </a:t>
            </a:r>
            <a:r>
              <a:rPr lang="en-US" sz="1200" dirty="0" err="1"/>
              <a:t>legata</a:t>
            </a:r>
            <a:r>
              <a:rPr lang="en-US" sz="1200" dirty="0"/>
              <a:t> </a:t>
            </a:r>
            <a:r>
              <a:rPr lang="en-US" sz="1200" dirty="0" err="1"/>
              <a:t>ad</a:t>
            </a:r>
            <a:r>
              <a:rPr lang="en-US" sz="1200" dirty="0"/>
              <a:t> </a:t>
            </a:r>
            <a:r>
              <a:rPr lang="en-US" sz="1200" dirty="0" err="1"/>
              <a:t>un’istanza</a:t>
            </a:r>
            <a:r>
              <a:rPr lang="en-US" sz="1200" dirty="0"/>
              <a:t> </a:t>
            </a:r>
            <a:r>
              <a:rPr lang="en-US" sz="1200" dirty="0" err="1"/>
              <a:t>della</a:t>
            </a:r>
            <a:r>
              <a:rPr lang="en-US" sz="1200" dirty="0"/>
              <a:t> </a:t>
            </a:r>
            <a:r>
              <a:rPr lang="en-US" sz="1200" dirty="0" err="1"/>
              <a:t>classe</a:t>
            </a:r>
            <a:r>
              <a:rPr lang="en-US" sz="1200" dirty="0"/>
              <a:t> </a:t>
            </a:r>
            <a:r>
              <a:rPr lang="en-US" sz="1200" dirty="0" err="1"/>
              <a:t>Ordine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dirty="0" err="1"/>
              <a:t>Ordine</a:t>
            </a:r>
            <a:r>
              <a:rPr lang="en-US" sz="1200" dirty="0"/>
              <a:t>                       Riga </a:t>
            </a:r>
            <a:r>
              <a:rPr lang="en-US" sz="1200" dirty="0" err="1"/>
              <a:t>Ordine</a:t>
            </a:r>
            <a:endParaRPr lang="en-US" sz="1200"/>
          </a:p>
          <a:p>
            <a:endParaRPr lang="en-US" sz="1200" dirty="0"/>
          </a:p>
          <a:p>
            <a:endParaRPr lang="en-US" sz="1200" dirty="0"/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EED4923D-D0B9-46BE-B631-6F81843D8EAA}"/>
              </a:ext>
            </a:extLst>
          </p:cNvPr>
          <p:cNvCxnSpPr/>
          <p:nvPr/>
        </p:nvCxnSpPr>
        <p:spPr>
          <a:xfrm flipH="1" flipV="1">
            <a:off x="3908760" y="4788567"/>
            <a:ext cx="792578" cy="3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8EF4D669-2C95-4CD9-9C84-13F4E2FDE8A2}"/>
              </a:ext>
            </a:extLst>
          </p:cNvPr>
          <p:cNvCxnSpPr/>
          <p:nvPr/>
        </p:nvCxnSpPr>
        <p:spPr>
          <a:xfrm>
            <a:off x="768516" y="4280236"/>
            <a:ext cx="726406" cy="12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D7716DF6-D1FD-41C9-B674-A1E0781FEF63}"/>
              </a:ext>
            </a:extLst>
          </p:cNvPr>
          <p:cNvCxnSpPr/>
          <p:nvPr/>
        </p:nvCxnSpPr>
        <p:spPr>
          <a:xfrm flipH="1" flipV="1">
            <a:off x="6924174" y="3728285"/>
            <a:ext cx="762501" cy="18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E412F1D-92EE-48EB-A9A2-5891FE00C7DF}"/>
              </a:ext>
            </a:extLst>
          </p:cNvPr>
          <p:cNvSpPr txBox="1"/>
          <p:nvPr/>
        </p:nvSpPr>
        <p:spPr>
          <a:xfrm>
            <a:off x="305301" y="1019676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800" b="1" dirty="0"/>
              <a:t>Relazioni tra classi</a:t>
            </a:r>
          </a:p>
        </p:txBody>
      </p:sp>
    </p:spTree>
    <p:extLst>
      <p:ext uri="{BB962C8B-B14F-4D97-AF65-F5344CB8AC3E}">
        <p14:creationId xmlns:p14="http://schemas.microsoft.com/office/powerpoint/2010/main" val="221911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414241" y="2331199"/>
            <a:ext cx="8606276" cy="68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  <a:ea typeface="Consolas"/>
                <a:cs typeface="Consolas"/>
                <a:sym typeface="Consolas"/>
              </a:rPr>
              <a:t>                            </a:t>
            </a:r>
            <a:r>
              <a:rPr lang="it-IT" sz="28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ea typeface="Consolas"/>
                <a:cs typeface="Consolas"/>
                <a:sym typeface="Consolas"/>
              </a:rPr>
              <a:t> </a:t>
            </a:r>
            <a: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/>
                <a:cs typeface="Open Sans"/>
                <a:sym typeface="Open Sans"/>
              </a:rPr>
              <a:t>Le Classi Astratte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Open Sans"/>
                <a:cs typeface="Open Sans"/>
                <a:sym typeface="Open Sans"/>
              </a:rPr>
              <a:t> </a:t>
            </a:r>
            <a:r>
              <a:rPr lang="it-IT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281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326553" y="569014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358418" y="1195224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Introduzione alle classi astratte</a:t>
            </a:r>
            <a:r>
              <a:rPr lang="it-IT" sz="1600" b="1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11</a:t>
            </a:fld>
            <a:endParaRPr/>
          </a:p>
        </p:txBody>
      </p:sp>
      <p:sp>
        <p:nvSpPr>
          <p:cNvPr id="106" name="Google Shape;106;p9"/>
          <p:cNvSpPr txBox="1"/>
          <p:nvPr/>
        </p:nvSpPr>
        <p:spPr>
          <a:xfrm>
            <a:off x="272716" y="1584700"/>
            <a:ext cx="2589967" cy="302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classe astratta viene definita con la keyword </a:t>
            </a:r>
            <a:r>
              <a:rPr lang="it-IT" sz="1800" b="0" i="0" u="none" strike="noStrike" cap="none" baseline="3000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r>
              <a:rPr lang="it-IT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applicando ai metodi definiti astratti soltanto la definizione ma non l'implementazione, altra specifica della classe astratta e che non può essere istanziata ma può comunque essere ereditata da una classe non astratta e può avere caratteristiche non astratte.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4900311" y="1553136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Esempio:</a:t>
            </a:r>
            <a:endParaRPr sz="1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4894603" y="2071989"/>
            <a:ext cx="273479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class Studente  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getStudent(); // metodo astratto non implementato  ma solo definito   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 let </a:t>
            </a: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studente = new Studente();// non si può istanziare la classe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4898091" y="3632354"/>
            <a:ext cx="27432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class NewStudent </a:t>
            </a:r>
            <a:r>
              <a:rPr lang="it-IT" sz="12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extends</a:t>
            </a: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class Studente  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        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  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it-IT" sz="12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  let </a:t>
            </a: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studente = new Studente();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   studente.getStudent()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266498" y="21466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209854" y="856329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Classi</a:t>
            </a: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astratte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12</a:t>
            </a:fld>
            <a:endParaRPr/>
          </a:p>
        </p:txBody>
      </p:sp>
      <p:pic>
        <p:nvPicPr>
          <p:cNvPr id="2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B8904C12-8527-47C9-A216-3D95B24AE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03" y="1373902"/>
            <a:ext cx="5888469" cy="331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455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193500" y="7995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193500" y="713929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Classi</a:t>
            </a: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astratte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13</a:t>
            </a:fld>
            <a:endParaRPr/>
          </a:p>
        </p:txBody>
      </p:sp>
      <p:pic>
        <p:nvPicPr>
          <p:cNvPr id="2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B33790BB-047B-4E9E-9483-0637556A9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401015"/>
            <a:ext cx="5982438" cy="326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95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275028" y="206738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221786" y="833367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Classi</a:t>
            </a:r>
            <a:r>
              <a:rPr lang="it-IT" sz="16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astratte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14</a:t>
            </a:fld>
            <a:endParaRPr/>
          </a:p>
        </p:txBody>
      </p:sp>
      <p:pic>
        <p:nvPicPr>
          <p:cNvPr id="3" name="Immagine 3" descr="Immagine che contiene testo, screenshot, monitor, schermo&#10;&#10;Descrizione generata automaticamente">
            <a:extLst>
              <a:ext uri="{FF2B5EF4-FFF2-40B4-BE49-F238E27FC236}">
                <a16:creationId xmlns:a16="http://schemas.microsoft.com/office/drawing/2014/main" id="{C64AE78B-B02F-434F-BF90-4C0F92A91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2" y="1335900"/>
            <a:ext cx="6037354" cy="336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81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414241" y="2331199"/>
            <a:ext cx="8606276" cy="68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  <a:ea typeface="Consolas"/>
                <a:cs typeface="Consolas"/>
                <a:sym typeface="Consolas"/>
              </a:rPr>
              <a:t>                               Le Interfacce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6089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/>
        </p:nvSpPr>
        <p:spPr>
          <a:xfrm>
            <a:off x="326553" y="576739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4"/>
          <p:cNvSpPr txBox="1"/>
          <p:nvPr/>
        </p:nvSpPr>
        <p:spPr>
          <a:xfrm>
            <a:off x="360672" y="1151287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Introduzione alle Interfacce </a:t>
            </a:r>
            <a:r>
              <a:rPr lang="it-IT"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                 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16</a:t>
            </a:fld>
            <a:endParaRPr/>
          </a:p>
        </p:txBody>
      </p:sp>
      <p:sp>
        <p:nvSpPr>
          <p:cNvPr id="119" name="Google Shape;119;p24"/>
          <p:cNvSpPr txBox="1"/>
          <p:nvPr/>
        </p:nvSpPr>
        <p:spPr>
          <a:xfrm>
            <a:off x="325666" y="1676759"/>
            <a:ext cx="2589967" cy="2841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L'interfaccia è un modello così come una classe ma con specifiche più restrittive assomigliando ad una classe astratta.</a:t>
            </a:r>
            <a:br>
              <a:rPr lang="it-IT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Così come nella classe astratta un interfaccia può avere solo la definizione dei metodi, le proprietà sono costanti nell'interfaccia e non può essere istanziata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3180751" y="1678530"/>
            <a:ext cx="2589967" cy="339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L'interfaccia si definisce con la keyword </a:t>
            </a:r>
            <a:r>
              <a:rPr lang="it-IT" sz="1800" b="0" i="0" u="none" strike="noStrike" cap="none" baseline="3000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interface </a:t>
            </a:r>
            <a: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IBook</a:t>
            </a:r>
            <a:r>
              <a:rPr lang="it-IT" sz="1800" b="0" i="0" u="none" strike="noStrike" cap="none" baseline="3000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nell'interfaccia non esiste il concetto di ereditarietà ma di implementazione.</a:t>
            </a:r>
            <a:b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interfaccia può implementare n interfacce e può essere implementata da una classe.</a:t>
            </a:r>
            <a:b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classe che implementerà un interfaccia dovrà implementarne tutte le sue caratteristiche ovvero i metodi definiti sull'interfaccia.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5876520" y="1628091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Esempio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4"/>
          <p:cNvSpPr txBox="1"/>
          <p:nvPr/>
        </p:nvSpPr>
        <p:spPr>
          <a:xfrm>
            <a:off x="5879216" y="2152395"/>
            <a:ext cx="27432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interface</a:t>
            </a: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IBook{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      getBook():string             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     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4"/>
          <p:cNvSpPr txBox="1"/>
          <p:nvPr/>
        </p:nvSpPr>
        <p:spPr>
          <a:xfrm>
            <a:off x="5827394" y="3044328"/>
            <a:ext cx="27432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class Magazine </a:t>
            </a:r>
            <a:r>
              <a:rPr lang="it-IT" sz="12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implements</a:t>
            </a: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IBook{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getBook():string{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lang="it-IT" sz="1200" b="0" i="0" u="none" strike="noStrike" cap="none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 return</a:t>
            </a: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' Book';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314881" y="570585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266498" y="1048420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Consolas"/>
              </a:rPr>
              <a:t>Interfacce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17</a:t>
            </a:fld>
            <a:endParaRPr/>
          </a:p>
        </p:txBody>
      </p:sp>
      <p:pic>
        <p:nvPicPr>
          <p:cNvPr id="2" name="Immagine 3" descr="Immagine che contiene testo, screenshot, monitor, schermo&#10;&#10;Descrizione generata automaticamente">
            <a:extLst>
              <a:ext uri="{FF2B5EF4-FFF2-40B4-BE49-F238E27FC236}">
                <a16:creationId xmlns:a16="http://schemas.microsoft.com/office/drawing/2014/main" id="{48214567-F00A-4EBD-8DD0-FAF6852AE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281552"/>
            <a:ext cx="6175739" cy="340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579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266498" y="17706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266498" y="794879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Consolas"/>
              </a:rPr>
              <a:t>Interfacce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18</a:t>
            </a:fld>
            <a:endParaRPr/>
          </a:p>
        </p:txBody>
      </p:sp>
      <p:pic>
        <p:nvPicPr>
          <p:cNvPr id="3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EED1EEC7-2786-4847-8FEC-BAE4B5370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288601"/>
            <a:ext cx="6271286" cy="343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188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266498" y="7995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266498" y="654339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Consolas"/>
              </a:rPr>
              <a:t>Interfacce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19</a:t>
            </a:fld>
            <a:endParaRPr/>
          </a:p>
        </p:txBody>
      </p:sp>
      <p:pic>
        <p:nvPicPr>
          <p:cNvPr id="2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62974932-DB65-427C-B97B-4D3ACED50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281835"/>
            <a:ext cx="6373908" cy="341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84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414241" y="2331199"/>
            <a:ext cx="8606276" cy="68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  <a:ea typeface="Consolas"/>
                <a:cs typeface="Consolas"/>
                <a:sym typeface="Consolas"/>
              </a:rPr>
              <a:t>                            </a:t>
            </a:r>
            <a:r>
              <a:rPr lang="it-IT" sz="28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ea typeface="Open Sans"/>
                <a:cs typeface="Open Sans"/>
                <a:sym typeface="Open Sans"/>
              </a:rPr>
              <a:t> </a:t>
            </a:r>
            <a:r>
              <a:rPr lang="it-IT" sz="2800" dirty="0">
                <a:solidFill>
                  <a:schemeClr val="tx1">
                    <a:lumMod val="75000"/>
                    <a:lumOff val="25000"/>
                  </a:schemeClr>
                </a:solidFill>
                <a:ea typeface="Open Sans"/>
                <a:cs typeface="Open Sans"/>
                <a:sym typeface="Open Sans"/>
              </a:rPr>
              <a:t>    I </a:t>
            </a:r>
            <a:r>
              <a:rPr lang="it-IT" sz="2800" dirty="0" err="1">
                <a:solidFill>
                  <a:schemeClr val="tx1">
                    <a:lumMod val="75000"/>
                    <a:lumOff val="25000"/>
                  </a:schemeClr>
                </a:solidFill>
                <a:ea typeface="Open Sans"/>
                <a:cs typeface="Open Sans"/>
                <a:sym typeface="Open Sans"/>
              </a:rPr>
              <a:t>Generics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4353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/>
        </p:nvSpPr>
        <p:spPr>
          <a:xfrm>
            <a:off x="326553" y="628723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358418" y="1220813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Introduzione ai </a:t>
            </a:r>
            <a:r>
              <a:rPr lang="it-IT" sz="1600" b="1" i="0" u="none" strike="noStrike" cap="none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Generics</a:t>
            </a:r>
            <a:r>
              <a:rPr lang="it-IT" sz="1600" b="1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21</a:t>
            </a:fld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289776" y="1542051"/>
            <a:ext cx="2589967" cy="293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generics permettono di definire funzioni, classi o interfacce che sono in grado di lavorare con diversi tipi di dato. Per esempio, è possibile creare una funzione in cui il tipo dei parametri e del valore di ritorno non viene specificato fino al momento in cui la funzione viene invocata.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3972855" y="1181101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Esempio: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4006990" y="1611760"/>
            <a:ext cx="3878680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Senza i generics, dovremmo dare alla funzione identità un tipo specifico: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identity(arg: number): number 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return arg;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 identify&lt;T&gt;(arg:T):T 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return arg 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let result = identify&lt;string&gt;("Hello World");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let result2 = identify&lt;number&gt;(200);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console.log(result);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console.log(result2);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 ci consente di acquisire il tipo fornito dall'utente (ad es. number), in modo da poter utilizzare tali informazioni in un secondo momento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-IT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rgbClr val="00B0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/>
          <p:nvPr/>
        </p:nvSpPr>
        <p:spPr>
          <a:xfrm>
            <a:off x="318023" y="603134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358419" y="1195224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Classi ed Interfacce Generics </a:t>
            </a:r>
            <a:r>
              <a:rPr lang="it-IT" sz="1600" b="1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-IT" sz="1600" b="0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 </a:t>
            </a: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22</a:t>
            </a:fld>
            <a:endParaRPr/>
          </a:p>
        </p:txBody>
      </p:sp>
      <p:sp>
        <p:nvSpPr>
          <p:cNvPr id="173" name="Google Shape;173;p2"/>
          <p:cNvSpPr txBox="1"/>
          <p:nvPr/>
        </p:nvSpPr>
        <p:spPr>
          <a:xfrm>
            <a:off x="4216411" y="1558731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ea typeface="Open Sans"/>
                <a:cs typeface="Open Sans"/>
                <a:sym typeface="Open Sans"/>
              </a:rPr>
              <a:t>Esempio:</a:t>
            </a:r>
            <a:endParaRPr sz="1400" b="0" i="0" u="none" strike="noStrike" cap="none" dirty="0">
              <a:solidFill>
                <a:srgbClr val="000000"/>
              </a:solidFill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318023" y="1491190"/>
            <a:ext cx="3954320" cy="5093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  Esempio: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customArray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&lt;T&gt; 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private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T[] = [];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getItems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T[]) 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this.arr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=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b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}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addItem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item:T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 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 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this.arr.push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(item);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}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removeItem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(item: T) 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 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index =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this.arr.indexOf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(item);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   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(index &gt; -1)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      </a:t>
            </a:r>
            <a:r>
              <a:rPr lang="it-IT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this.arr.splice</a:t>
            </a: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(index, 1);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}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          }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t-IT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 dirty="0">
              <a:solidFill>
                <a:srgbClr val="00B0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2"/>
          <p:cNvSpPr txBox="1"/>
          <p:nvPr/>
        </p:nvSpPr>
        <p:spPr>
          <a:xfrm>
            <a:off x="4288293" y="1910933"/>
            <a:ext cx="2743199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 KeyPair&lt;T, U&gt; {</a:t>
            </a:r>
            <a:b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key: T;</a:t>
            </a:r>
            <a:b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 value: U;</a:t>
            </a:r>
            <a:b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kv1: KeyPair&lt;number, string&gt; = { key:1, value:"Steve" };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kv2: KeyPair&lt;number, number&gt; = { key:1, value:12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266498" y="14768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201762" y="690610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Consolas"/>
              </a:rPr>
              <a:t>Generics</a:t>
            </a:r>
            <a:r>
              <a:rPr lang="it-IT" sz="1600" b="1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23</a:t>
            </a:fld>
            <a:endParaRPr/>
          </a:p>
        </p:txBody>
      </p:sp>
      <p:pic>
        <p:nvPicPr>
          <p:cNvPr id="4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FBA2F2F9-A3CC-47EA-88B7-0221D7712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286646"/>
            <a:ext cx="6347808" cy="346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81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238597" y="111499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238597" y="792593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Tupla</a:t>
            </a:r>
            <a:r>
              <a:rPr lang="it-IT" sz="1600" b="1" i="0" u="none" strike="noStrike" cap="none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24</a:t>
            </a:fld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176617" y="1338588"/>
            <a:ext cx="3657769" cy="201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lang="it-IT" sz="1800" b="0" i="0" u="none" strike="noStrike" cap="none" baseline="30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tupla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è un tipo </a:t>
            </a:r>
            <a:r>
              <a:rPr lang="it-IT" sz="1800" b="0" i="0" u="none" strike="noStrike" cap="none" baseline="30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che ha specifiche come un array con alcune considerazioni speciali: Il numero di elementi dell'array è fisso, </a:t>
            </a:r>
            <a:r>
              <a:rPr lang="it-IT" sz="1800" baseline="30000" dirty="0"/>
              <a:t>nelle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800" b="0" i="0" u="none" strike="noStrike" cap="none" baseline="30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 tipo degli elementi può essere differente.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 dirty="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76617" y="2713490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 Esempio:</a:t>
            </a:r>
            <a:endParaRPr sz="1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275716" y="2942066"/>
            <a:ext cx="3878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200" b="0" i="0" u="none" strike="noStrike" cap="non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user: [number, string, boolean, number, string];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it-IT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= [1, "Steve", true, 20, "Admin"];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3954144" y="2809705"/>
            <a:ext cx="3230654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Aggiungere nuovi elementi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200"/>
            </a:pPr>
            <a:r>
              <a:rPr lang="it-IT" sz="1200" b="0" i="0" u="none" strike="noStrike" cap="none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user: [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= [1, "Steve"];</a:t>
            </a:r>
            <a:endParaRPr lang="it-IT"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user.push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(2, "Bill");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3892659" y="4376305"/>
            <a:ext cx="332310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200"/>
            </a:pPr>
            <a:r>
              <a:rPr lang="it-IT" sz="1200" b="0" i="0" u="none" strike="noStrike" cap="none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user: [</a:t>
            </a: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-IT" sz="1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][];</a:t>
            </a:r>
            <a:r>
              <a:rPr lang="it-IT" sz="1200" dirty="0">
                <a:solidFill>
                  <a:schemeClr val="dk1"/>
                </a:solidFill>
              </a:rPr>
              <a:t> </a:t>
            </a:r>
            <a:endParaRPr lang="it-IT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endParaRPr lang="it-IT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 = [[1, "Steve"], [2, "Bill"], [3, "Jeff"]];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3982896" y="3962230"/>
            <a:ext cx="27431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Matrice di tuple</a:t>
            </a:r>
            <a:endParaRPr sz="12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/>
        </p:nvSpPr>
        <p:spPr>
          <a:xfrm>
            <a:off x="201592" y="7995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9"/>
          <p:cNvSpPr txBox="1"/>
          <p:nvPr/>
        </p:nvSpPr>
        <p:spPr>
          <a:xfrm>
            <a:off x="201592" y="745539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SzPts val="1600"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600" b="1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Consolas"/>
              </a:rPr>
              <a:t>Tupla</a:t>
            </a:r>
            <a:r>
              <a:rPr lang="it-IT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    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25</a:t>
            </a:fld>
            <a:endParaRPr/>
          </a:p>
        </p:txBody>
      </p:sp>
      <p:pic>
        <p:nvPicPr>
          <p:cNvPr id="3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8198B58F-63AB-4B4B-8EBE-7AB964CF3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47" y="1105865"/>
            <a:ext cx="6110716" cy="340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941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/>
        </p:nvSpPr>
        <p:spPr>
          <a:xfrm>
            <a:off x="304291" y="159744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304291" y="827526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Differenza tra array e </a:t>
            </a:r>
            <a:r>
              <a:rPr lang="it-IT" sz="1600" b="1" i="0" u="none" strike="noStrike" cap="none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tupla</a:t>
            </a:r>
            <a:r>
              <a:rPr lang="it-IT" sz="1600" b="1" i="0" u="none" strike="noStrike" cap="none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 </a:t>
            </a:r>
            <a:r>
              <a:rPr lang="it-IT" sz="1600" b="0" i="0" u="none" strike="noStrike" cap="none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 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  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26</a:t>
            </a:fld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175884" y="1319326"/>
            <a:ext cx="3748006" cy="191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Come abbiamo visto nelle precedenti lezioni, gli elementi di un array possono essere solo di un tipo e a lunghezza fissa, al contrario la </a:t>
            </a:r>
            <a:r>
              <a:rPr lang="it-IT" sz="1800" b="0" i="0" u="none" strike="noStrike" cap="none" baseline="30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tupla</a:t>
            </a:r>
            <a:r>
              <a:rPr lang="it-IT" sz="1800" b="0" i="0" u="none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che può avere elementi di diverso tipo ad una lunghezza indefinita.</a:t>
            </a:r>
            <a:endParaRPr sz="18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baseline="30000" dirty="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175884" y="2336924"/>
            <a:ext cx="2743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Esempio:</a:t>
            </a:r>
            <a:endParaRPr sz="1200" b="0" i="0" u="none" strike="noStrike" cap="none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3667076" y="2844358"/>
            <a:ext cx="3878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Array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200" b="0" i="0" u="none" strike="noStrike" cap="none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list: 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[] = [1, 2, 3];</a:t>
            </a:r>
            <a:endParaRPr sz="12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175884" y="2806566"/>
            <a:ext cx="3491192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 err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Tupla</a:t>
            </a: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tupla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:[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string,number,boolean,any,unknown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200"/>
            </a:pPr>
            <a:endParaRPr lang="it-IT" sz="1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tupla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=['tupla',5,true,78,67];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4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-IT"/>
              <a:t>27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1443</Words>
  <Application>Microsoft Macintosh PowerPoint</Application>
  <PresentationFormat>Presentazione su schermo (16:9)</PresentationFormat>
  <Paragraphs>260</Paragraphs>
  <Slides>27</Slides>
  <Notes>27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5" baseType="lpstr">
      <vt:lpstr>Arial</vt:lpstr>
      <vt:lpstr>Consolas</vt:lpstr>
      <vt:lpstr>Open Sans ExtraBold</vt:lpstr>
      <vt:lpstr>Montserrat Light</vt:lpstr>
      <vt:lpstr>Calibri</vt:lpstr>
      <vt:lpstr>Open Sans</vt:lpstr>
      <vt:lpstr>Montserrat SemiBold</vt:lpstr>
      <vt:lpstr>Simple Light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Fabio</cp:lastModifiedBy>
  <cp:revision>431</cp:revision>
  <dcterms:modified xsi:type="dcterms:W3CDTF">2026-01-07T22:11:39Z</dcterms:modified>
</cp:coreProperties>
</file>